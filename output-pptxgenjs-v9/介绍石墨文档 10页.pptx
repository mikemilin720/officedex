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harts/chart1.xml" ContentType="application/vnd.openxmlformats-officedocument.drawingml.chart+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3313A"/>
                </a:solidFill>
                <a:latin typeface="Arial"/>
              </a:defRPr>
            </a:pPr>
            <a:r>
              <a:rPr sz="1150" b="0" i="0" u="none" strike="noStrike">
                <a:solidFill>
                  <a:srgbClr val="23313A"/>
                </a:solidFill>
                <a:latin typeface="Arial"/>
              </a:rPr>
              <a:t>石墨文档在日常流程中的嵌入强度示意</a:t>
            </a:r>
          </a:p>
        </c:rich>
      </c:tx>
      <c:layout/>
      <c:overlay val="0"/>
    </c:title>
    <c:autoTitleDeleted val="0"/>
    <c:plotArea>
      <c:layout/>
      <c:barChart>
        <c:barDir val="col"/>
        <c:grouping val="clustered"/>
        <c:varyColors val="0"/>
        <c:ser>
          <c:idx val="0"/>
          <c:order val="0"/>
          <c:tx>
            <c:strRef>
              <c:f>Sheet1!$B$1</c:f>
              <c:strCache>
                <c:ptCount val="1"/>
                <c:pt idx="0">
                  <c:v>嵌入强度</c:v>
                </c:pt>
              </c:strCache>
            </c:strRef>
          </c:tx>
          <c:spPr>
            <a:solidFill>
              <a:srgbClr val="1FA971"/>
            </a:solidFill>
            <a:effectLst/>
          </c:spPr>
          <c:invertIfNegative val="0"/>
          <c:dLbls>
            <c:numFmt formatCode="#,##0" sourceLinked="0"/>
            <c:txPr>
              <a:bodyPr/>
              <a:lstStyle/>
              <a:p>
                <a:pPr>
                  <a:defRPr b="0" i="0" strike="noStrike" sz="1200" u="none">
                    <a:solidFill>
                      <a:srgbClr val="23313A"/>
                    </a:solidFill>
                    <a:latin typeface="Arial"/>
                  </a:defRPr>
                </a:pPr>
              </a:p>
            </c:txPr>
            <c:showLegendKey val="0"/>
            <c:showVal val="1"/>
            <c:showCatName val="0"/>
            <c:showSerName val="0"/>
            <c:showPercent val="0"/>
            <c:showBubbleSize val="0"/>
            <c:showLeaderLines val="0"/>
          </c:dLbls>
          <c:cat>
            <c:multiLvlStrRef>
              <c:f>Sheet1!$A$2:$A$6</c:f>
              <c:multiLvlStrCache>
                <c:ptCount val="5"/>
                <c:lvl>
                  <c:pt idx="0">
                    <c:v>会前共备</c:v>
                  </c:pt>
                  <c:pt idx="1">
                    <c:v>会中记录</c:v>
                  </c:pt>
                  <c:pt idx="2">
                    <c:v>会后同步</c:v>
                  </c:pt>
                  <c:pt idx="3">
                    <c:v>评审反馈</c:v>
                  </c:pt>
                  <c:pt idx="4">
                    <c:v>任务追踪</c:v>
                  </c:pt>
                </c:lvl>
              </c:multiLvlStrCache>
            </c:multiLvlStrRef>
          </c:cat>
          <c:val>
            <c:numRef>
              <c:f>Sheet1!$B$2:$B$6</c:f>
              <c:numCache>
                <c:formatCode>General</c:formatCode>
                <c:ptCount val="5"/>
                <c:pt idx="0">
                  <c:v>78</c:v>
                </c:pt>
                <c:pt idx="1">
                  <c:v>92</c:v>
                </c:pt>
                <c:pt idx="2">
                  <c:v>81</c:v>
                </c:pt>
                <c:pt idx="3">
                  <c:v>86</c:v>
                </c:pt>
                <c:pt idx="4">
                  <c:v>88</c:v>
                </c:pt>
              </c:numCache>
            </c:numRef>
          </c:val>
        </c:ser>
        <c:dLbls>
          <c:numFmt formatCode="#,##0" sourceLinked="0"/>
          <c:txPr>
            <a:bodyPr/>
            <a:lstStyle/>
            <a:p>
              <a:pPr>
                <a:defRPr b="0" i="0" strike="noStrike" sz="1200" u="none">
                  <a:solidFill>
                    <a:srgbClr val="2331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C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2D"/>
        </a:solidFill>
      </p:bgPr>
    </p:bg>
    <p:spTree>
      <p:nvGrpSpPr>
        <p:cNvPr id="1" name=""/>
        <p:cNvGrpSpPr/>
        <p:nvPr/>
      </p:nvGrpSpPr>
      <p:grpSpPr>
        <a:xfrm>
          <a:off x="0" y="0"/>
          <a:ext cx="0" cy="0"/>
          <a:chOff x="0" y="0"/>
          <a:chExt cx="0" cy="0"/>
        </a:xfrm>
      </p:grpSpPr>
      <p:sp>
        <p:nvSpPr>
          <p:cNvPr id="2" name="Shape 0"/>
          <p:cNvSpPr/>
          <p:nvPr/>
        </p:nvSpPr>
        <p:spPr>
          <a:xfrm>
            <a:off x="594360" y="594360"/>
            <a:ext cx="960120" cy="960120"/>
          </a:xfrm>
          <a:prstGeom prst="ellipse">
            <a:avLst/>
          </a:prstGeom>
          <a:solidFill>
            <a:srgbClr val="2A4A52"/>
          </a:solidFill>
          <a:ln/>
        </p:spPr>
      </p:sp>
      <p:sp>
        <p:nvSpPr>
          <p:cNvPr id="3" name="Shape 1"/>
          <p:cNvSpPr/>
          <p:nvPr/>
        </p:nvSpPr>
        <p:spPr>
          <a:xfrm>
            <a:off x="7680960" y="365760"/>
            <a:ext cx="1188720" cy="1188720"/>
          </a:xfrm>
          <a:prstGeom prst="ellipse">
            <a:avLst/>
          </a:prstGeom>
          <a:solidFill>
            <a:srgbClr val="24434B"/>
          </a:solidFill>
          <a:ln/>
        </p:spPr>
      </p:sp>
      <p:sp>
        <p:nvSpPr>
          <p:cNvPr id="4" name="Shape 2"/>
          <p:cNvSpPr/>
          <p:nvPr/>
        </p:nvSpPr>
        <p:spPr>
          <a:xfrm>
            <a:off x="7040880" y="3566160"/>
            <a:ext cx="1554480" cy="1554480"/>
          </a:xfrm>
          <a:prstGeom prst="ellipse">
            <a:avLst/>
          </a:prstGeom>
          <a:solidFill>
            <a:srgbClr val="1E3D43"/>
          </a:solidFill>
          <a:ln/>
        </p:spPr>
      </p:sp>
      <p:sp>
        <p:nvSpPr>
          <p:cNvPr id="5" name="Shape 3"/>
          <p:cNvSpPr/>
          <p:nvPr/>
        </p:nvSpPr>
        <p:spPr>
          <a:xfrm>
            <a:off x="1005840" y="3749040"/>
            <a:ext cx="731520" cy="731520"/>
          </a:xfrm>
          <a:prstGeom prst="ellipse">
            <a:avLst/>
          </a:prstGeom>
          <a:solidFill>
            <a:srgbClr val="1FA971"/>
          </a:solidFill>
          <a:ln/>
        </p:spPr>
      </p:sp>
      <p:sp>
        <p:nvSpPr>
          <p:cNvPr id="6" name="Text 4"/>
          <p:cNvSpPr/>
          <p:nvPr/>
        </p:nvSpPr>
        <p:spPr>
          <a:xfrm>
            <a:off x="1005840" y="1143000"/>
            <a:ext cx="7132320"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石墨文档介绍</a:t>
            </a:r>
            <a:endParaRPr lang="en-US" sz="3000" dirty="0"/>
          </a:p>
        </p:txBody>
      </p:sp>
      <p:sp>
        <p:nvSpPr>
          <p:cNvPr id="7" name="Text 5"/>
          <p:cNvSpPr/>
          <p:nvPr/>
        </p:nvSpPr>
        <p:spPr>
          <a:xfrm>
            <a:off x="1828800" y="1828800"/>
            <a:ext cx="5486400" cy="256032"/>
          </a:xfrm>
          <a:prstGeom prst="rect">
            <a:avLst/>
          </a:prstGeom>
          <a:noFill/>
          <a:ln/>
        </p:spPr>
        <p:txBody>
          <a:bodyPr wrap="square" lIns="0" tIns="0" rIns="0" bIns="0" rtlCol="0" anchor="ctr"/>
          <a:lstStyle/>
          <a:p>
            <a:pPr algn="ctr" indent="0" marL="0">
              <a:buNone/>
            </a:pPr>
            <a:r>
              <a:rPr lang="en-US" sz="1500" dirty="0">
                <a:solidFill>
                  <a:srgbClr val="CFE8DF"/>
                </a:solidFill>
                <a:latin typeface="Arial" pitchFamily="34" charset="0"/>
                <a:ea typeface="Arial" pitchFamily="34" charset="-122"/>
                <a:cs typeface="Arial" pitchFamily="34" charset="-120"/>
              </a:rPr>
              <a:t>在线协作 · 知识沉淀 · 团队共创</a:t>
            </a:r>
            <a:endParaRPr lang="en-US" sz="1500" dirty="0"/>
          </a:p>
        </p:txBody>
      </p:sp>
      <p:sp>
        <p:nvSpPr>
          <p:cNvPr id="8" name="Shape 6"/>
          <p:cNvSpPr/>
          <p:nvPr/>
        </p:nvSpPr>
        <p:spPr>
          <a:xfrm>
            <a:off x="1051560" y="2331720"/>
            <a:ext cx="7040880" cy="1508760"/>
          </a:xfrm>
          <a:prstGeom prst="roundRect">
            <a:avLst>
              <a:gd name="adj" fmla="val 9697"/>
            </a:avLst>
          </a:prstGeom>
          <a:solidFill>
            <a:srgbClr val="1F343D"/>
          </a:solidFill>
          <a:ln/>
        </p:spPr>
      </p:sp>
      <p:sp>
        <p:nvSpPr>
          <p:cNvPr id="9" name="Text 7"/>
          <p:cNvSpPr/>
          <p:nvPr/>
        </p:nvSpPr>
        <p:spPr>
          <a:xfrm>
            <a:off x="1325880" y="2606040"/>
            <a:ext cx="6583680" cy="1005840"/>
          </a:xfrm>
          <a:prstGeom prst="rect">
            <a:avLst/>
          </a:prstGeom>
          <a:noFill/>
          <a:ln/>
        </p:spPr>
        <p:txBody>
          <a:bodyPr wrap="square" lIns="381" tIns="381" rIns="381" bIns="381" rtlCol="0" anchor="t"/>
          <a:lstStyle/>
          <a:p>
            <a:pPr algn="l" marL="152400" indent="-152400">
              <a:buSzPct val="100000"/>
              <a:buChar char="•"/>
            </a:pPr>
            <a:r>
              <a:rPr lang="en-US" sz="1300" dirty="0">
                <a:solidFill>
                  <a:srgbClr val="E6F4EF"/>
                </a:solidFill>
                <a:latin typeface="Arial" pitchFamily="34" charset="0"/>
                <a:ea typeface="Arial" pitchFamily="34" charset="-122"/>
                <a:cs typeface="Arial" pitchFamily="34" charset="-120"/>
              </a:rPr>
              <a:t>一款面向团队协作与知识沉淀的在线文档产品</a:t>
            </a:r>
            <a:pPr algn="l" marL="152400" indent="-152400">
              <a:buSzPct val="100000"/>
              <a:buChar char="•"/>
            </a:pPr>
            <a:r>
              <a:rPr lang="en-US" sz="1300" dirty="0">
                <a:solidFill>
                  <a:srgbClr val="E6F4EF"/>
                </a:solidFill>
                <a:latin typeface="Arial" pitchFamily="34" charset="0"/>
                <a:ea typeface="Arial" pitchFamily="34" charset="-122"/>
                <a:cs typeface="Arial" pitchFamily="34" charset="-120"/>
              </a:rPr>
              <a:t>从产品定位、核心能力到业务价值，逐步建立完整认知</a:t>
            </a:r>
            <a:pPr algn="l" marL="152400" indent="-152400">
              <a:buSzPct val="100000"/>
              <a:buChar char="•"/>
            </a:pPr>
            <a:r>
              <a:rPr lang="en-US" sz="1300" dirty="0">
                <a:solidFill>
                  <a:srgbClr val="E6F4EF"/>
                </a:solidFill>
                <a:latin typeface="Arial" pitchFamily="34" charset="0"/>
                <a:ea typeface="Arial" pitchFamily="34" charset="-122"/>
                <a:cs typeface="Arial" pitchFamily="34" charset="-120"/>
              </a:rPr>
              <a:t>全篇共10页，帮助快速理解它是什么、能做什么、带来什么价值</a:t>
            </a:r>
            <a:endParaRPr lang="en-US" sz="1300" dirty="0"/>
          </a:p>
        </p:txBody>
      </p:sp>
      <p:sp>
        <p:nvSpPr>
          <p:cNvPr id="10" name="Text 8"/>
          <p:cNvSpPr/>
          <p:nvPr/>
        </p:nvSpPr>
        <p:spPr>
          <a:xfrm>
            <a:off x="2743200" y="4160520"/>
            <a:ext cx="3657600" cy="228600"/>
          </a:xfrm>
          <a:prstGeom prst="rect">
            <a:avLst/>
          </a:prstGeom>
          <a:noFill/>
          <a:ln/>
        </p:spPr>
        <p:txBody>
          <a:bodyPr wrap="square" lIns="0" tIns="0" rIns="0" bIns="0" rtlCol="0" anchor="ctr"/>
          <a:lstStyle/>
          <a:p>
            <a:pPr algn="ctr" indent="0" marL="0">
              <a:buNone/>
            </a:pPr>
            <a:r>
              <a:rPr lang="en-US" sz="1100" dirty="0">
                <a:solidFill>
                  <a:srgbClr val="AFC8C0"/>
                </a:solidFill>
                <a:latin typeface="Arial" pitchFamily="34" charset="0"/>
                <a:ea typeface="Arial" pitchFamily="34" charset="-122"/>
                <a:cs typeface="Arial" pitchFamily="34" charset="-120"/>
              </a:rPr>
              <a:t>介绍石墨文档 · 10页概览</a:t>
            </a:r>
            <a:endParaRPr lang="en-US" sz="1100" dirty="0"/>
          </a:p>
        </p:txBody>
      </p:sp>
      <p:sp>
        <p:nvSpPr>
          <p:cNvPr id="11" name="Text 9"/>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D5E5DF"/>
                </a:solidFill>
                <a:latin typeface="Arial" pitchFamily="34" charset="0"/>
                <a:ea typeface="Arial" pitchFamily="34" charset="-122"/>
                <a:cs typeface="Arial" pitchFamily="34" charset="-120"/>
              </a:rPr>
              <a:t>01/10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384048"/>
          </a:xfrm>
          <a:prstGeom prst="rect">
            <a:avLst/>
          </a:prstGeom>
          <a:noFill/>
          <a:ln/>
        </p:spPr>
        <p:txBody>
          <a:bodyPr wrap="square" lIns="0" tIns="0" rIns="0" bIns="0" rtlCol="0" anchor="ctr"/>
          <a:lstStyle/>
          <a:p>
            <a:pPr algn="l" indent="0" marL="0">
              <a:buNone/>
            </a:pPr>
            <a:r>
              <a:rPr lang="en-US" sz="2800" b="1" dirty="0">
                <a:solidFill>
                  <a:srgbClr val="23313A"/>
                </a:solidFill>
                <a:latin typeface="Arial" pitchFamily="34" charset="0"/>
                <a:ea typeface="Arial" pitchFamily="34" charset="-122"/>
                <a:cs typeface="Arial" pitchFamily="34" charset="-120"/>
              </a:rPr>
              <a:t>石墨文档的产品定位</a:t>
            </a:r>
            <a:endParaRPr lang="en-US" sz="2800" dirty="0"/>
          </a:p>
        </p:txBody>
      </p:sp>
      <p:sp>
        <p:nvSpPr>
          <p:cNvPr id="3" name="Text 1"/>
          <p:cNvSpPr/>
          <p:nvPr/>
        </p:nvSpPr>
        <p:spPr>
          <a:xfrm>
            <a:off x="548640" y="822960"/>
            <a:ext cx="8001000" cy="384048"/>
          </a:xfrm>
          <a:prstGeom prst="rect">
            <a:avLst/>
          </a:prstGeom>
          <a:noFill/>
          <a:ln/>
        </p:spPr>
        <p:txBody>
          <a:bodyPr wrap="square" lIns="0" tIns="0" rIns="0" bIns="0" rtlCol="0" anchor="ctr"/>
          <a:lstStyle/>
          <a:p>
            <a:pPr algn="l" indent="0" marL="0">
              <a:buNone/>
            </a:pPr>
            <a:r>
              <a:rPr lang="en-US" sz="1200" dirty="0">
                <a:solidFill>
                  <a:srgbClr val="5E6E75"/>
                </a:solidFill>
                <a:latin typeface="Arial" pitchFamily="34" charset="0"/>
                <a:ea typeface="Arial" pitchFamily="34" charset="-122"/>
                <a:cs typeface="Arial" pitchFamily="34" charset="-120"/>
              </a:rPr>
              <a:t>通过传统文档模式与在线协作模式的并列对照，突出石墨文档在内容生产、团队配合与知识沉淀之间的连接作用。</a:t>
            </a:r>
            <a:endParaRPr lang="en-US" sz="1200" dirty="0"/>
          </a:p>
        </p:txBody>
      </p:sp>
      <p:sp>
        <p:nvSpPr>
          <p:cNvPr id="4" name="Text 2"/>
          <p:cNvSpPr/>
          <p:nvPr/>
        </p:nvSpPr>
        <p:spPr>
          <a:xfrm>
            <a:off x="731520" y="1207008"/>
            <a:ext cx="3474720" cy="274320"/>
          </a:xfrm>
          <a:prstGeom prst="rect">
            <a:avLst/>
          </a:prstGeom>
          <a:noFill/>
          <a:ln/>
        </p:spPr>
        <p:txBody>
          <a:bodyPr wrap="square" lIns="0" tIns="0" rIns="0" bIns="0" rtlCol="0" anchor="ctr"/>
          <a:lstStyle/>
          <a:p>
            <a:pPr indent="0" marL="0">
              <a:buNone/>
            </a:pPr>
            <a:r>
              <a:rPr lang="en-US" sz="1800" b="1" dirty="0">
                <a:solidFill>
                  <a:srgbClr val="8A5A4A"/>
                </a:solidFill>
                <a:latin typeface="Arial" pitchFamily="34" charset="0"/>
                <a:ea typeface="Arial" pitchFamily="34" charset="-122"/>
                <a:cs typeface="Arial" pitchFamily="34" charset="-120"/>
              </a:rPr>
              <a:t>传统文档方式</a:t>
            </a:r>
            <a:endParaRPr lang="en-US" sz="1800" dirty="0"/>
          </a:p>
        </p:txBody>
      </p:sp>
      <p:sp>
        <p:nvSpPr>
          <p:cNvPr id="5" name="Text 3"/>
          <p:cNvSpPr/>
          <p:nvPr/>
        </p:nvSpPr>
        <p:spPr>
          <a:xfrm>
            <a:off x="4754880" y="1207008"/>
            <a:ext cx="3474720" cy="274320"/>
          </a:xfrm>
          <a:prstGeom prst="rect">
            <a:avLst/>
          </a:prstGeom>
          <a:noFill/>
          <a:ln/>
        </p:spPr>
        <p:txBody>
          <a:bodyPr wrap="square" lIns="0" tIns="0" rIns="0" bIns="0" rtlCol="0" anchor="ctr"/>
          <a:lstStyle/>
          <a:p>
            <a:pPr indent="0" marL="0">
              <a:buNone/>
            </a:pPr>
            <a:r>
              <a:rPr lang="en-US" sz="1800" b="1" dirty="0">
                <a:solidFill>
                  <a:srgbClr val="1FA971"/>
                </a:solidFill>
                <a:latin typeface="Arial" pitchFamily="34" charset="0"/>
                <a:ea typeface="Arial" pitchFamily="34" charset="-122"/>
                <a:cs typeface="Arial" pitchFamily="34" charset="-120"/>
              </a:rPr>
              <a:t>石墨文档方式</a:t>
            </a:r>
            <a:endParaRPr lang="en-US" sz="1800" dirty="0"/>
          </a:p>
        </p:txBody>
      </p:sp>
      <p:sp>
        <p:nvSpPr>
          <p:cNvPr id="6" name="Shape 4"/>
          <p:cNvSpPr/>
          <p:nvPr/>
        </p:nvSpPr>
        <p:spPr>
          <a:xfrm>
            <a:off x="4526280" y="1298448"/>
            <a:ext cx="0" cy="3200400"/>
          </a:xfrm>
          <a:prstGeom prst="line">
            <a:avLst/>
          </a:prstGeom>
          <a:noFill/>
          <a:ln w="13970">
            <a:solidFill>
              <a:srgbClr val="DCE6E8"/>
            </a:solidFill>
            <a:prstDash val="solid"/>
          </a:ln>
        </p:spPr>
      </p:sp>
      <p:sp>
        <p:nvSpPr>
          <p:cNvPr id="7" name="Shape 5"/>
          <p:cNvSpPr/>
          <p:nvPr/>
        </p:nvSpPr>
        <p:spPr>
          <a:xfrm>
            <a:off x="640080" y="1572768"/>
            <a:ext cx="3611880" cy="877824"/>
          </a:xfrm>
          <a:prstGeom prst="roundRect">
            <a:avLst>
              <a:gd name="adj" fmla="val 12500"/>
            </a:avLst>
          </a:prstGeom>
          <a:solidFill>
            <a:srgbClr val="F9EFEC"/>
          </a:solidFill>
          <a:ln/>
          <a:effectLst>
            <a:outerShdw sx="100000" sy="100000" kx="0" ky="0" algn="bl" rotWithShape="0" blurRad="25400" dist="12700" dir="16200000">
              <a:srgbClr val="000000">
                <a:alpha val="8000"/>
              </a:srgbClr>
            </a:outerShdw>
          </a:effectLst>
        </p:spPr>
      </p:sp>
      <p:sp>
        <p:nvSpPr>
          <p:cNvPr id="8" name="Shape 6"/>
          <p:cNvSpPr/>
          <p:nvPr/>
        </p:nvSpPr>
        <p:spPr>
          <a:xfrm>
            <a:off x="804672" y="1737360"/>
            <a:ext cx="201168" cy="201168"/>
          </a:xfrm>
          <a:prstGeom prst="ellipse">
            <a:avLst/>
          </a:prstGeom>
          <a:solidFill>
            <a:srgbClr val="D58B73"/>
          </a:solidFill>
          <a:ln/>
        </p:spPr>
      </p:sp>
      <p:sp>
        <p:nvSpPr>
          <p:cNvPr id="9" name="Text 7"/>
          <p:cNvSpPr/>
          <p:nvPr/>
        </p:nvSpPr>
        <p:spPr>
          <a:xfrm>
            <a:off x="1078992" y="1719072"/>
            <a:ext cx="3044952" cy="256032"/>
          </a:xfrm>
          <a:prstGeom prst="rect">
            <a:avLst/>
          </a:prstGeom>
          <a:noFill/>
          <a:ln/>
        </p:spPr>
        <p:txBody>
          <a:bodyPr wrap="square" lIns="0" tIns="0" rIns="0" bIns="0" rtlCol="0" anchor="ctr"/>
          <a:lstStyle/>
          <a:p>
            <a:pPr algn="l" indent="0" marL="0">
              <a:buNone/>
            </a:pPr>
            <a:r>
              <a:rPr lang="en-US" sz="1400" b="1" dirty="0">
                <a:solidFill>
                  <a:srgbClr val="23313A"/>
                </a:solidFill>
                <a:latin typeface="Arial" pitchFamily="34" charset="0"/>
                <a:ea typeface="Arial" pitchFamily="34" charset="-122"/>
                <a:cs typeface="Arial" pitchFamily="34" charset="-120"/>
              </a:rPr>
              <a:t>传统方式：版本容易失控</a:t>
            </a:r>
            <a:endParaRPr lang="en-US" sz="1400" dirty="0"/>
          </a:p>
        </p:txBody>
      </p:sp>
      <p:sp>
        <p:nvSpPr>
          <p:cNvPr id="10" name="Text 8"/>
          <p:cNvSpPr/>
          <p:nvPr/>
        </p:nvSpPr>
        <p:spPr>
          <a:xfrm>
            <a:off x="804672" y="2020824"/>
            <a:ext cx="3319272" cy="338328"/>
          </a:xfrm>
          <a:prstGeom prst="rect">
            <a:avLst/>
          </a:prstGeom>
          <a:noFill/>
          <a:ln/>
        </p:spPr>
        <p:txBody>
          <a:bodyPr wrap="square" lIns="0" tIns="0" rIns="0" bIns="0" rtlCol="0" anchor="t"/>
          <a:lstStyle/>
          <a:p>
            <a:pPr algn="l" indent="0" marL="0">
              <a:buNone/>
            </a:pPr>
            <a:r>
              <a:rPr lang="en-US" sz="1040" dirty="0">
                <a:solidFill>
                  <a:srgbClr val="5E6E75"/>
                </a:solidFill>
                <a:latin typeface="Arial" pitchFamily="34" charset="0"/>
                <a:ea typeface="Arial" pitchFamily="34" charset="-122"/>
                <a:cs typeface="Arial" pitchFamily="34" charset="-120"/>
              </a:rPr>
              <a:t>内容通常保存在个人电脑或分散文件夹中，团队成员往往难以确认哪一份才是最新版本。</a:t>
            </a:r>
            <a:endParaRPr lang="en-US" sz="1040" dirty="0"/>
          </a:p>
        </p:txBody>
      </p:sp>
      <p:sp>
        <p:nvSpPr>
          <p:cNvPr id="11" name="Shape 9"/>
          <p:cNvSpPr/>
          <p:nvPr/>
        </p:nvSpPr>
        <p:spPr>
          <a:xfrm>
            <a:off x="640080" y="2587752"/>
            <a:ext cx="3611880" cy="877824"/>
          </a:xfrm>
          <a:prstGeom prst="roundRect">
            <a:avLst>
              <a:gd name="adj" fmla="val 12500"/>
            </a:avLst>
          </a:prstGeom>
          <a:solidFill>
            <a:srgbClr val="F9EFEC"/>
          </a:solidFill>
          <a:ln/>
          <a:effectLst>
            <a:outerShdw sx="100000" sy="100000" kx="0" ky="0" algn="bl" rotWithShape="0" blurRad="25400" dist="12700" dir="16200000">
              <a:srgbClr val="000000">
                <a:alpha val="8000"/>
              </a:srgbClr>
            </a:outerShdw>
          </a:effectLst>
        </p:spPr>
      </p:sp>
      <p:sp>
        <p:nvSpPr>
          <p:cNvPr id="12" name="Shape 10"/>
          <p:cNvSpPr/>
          <p:nvPr/>
        </p:nvSpPr>
        <p:spPr>
          <a:xfrm>
            <a:off x="804672" y="2752344"/>
            <a:ext cx="201168" cy="201168"/>
          </a:xfrm>
          <a:prstGeom prst="ellipse">
            <a:avLst/>
          </a:prstGeom>
          <a:solidFill>
            <a:srgbClr val="D58B73"/>
          </a:solidFill>
          <a:ln/>
        </p:spPr>
      </p:sp>
      <p:sp>
        <p:nvSpPr>
          <p:cNvPr id="13" name="Text 11"/>
          <p:cNvSpPr/>
          <p:nvPr/>
        </p:nvSpPr>
        <p:spPr>
          <a:xfrm>
            <a:off x="1078992" y="2734056"/>
            <a:ext cx="3044952" cy="256032"/>
          </a:xfrm>
          <a:prstGeom prst="rect">
            <a:avLst/>
          </a:prstGeom>
          <a:noFill/>
          <a:ln/>
        </p:spPr>
        <p:txBody>
          <a:bodyPr wrap="square" lIns="0" tIns="0" rIns="0" bIns="0" rtlCol="0" anchor="ctr"/>
          <a:lstStyle/>
          <a:p>
            <a:pPr algn="l" indent="0" marL="0">
              <a:buNone/>
            </a:pPr>
            <a:r>
              <a:rPr lang="en-US" sz="1400" b="1" dirty="0">
                <a:solidFill>
                  <a:srgbClr val="23313A"/>
                </a:solidFill>
                <a:latin typeface="Arial" pitchFamily="34" charset="0"/>
                <a:ea typeface="Arial" pitchFamily="34" charset="-122"/>
                <a:cs typeface="Arial" pitchFamily="34" charset="-120"/>
              </a:rPr>
              <a:t>传统方式：沟通与文档分离</a:t>
            </a:r>
            <a:endParaRPr lang="en-US" sz="1400" dirty="0"/>
          </a:p>
        </p:txBody>
      </p:sp>
      <p:sp>
        <p:nvSpPr>
          <p:cNvPr id="14" name="Text 12"/>
          <p:cNvSpPr/>
          <p:nvPr/>
        </p:nvSpPr>
        <p:spPr>
          <a:xfrm>
            <a:off x="804672" y="3035808"/>
            <a:ext cx="3319272" cy="338328"/>
          </a:xfrm>
          <a:prstGeom prst="rect">
            <a:avLst/>
          </a:prstGeom>
          <a:noFill/>
          <a:ln/>
        </p:spPr>
        <p:txBody>
          <a:bodyPr wrap="square" lIns="0" tIns="0" rIns="0" bIns="0" rtlCol="0" anchor="t"/>
          <a:lstStyle/>
          <a:p>
            <a:pPr algn="l" indent="0" marL="0">
              <a:buNone/>
            </a:pPr>
            <a:r>
              <a:rPr lang="en-US" sz="1040" dirty="0">
                <a:solidFill>
                  <a:srgbClr val="5E6E75"/>
                </a:solidFill>
                <a:latin typeface="Arial" pitchFamily="34" charset="0"/>
                <a:ea typeface="Arial" pitchFamily="34" charset="-122"/>
                <a:cs typeface="Arial" pitchFamily="34" charset="-120"/>
              </a:rPr>
              <a:t>修改意见依赖聊天工具、邮件或线下口头传达，反馈链路冗长且上下文经常中断。</a:t>
            </a:r>
            <a:endParaRPr lang="en-US" sz="1040" dirty="0"/>
          </a:p>
        </p:txBody>
      </p:sp>
      <p:sp>
        <p:nvSpPr>
          <p:cNvPr id="15" name="Shape 13"/>
          <p:cNvSpPr/>
          <p:nvPr/>
        </p:nvSpPr>
        <p:spPr>
          <a:xfrm>
            <a:off x="640080" y="3602736"/>
            <a:ext cx="3611880" cy="877824"/>
          </a:xfrm>
          <a:prstGeom prst="roundRect">
            <a:avLst>
              <a:gd name="adj" fmla="val 12500"/>
            </a:avLst>
          </a:prstGeom>
          <a:solidFill>
            <a:srgbClr val="F9EFEC"/>
          </a:solidFill>
          <a:ln/>
          <a:effectLst>
            <a:outerShdw sx="100000" sy="100000" kx="0" ky="0" algn="bl" rotWithShape="0" blurRad="25400" dist="12700" dir="16200000">
              <a:srgbClr val="000000">
                <a:alpha val="8000"/>
              </a:srgbClr>
            </a:outerShdw>
          </a:effectLst>
        </p:spPr>
      </p:sp>
      <p:sp>
        <p:nvSpPr>
          <p:cNvPr id="16" name="Shape 14"/>
          <p:cNvSpPr/>
          <p:nvPr/>
        </p:nvSpPr>
        <p:spPr>
          <a:xfrm>
            <a:off x="804672" y="3767328"/>
            <a:ext cx="201168" cy="201168"/>
          </a:xfrm>
          <a:prstGeom prst="ellipse">
            <a:avLst/>
          </a:prstGeom>
          <a:solidFill>
            <a:srgbClr val="D58B73"/>
          </a:solidFill>
          <a:ln/>
        </p:spPr>
      </p:sp>
      <p:sp>
        <p:nvSpPr>
          <p:cNvPr id="17" name="Text 15"/>
          <p:cNvSpPr/>
          <p:nvPr/>
        </p:nvSpPr>
        <p:spPr>
          <a:xfrm>
            <a:off x="1078992" y="3749040"/>
            <a:ext cx="3044952" cy="256032"/>
          </a:xfrm>
          <a:prstGeom prst="rect">
            <a:avLst/>
          </a:prstGeom>
          <a:noFill/>
          <a:ln/>
        </p:spPr>
        <p:txBody>
          <a:bodyPr wrap="square" lIns="0" tIns="0" rIns="0" bIns="0" rtlCol="0" anchor="ctr"/>
          <a:lstStyle/>
          <a:p>
            <a:pPr algn="l" indent="0" marL="0">
              <a:buNone/>
            </a:pPr>
            <a:r>
              <a:rPr lang="en-US" sz="1400" b="1" dirty="0">
                <a:solidFill>
                  <a:srgbClr val="23313A"/>
                </a:solidFill>
                <a:latin typeface="Arial" pitchFamily="34" charset="0"/>
                <a:ea typeface="Arial" pitchFamily="34" charset="-122"/>
                <a:cs typeface="Arial" pitchFamily="34" charset="-120"/>
              </a:rPr>
              <a:t>传统方式：传递成本较高</a:t>
            </a:r>
            <a:endParaRPr lang="en-US" sz="1400" dirty="0"/>
          </a:p>
        </p:txBody>
      </p:sp>
      <p:sp>
        <p:nvSpPr>
          <p:cNvPr id="18" name="Text 16"/>
          <p:cNvSpPr/>
          <p:nvPr/>
        </p:nvSpPr>
        <p:spPr>
          <a:xfrm>
            <a:off x="804672" y="4050792"/>
            <a:ext cx="3319272" cy="338328"/>
          </a:xfrm>
          <a:prstGeom prst="rect">
            <a:avLst/>
          </a:prstGeom>
          <a:noFill/>
          <a:ln/>
        </p:spPr>
        <p:txBody>
          <a:bodyPr wrap="square" lIns="0" tIns="0" rIns="0" bIns="0" rtlCol="0" anchor="t"/>
          <a:lstStyle/>
          <a:p>
            <a:pPr algn="l" indent="0" marL="0">
              <a:buNone/>
            </a:pPr>
            <a:r>
              <a:rPr lang="en-US" sz="1040" dirty="0">
                <a:solidFill>
                  <a:srgbClr val="5E6E75"/>
                </a:solidFill>
                <a:latin typeface="Arial" pitchFamily="34" charset="0"/>
                <a:ea typeface="Arial" pitchFamily="34" charset="-122"/>
                <a:cs typeface="Arial" pitchFamily="34" charset="-120"/>
              </a:rPr>
              <a:t>共享过程常常需要反复发送附件、重新命名文件并手动汇总，协作效率受到明显限制。</a:t>
            </a:r>
            <a:endParaRPr lang="en-US" sz="1040" dirty="0"/>
          </a:p>
        </p:txBody>
      </p:sp>
      <p:sp>
        <p:nvSpPr>
          <p:cNvPr id="19" name="Shape 17"/>
          <p:cNvSpPr/>
          <p:nvPr/>
        </p:nvSpPr>
        <p:spPr>
          <a:xfrm>
            <a:off x="4709160" y="1572768"/>
            <a:ext cx="3749040" cy="877824"/>
          </a:xfrm>
          <a:prstGeom prst="roundRect">
            <a:avLst>
              <a:gd name="adj" fmla="val 12500"/>
            </a:avLst>
          </a:prstGeom>
          <a:solidFill>
            <a:srgbClr val="E8F7F1"/>
          </a:solidFill>
          <a:ln/>
          <a:effectLst>
            <a:outerShdw sx="100000" sy="100000" kx="0" ky="0" algn="bl" rotWithShape="0" blurRad="25400" dist="12700" dir="16200000">
              <a:srgbClr val="000000">
                <a:alpha val="8000"/>
              </a:srgbClr>
            </a:outerShdw>
          </a:effectLst>
        </p:spPr>
      </p:sp>
      <p:sp>
        <p:nvSpPr>
          <p:cNvPr id="20" name="Shape 18"/>
          <p:cNvSpPr/>
          <p:nvPr/>
        </p:nvSpPr>
        <p:spPr>
          <a:xfrm>
            <a:off x="4873752" y="1737360"/>
            <a:ext cx="201168" cy="201168"/>
          </a:xfrm>
          <a:prstGeom prst="ellipse">
            <a:avLst/>
          </a:prstGeom>
          <a:solidFill>
            <a:srgbClr val="1FA971"/>
          </a:solidFill>
          <a:ln/>
        </p:spPr>
      </p:sp>
      <p:sp>
        <p:nvSpPr>
          <p:cNvPr id="21" name="Text 19"/>
          <p:cNvSpPr/>
          <p:nvPr/>
        </p:nvSpPr>
        <p:spPr>
          <a:xfrm>
            <a:off x="5148072" y="1719072"/>
            <a:ext cx="3182112" cy="256032"/>
          </a:xfrm>
          <a:prstGeom prst="rect">
            <a:avLst/>
          </a:prstGeom>
          <a:noFill/>
          <a:ln/>
        </p:spPr>
        <p:txBody>
          <a:bodyPr wrap="square" lIns="0" tIns="0" rIns="0" bIns="0" rtlCol="0" anchor="ctr"/>
          <a:lstStyle/>
          <a:p>
            <a:pPr algn="l" indent="0" marL="0">
              <a:buNone/>
            </a:pPr>
            <a:r>
              <a:rPr lang="en-US" sz="1400" b="1" dirty="0">
                <a:solidFill>
                  <a:srgbClr val="23313A"/>
                </a:solidFill>
                <a:latin typeface="Arial" pitchFamily="34" charset="0"/>
                <a:ea typeface="Arial" pitchFamily="34" charset="-122"/>
                <a:cs typeface="Arial" pitchFamily="34" charset="-120"/>
              </a:rPr>
              <a:t>石墨文档：围绕同一内容共创</a:t>
            </a:r>
            <a:endParaRPr lang="en-US" sz="1400" dirty="0"/>
          </a:p>
        </p:txBody>
      </p:sp>
      <p:sp>
        <p:nvSpPr>
          <p:cNvPr id="22" name="Text 20"/>
          <p:cNvSpPr/>
          <p:nvPr/>
        </p:nvSpPr>
        <p:spPr>
          <a:xfrm>
            <a:off x="4873752" y="2020824"/>
            <a:ext cx="3456432" cy="338328"/>
          </a:xfrm>
          <a:prstGeom prst="rect">
            <a:avLst/>
          </a:prstGeom>
          <a:noFill/>
          <a:ln/>
        </p:spPr>
        <p:txBody>
          <a:bodyPr wrap="square" lIns="0" tIns="0" rIns="0" bIns="0" rtlCol="0" anchor="t"/>
          <a:lstStyle/>
          <a:p>
            <a:pPr algn="l" indent="0" marL="0">
              <a:buNone/>
            </a:pPr>
            <a:r>
              <a:rPr lang="en-US" sz="1040" dirty="0">
                <a:solidFill>
                  <a:srgbClr val="5E6E75"/>
                </a:solidFill>
                <a:latin typeface="Arial" pitchFamily="34" charset="0"/>
                <a:ea typeface="Arial" pitchFamily="34" charset="-122"/>
                <a:cs typeface="Arial" pitchFamily="34" charset="-120"/>
              </a:rPr>
              <a:t>多人可以围绕同一份内容同步编辑，修改过程即时呈现，减少等待和重复整理的时间。</a:t>
            </a:r>
            <a:endParaRPr lang="en-US" sz="1040" dirty="0"/>
          </a:p>
        </p:txBody>
      </p:sp>
      <p:sp>
        <p:nvSpPr>
          <p:cNvPr id="23" name="Shape 21"/>
          <p:cNvSpPr/>
          <p:nvPr/>
        </p:nvSpPr>
        <p:spPr>
          <a:xfrm>
            <a:off x="4709160" y="2587752"/>
            <a:ext cx="3749040" cy="877824"/>
          </a:xfrm>
          <a:prstGeom prst="roundRect">
            <a:avLst>
              <a:gd name="adj" fmla="val 12500"/>
            </a:avLst>
          </a:prstGeom>
          <a:solidFill>
            <a:srgbClr val="E8F7F1"/>
          </a:solidFill>
          <a:ln/>
          <a:effectLst>
            <a:outerShdw sx="100000" sy="100000" kx="0" ky="0" algn="bl" rotWithShape="0" blurRad="25400" dist="12700" dir="16200000">
              <a:srgbClr val="000000">
                <a:alpha val="8000"/>
              </a:srgbClr>
            </a:outerShdw>
          </a:effectLst>
        </p:spPr>
      </p:sp>
      <p:sp>
        <p:nvSpPr>
          <p:cNvPr id="24" name="Shape 22"/>
          <p:cNvSpPr/>
          <p:nvPr/>
        </p:nvSpPr>
        <p:spPr>
          <a:xfrm>
            <a:off x="4873752" y="2752344"/>
            <a:ext cx="201168" cy="201168"/>
          </a:xfrm>
          <a:prstGeom prst="ellipse">
            <a:avLst/>
          </a:prstGeom>
          <a:solidFill>
            <a:srgbClr val="1FA971"/>
          </a:solidFill>
          <a:ln/>
        </p:spPr>
      </p:sp>
      <p:sp>
        <p:nvSpPr>
          <p:cNvPr id="25" name="Text 23"/>
          <p:cNvSpPr/>
          <p:nvPr/>
        </p:nvSpPr>
        <p:spPr>
          <a:xfrm>
            <a:off x="5148072" y="2734056"/>
            <a:ext cx="3182112" cy="256032"/>
          </a:xfrm>
          <a:prstGeom prst="rect">
            <a:avLst/>
          </a:prstGeom>
          <a:noFill/>
          <a:ln/>
        </p:spPr>
        <p:txBody>
          <a:bodyPr wrap="square" lIns="0" tIns="0" rIns="0" bIns="0" rtlCol="0" anchor="ctr"/>
          <a:lstStyle/>
          <a:p>
            <a:pPr algn="l" indent="0" marL="0">
              <a:buNone/>
            </a:pPr>
            <a:r>
              <a:rPr lang="en-US" sz="1400" b="1" dirty="0">
                <a:solidFill>
                  <a:srgbClr val="23313A"/>
                </a:solidFill>
                <a:latin typeface="Arial" pitchFamily="34" charset="0"/>
                <a:ea typeface="Arial" pitchFamily="34" charset="-122"/>
                <a:cs typeface="Arial" pitchFamily="34" charset="-120"/>
              </a:rPr>
              <a:t>石墨文档：协作过程同步沉淀</a:t>
            </a:r>
            <a:endParaRPr lang="en-US" sz="1400" dirty="0"/>
          </a:p>
        </p:txBody>
      </p:sp>
      <p:sp>
        <p:nvSpPr>
          <p:cNvPr id="26" name="Text 24"/>
          <p:cNvSpPr/>
          <p:nvPr/>
        </p:nvSpPr>
        <p:spPr>
          <a:xfrm>
            <a:off x="4873752" y="3035808"/>
            <a:ext cx="3456432" cy="338328"/>
          </a:xfrm>
          <a:prstGeom prst="rect">
            <a:avLst/>
          </a:prstGeom>
          <a:noFill/>
          <a:ln/>
        </p:spPr>
        <p:txBody>
          <a:bodyPr wrap="square" lIns="0" tIns="0" rIns="0" bIns="0" rtlCol="0" anchor="t"/>
          <a:lstStyle/>
          <a:p>
            <a:pPr algn="l" indent="0" marL="0">
              <a:buNone/>
            </a:pPr>
            <a:r>
              <a:rPr lang="en-US" sz="1040" dirty="0">
                <a:solidFill>
                  <a:srgbClr val="5E6E75"/>
                </a:solidFill>
                <a:latin typeface="Arial" pitchFamily="34" charset="0"/>
                <a:ea typeface="Arial" pitchFamily="34" charset="-122"/>
                <a:cs typeface="Arial" pitchFamily="34" charset="-120"/>
              </a:rPr>
              <a:t>文档、评论和历史修改记录集中留存在统一空间，更利于后续查找、复盘与持续复用。</a:t>
            </a:r>
            <a:endParaRPr lang="en-US" sz="1040" dirty="0"/>
          </a:p>
        </p:txBody>
      </p:sp>
      <p:sp>
        <p:nvSpPr>
          <p:cNvPr id="27" name="Shape 25"/>
          <p:cNvSpPr/>
          <p:nvPr/>
        </p:nvSpPr>
        <p:spPr>
          <a:xfrm>
            <a:off x="4709160" y="3602736"/>
            <a:ext cx="3749040" cy="877824"/>
          </a:xfrm>
          <a:prstGeom prst="roundRect">
            <a:avLst>
              <a:gd name="adj" fmla="val 12500"/>
            </a:avLst>
          </a:prstGeom>
          <a:solidFill>
            <a:srgbClr val="E8F7F1"/>
          </a:solidFill>
          <a:ln/>
          <a:effectLst>
            <a:outerShdw sx="100000" sy="100000" kx="0" ky="0" algn="bl" rotWithShape="0" blurRad="25400" dist="12700" dir="16200000">
              <a:srgbClr val="000000">
                <a:alpha val="8000"/>
              </a:srgbClr>
            </a:outerShdw>
          </a:effectLst>
        </p:spPr>
      </p:sp>
      <p:sp>
        <p:nvSpPr>
          <p:cNvPr id="28" name="Shape 26"/>
          <p:cNvSpPr/>
          <p:nvPr/>
        </p:nvSpPr>
        <p:spPr>
          <a:xfrm>
            <a:off x="4873752" y="3767328"/>
            <a:ext cx="201168" cy="201168"/>
          </a:xfrm>
          <a:prstGeom prst="ellipse">
            <a:avLst/>
          </a:prstGeom>
          <a:solidFill>
            <a:srgbClr val="1FA971"/>
          </a:solidFill>
          <a:ln/>
        </p:spPr>
      </p:sp>
      <p:sp>
        <p:nvSpPr>
          <p:cNvPr id="29" name="Text 27"/>
          <p:cNvSpPr/>
          <p:nvPr/>
        </p:nvSpPr>
        <p:spPr>
          <a:xfrm>
            <a:off x="5148072" y="3749040"/>
            <a:ext cx="3182112" cy="256032"/>
          </a:xfrm>
          <a:prstGeom prst="rect">
            <a:avLst/>
          </a:prstGeom>
          <a:noFill/>
          <a:ln/>
        </p:spPr>
        <p:txBody>
          <a:bodyPr wrap="square" lIns="0" tIns="0" rIns="0" bIns="0" rtlCol="0" anchor="ctr"/>
          <a:lstStyle/>
          <a:p>
            <a:pPr algn="l" indent="0" marL="0">
              <a:buNone/>
            </a:pPr>
            <a:r>
              <a:rPr lang="en-US" sz="1400" b="1" dirty="0">
                <a:solidFill>
                  <a:srgbClr val="23313A"/>
                </a:solidFill>
                <a:latin typeface="Arial" pitchFamily="34" charset="0"/>
                <a:ea typeface="Arial" pitchFamily="34" charset="-122"/>
                <a:cs typeface="Arial" pitchFamily="34" charset="-120"/>
              </a:rPr>
              <a:t>石墨文档：共享更加灵活可控</a:t>
            </a:r>
            <a:endParaRPr lang="en-US" sz="1400" dirty="0"/>
          </a:p>
        </p:txBody>
      </p:sp>
      <p:sp>
        <p:nvSpPr>
          <p:cNvPr id="30" name="Text 28"/>
          <p:cNvSpPr/>
          <p:nvPr/>
        </p:nvSpPr>
        <p:spPr>
          <a:xfrm>
            <a:off x="4873752" y="4050792"/>
            <a:ext cx="3456432" cy="338328"/>
          </a:xfrm>
          <a:prstGeom prst="rect">
            <a:avLst/>
          </a:prstGeom>
          <a:noFill/>
          <a:ln/>
        </p:spPr>
        <p:txBody>
          <a:bodyPr wrap="square" lIns="0" tIns="0" rIns="0" bIns="0" rtlCol="0" anchor="t"/>
          <a:lstStyle/>
          <a:p>
            <a:pPr algn="l" indent="0" marL="0">
              <a:buNone/>
            </a:pPr>
            <a:r>
              <a:rPr lang="en-US" sz="1040" dirty="0">
                <a:solidFill>
                  <a:srgbClr val="5E6E75"/>
                </a:solidFill>
                <a:latin typeface="Arial" pitchFamily="34" charset="0"/>
                <a:ea typeface="Arial" pitchFamily="34" charset="-122"/>
                <a:cs typeface="Arial" pitchFamily="34" charset="-120"/>
              </a:rPr>
              <a:t>通过链接、权限和在线访问机制，团队成员能够在合适范围内快速共享并保持信息一致。</a:t>
            </a:r>
            <a:endParaRPr lang="en-US" sz="1040" dirty="0"/>
          </a:p>
        </p:txBody>
      </p:sp>
      <p:sp>
        <p:nvSpPr>
          <p:cNvPr id="31" name="Text 29"/>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6B7C84"/>
                </a:solidFill>
                <a:latin typeface="Arial" pitchFamily="34" charset="0"/>
                <a:ea typeface="Arial" pitchFamily="34" charset="-122"/>
                <a:cs typeface="Arial" pitchFamily="34" charset="-120"/>
              </a:rPr>
              <a:t>02/10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548640" y="411480"/>
            <a:ext cx="8046720" cy="384048"/>
          </a:xfrm>
          <a:prstGeom prst="rect">
            <a:avLst/>
          </a:prstGeom>
          <a:noFill/>
          <a:ln/>
        </p:spPr>
        <p:txBody>
          <a:bodyPr wrap="square" lIns="0" tIns="0" rIns="0" bIns="0" rtlCol="0" anchor="ctr"/>
          <a:lstStyle/>
          <a:p>
            <a:pPr algn="l" indent="0" marL="0">
              <a:buNone/>
            </a:pPr>
            <a:r>
              <a:rPr lang="en-US" sz="2800" b="1" dirty="0">
                <a:solidFill>
                  <a:srgbClr val="23313A"/>
                </a:solidFill>
                <a:latin typeface="Arial" pitchFamily="34" charset="0"/>
                <a:ea typeface="Arial" pitchFamily="34" charset="-122"/>
                <a:cs typeface="Arial" pitchFamily="34" charset="-120"/>
              </a:rPr>
              <a:t>谁在使用石墨文档</a:t>
            </a:r>
            <a:endParaRPr lang="en-US" sz="2800" dirty="0"/>
          </a:p>
        </p:txBody>
      </p:sp>
      <p:sp>
        <p:nvSpPr>
          <p:cNvPr id="3" name="Text 1"/>
          <p:cNvSpPr/>
          <p:nvPr/>
        </p:nvSpPr>
        <p:spPr>
          <a:xfrm>
            <a:off x="548640" y="822960"/>
            <a:ext cx="8001000" cy="384048"/>
          </a:xfrm>
          <a:prstGeom prst="rect">
            <a:avLst/>
          </a:prstGeom>
          <a:noFill/>
          <a:ln/>
        </p:spPr>
        <p:txBody>
          <a:bodyPr wrap="square" lIns="0" tIns="0" rIns="0" bIns="0" rtlCol="0" anchor="ctr"/>
          <a:lstStyle/>
          <a:p>
            <a:pPr algn="l" indent="0" marL="0">
              <a:buNone/>
            </a:pPr>
            <a:r>
              <a:rPr lang="en-US" sz="1200" dirty="0">
                <a:solidFill>
                  <a:srgbClr val="5E6E75"/>
                </a:solidFill>
                <a:latin typeface="Arial" pitchFamily="34" charset="0"/>
                <a:ea typeface="Arial" pitchFamily="34" charset="-122"/>
                <a:cs typeface="Arial" pitchFamily="34" charset="-120"/>
              </a:rPr>
              <a:t>典型用户并不限于某一类岗位，而是广泛分布在需要多人共创、频繁同步和持续沉淀内容的知识型团队中。</a:t>
            </a:r>
            <a:endParaRPr lang="en-US" sz="1200" dirty="0"/>
          </a:p>
        </p:txBody>
      </p:sp>
      <p:sp>
        <p:nvSpPr>
          <p:cNvPr id="4" name="Shape 2"/>
          <p:cNvSpPr/>
          <p:nvPr/>
        </p:nvSpPr>
        <p:spPr>
          <a:xfrm>
            <a:off x="640080" y="1325880"/>
            <a:ext cx="3703320" cy="1325880"/>
          </a:xfrm>
          <a:prstGeom prst="roundRect">
            <a:avLst>
              <a:gd name="adj" fmla="val 8276"/>
            </a:avLst>
          </a:prstGeom>
          <a:solidFill>
            <a:srgbClr val="EFF8F4"/>
          </a:solidFill>
          <a:ln/>
          <a:effectLst>
            <a:outerShdw sx="100000" sy="100000" kx="0" ky="0" algn="bl" rotWithShape="0" blurRad="25400" dist="12700" dir="16200000">
              <a:srgbClr val="000000">
                <a:alpha val="8000"/>
              </a:srgbClr>
            </a:outerShdw>
          </a:effectLst>
        </p:spPr>
      </p:sp>
      <p:sp>
        <p:nvSpPr>
          <p:cNvPr id="5" name="Shape 3"/>
          <p:cNvSpPr/>
          <p:nvPr/>
        </p:nvSpPr>
        <p:spPr>
          <a:xfrm>
            <a:off x="804672" y="1508760"/>
            <a:ext cx="329184" cy="329184"/>
          </a:xfrm>
          <a:prstGeom prst="ellipse">
            <a:avLst/>
          </a:prstGeom>
          <a:solidFill>
            <a:srgbClr val="1FA971"/>
          </a:solidFill>
          <a:ln/>
        </p:spPr>
      </p:sp>
      <p:sp>
        <p:nvSpPr>
          <p:cNvPr id="6" name="Text 4"/>
          <p:cNvSpPr/>
          <p:nvPr/>
        </p:nvSpPr>
        <p:spPr>
          <a:xfrm>
            <a:off x="1234440" y="1490472"/>
            <a:ext cx="2743200" cy="274320"/>
          </a:xfrm>
          <a:prstGeom prst="rect">
            <a:avLst/>
          </a:prstGeom>
          <a:noFill/>
          <a:ln/>
        </p:spPr>
        <p:txBody>
          <a:bodyPr wrap="square" lIns="0" tIns="0" rIns="0" bIns="0" rtlCol="0" anchor="ctr"/>
          <a:lstStyle/>
          <a:p>
            <a:pPr indent="0" marL="0">
              <a:buNone/>
            </a:pPr>
            <a:r>
              <a:rPr lang="en-US" sz="1600" b="1" dirty="0">
                <a:solidFill>
                  <a:srgbClr val="23313A"/>
                </a:solidFill>
                <a:latin typeface="Arial" pitchFamily="34" charset="0"/>
                <a:ea typeface="Arial" pitchFamily="34" charset="-122"/>
                <a:cs typeface="Arial" pitchFamily="34" charset="-120"/>
              </a:rPr>
              <a:t>企业职能团队</a:t>
            </a:r>
            <a:endParaRPr lang="en-US" sz="1600" dirty="0"/>
          </a:p>
        </p:txBody>
      </p:sp>
      <p:sp>
        <p:nvSpPr>
          <p:cNvPr id="7" name="Text 5"/>
          <p:cNvSpPr/>
          <p:nvPr/>
        </p:nvSpPr>
        <p:spPr>
          <a:xfrm>
            <a:off x="804672" y="1810512"/>
            <a:ext cx="3401568" cy="566928"/>
          </a:xfrm>
          <a:prstGeom prst="rect">
            <a:avLst/>
          </a:prstGeom>
          <a:noFill/>
          <a:ln/>
        </p:spPr>
        <p:txBody>
          <a:bodyPr wrap="square" lIns="0" tIns="0" rIns="0" bIns="0" rtlCol="0" anchor="t"/>
          <a:lstStyle/>
          <a:p>
            <a:pPr algn="l" indent="0" marL="0">
              <a:buNone/>
            </a:pPr>
            <a:r>
              <a:rPr lang="en-US" sz="1120" dirty="0">
                <a:solidFill>
                  <a:srgbClr val="5E6E75"/>
                </a:solidFill>
                <a:latin typeface="Arial" pitchFamily="34" charset="0"/>
                <a:ea typeface="Arial" pitchFamily="34" charset="-122"/>
                <a:cs typeface="Arial" pitchFamily="34" charset="-120"/>
              </a:rPr>
              <a:t>行政、人事、财务与法务等岗位常需维护制度、流程、通知和表单，统一在线协作可以减少口径不一致与资料散落的问题。</a:t>
            </a:r>
            <a:endParaRPr lang="en-US" sz="1120" dirty="0"/>
          </a:p>
        </p:txBody>
      </p:sp>
      <p:sp>
        <p:nvSpPr>
          <p:cNvPr id="8" name="Shape 6"/>
          <p:cNvSpPr/>
          <p:nvPr/>
        </p:nvSpPr>
        <p:spPr>
          <a:xfrm>
            <a:off x="3730752" y="1472184"/>
            <a:ext cx="438912" cy="438912"/>
          </a:xfrm>
          <a:prstGeom prst="roundRect">
            <a:avLst>
              <a:gd name="adj" fmla="val 16667"/>
            </a:avLst>
          </a:prstGeom>
          <a:solidFill>
            <a:srgbClr val="1FA971">
              <a:alpha val="26000"/>
            </a:srgbClr>
          </a:solidFill>
          <a:ln/>
        </p:spPr>
      </p:sp>
      <p:sp>
        <p:nvSpPr>
          <p:cNvPr id="9" name="Shape 7"/>
          <p:cNvSpPr/>
          <p:nvPr/>
        </p:nvSpPr>
        <p:spPr>
          <a:xfrm>
            <a:off x="4572000" y="1325880"/>
            <a:ext cx="3703320" cy="1325880"/>
          </a:xfrm>
          <a:prstGeom prst="roundRect">
            <a:avLst>
              <a:gd name="adj" fmla="val 8276"/>
            </a:avLst>
          </a:prstGeom>
          <a:solidFill>
            <a:srgbClr val="EEF6FB"/>
          </a:solidFill>
          <a:ln/>
          <a:effectLst>
            <a:outerShdw sx="100000" sy="100000" kx="0" ky="0" algn="bl" rotWithShape="0" blurRad="25400" dist="12700" dir="16200000">
              <a:srgbClr val="000000">
                <a:alpha val="8000"/>
              </a:srgbClr>
            </a:outerShdw>
          </a:effectLst>
        </p:spPr>
      </p:sp>
      <p:sp>
        <p:nvSpPr>
          <p:cNvPr id="10" name="Shape 8"/>
          <p:cNvSpPr/>
          <p:nvPr/>
        </p:nvSpPr>
        <p:spPr>
          <a:xfrm>
            <a:off x="4736592" y="1508760"/>
            <a:ext cx="329184" cy="329184"/>
          </a:xfrm>
          <a:prstGeom prst="ellipse">
            <a:avLst/>
          </a:prstGeom>
          <a:solidFill>
            <a:srgbClr val="61A4C7"/>
          </a:solidFill>
          <a:ln/>
        </p:spPr>
      </p:sp>
      <p:sp>
        <p:nvSpPr>
          <p:cNvPr id="11" name="Text 9"/>
          <p:cNvSpPr/>
          <p:nvPr/>
        </p:nvSpPr>
        <p:spPr>
          <a:xfrm>
            <a:off x="5166360" y="1490472"/>
            <a:ext cx="2743200" cy="274320"/>
          </a:xfrm>
          <a:prstGeom prst="rect">
            <a:avLst/>
          </a:prstGeom>
          <a:noFill/>
          <a:ln/>
        </p:spPr>
        <p:txBody>
          <a:bodyPr wrap="square" lIns="0" tIns="0" rIns="0" bIns="0" rtlCol="0" anchor="ctr"/>
          <a:lstStyle/>
          <a:p>
            <a:pPr indent="0" marL="0">
              <a:buNone/>
            </a:pPr>
            <a:r>
              <a:rPr lang="en-US" sz="1600" b="1" dirty="0">
                <a:solidFill>
                  <a:srgbClr val="23313A"/>
                </a:solidFill>
                <a:latin typeface="Arial" pitchFamily="34" charset="0"/>
                <a:ea typeface="Arial" pitchFamily="34" charset="-122"/>
                <a:cs typeface="Arial" pitchFamily="34" charset="-120"/>
              </a:rPr>
              <a:t>项目协作团队</a:t>
            </a:r>
            <a:endParaRPr lang="en-US" sz="1600" dirty="0"/>
          </a:p>
        </p:txBody>
      </p:sp>
      <p:sp>
        <p:nvSpPr>
          <p:cNvPr id="12" name="Text 10"/>
          <p:cNvSpPr/>
          <p:nvPr/>
        </p:nvSpPr>
        <p:spPr>
          <a:xfrm>
            <a:off x="4736592" y="1810512"/>
            <a:ext cx="3401568" cy="566928"/>
          </a:xfrm>
          <a:prstGeom prst="rect">
            <a:avLst/>
          </a:prstGeom>
          <a:noFill/>
          <a:ln/>
        </p:spPr>
        <p:txBody>
          <a:bodyPr wrap="square" lIns="0" tIns="0" rIns="0" bIns="0" rtlCol="0" anchor="t"/>
          <a:lstStyle/>
          <a:p>
            <a:pPr algn="l" indent="0" marL="0">
              <a:buNone/>
            </a:pPr>
            <a:r>
              <a:rPr lang="en-US" sz="1120" dirty="0">
                <a:solidFill>
                  <a:srgbClr val="5E6E75"/>
                </a:solidFill>
                <a:latin typeface="Arial" pitchFamily="34" charset="0"/>
                <a:ea typeface="Arial" pitchFamily="34" charset="-122"/>
                <a:cs typeface="Arial" pitchFamily="34" charset="-120"/>
              </a:rPr>
              <a:t>产品、研发、设计和运营往往围绕需求文档、方案说明与任务记录持续协同，多人同时编辑能显著提升推进效率。</a:t>
            </a:r>
            <a:endParaRPr lang="en-US" sz="1120" dirty="0"/>
          </a:p>
        </p:txBody>
      </p:sp>
      <p:sp>
        <p:nvSpPr>
          <p:cNvPr id="13" name="Shape 11"/>
          <p:cNvSpPr/>
          <p:nvPr/>
        </p:nvSpPr>
        <p:spPr>
          <a:xfrm>
            <a:off x="7662672" y="1472184"/>
            <a:ext cx="438912" cy="438912"/>
          </a:xfrm>
          <a:prstGeom prst="roundRect">
            <a:avLst>
              <a:gd name="adj" fmla="val 16667"/>
            </a:avLst>
          </a:prstGeom>
          <a:solidFill>
            <a:srgbClr val="61A4C7">
              <a:alpha val="26000"/>
            </a:srgbClr>
          </a:solidFill>
          <a:ln/>
        </p:spPr>
      </p:sp>
      <p:sp>
        <p:nvSpPr>
          <p:cNvPr id="14" name="Shape 12"/>
          <p:cNvSpPr/>
          <p:nvPr/>
        </p:nvSpPr>
        <p:spPr>
          <a:xfrm>
            <a:off x="640080" y="2880360"/>
            <a:ext cx="3703320" cy="1325880"/>
          </a:xfrm>
          <a:prstGeom prst="roundRect">
            <a:avLst>
              <a:gd name="adj" fmla="val 8276"/>
            </a:avLst>
          </a:prstGeom>
          <a:solidFill>
            <a:srgbClr val="F7F3FD"/>
          </a:solidFill>
          <a:ln/>
          <a:effectLst>
            <a:outerShdw sx="100000" sy="100000" kx="0" ky="0" algn="bl" rotWithShape="0" blurRad="25400" dist="12700" dir="16200000">
              <a:srgbClr val="000000">
                <a:alpha val="8000"/>
              </a:srgbClr>
            </a:outerShdw>
          </a:effectLst>
        </p:spPr>
      </p:sp>
      <p:sp>
        <p:nvSpPr>
          <p:cNvPr id="15" name="Shape 13"/>
          <p:cNvSpPr/>
          <p:nvPr/>
        </p:nvSpPr>
        <p:spPr>
          <a:xfrm>
            <a:off x="804672" y="3063240"/>
            <a:ext cx="329184" cy="329184"/>
          </a:xfrm>
          <a:prstGeom prst="ellipse">
            <a:avLst/>
          </a:prstGeom>
          <a:solidFill>
            <a:srgbClr val="9B7BD4"/>
          </a:solidFill>
          <a:ln/>
        </p:spPr>
      </p:sp>
      <p:sp>
        <p:nvSpPr>
          <p:cNvPr id="16" name="Text 14"/>
          <p:cNvSpPr/>
          <p:nvPr/>
        </p:nvSpPr>
        <p:spPr>
          <a:xfrm>
            <a:off x="1234440" y="3044952"/>
            <a:ext cx="2743200" cy="274320"/>
          </a:xfrm>
          <a:prstGeom prst="rect">
            <a:avLst/>
          </a:prstGeom>
          <a:noFill/>
          <a:ln/>
        </p:spPr>
        <p:txBody>
          <a:bodyPr wrap="square" lIns="0" tIns="0" rIns="0" bIns="0" rtlCol="0" anchor="ctr"/>
          <a:lstStyle/>
          <a:p>
            <a:pPr indent="0" marL="0">
              <a:buNone/>
            </a:pPr>
            <a:r>
              <a:rPr lang="en-US" sz="1600" b="1" dirty="0">
                <a:solidFill>
                  <a:srgbClr val="23313A"/>
                </a:solidFill>
                <a:latin typeface="Arial" pitchFamily="34" charset="0"/>
                <a:ea typeface="Arial" pitchFamily="34" charset="-122"/>
                <a:cs typeface="Arial" pitchFamily="34" charset="-120"/>
              </a:rPr>
              <a:t>跨部门协同团队</a:t>
            </a:r>
            <a:endParaRPr lang="en-US" sz="1600" dirty="0"/>
          </a:p>
        </p:txBody>
      </p:sp>
      <p:sp>
        <p:nvSpPr>
          <p:cNvPr id="17" name="Text 15"/>
          <p:cNvSpPr/>
          <p:nvPr/>
        </p:nvSpPr>
        <p:spPr>
          <a:xfrm>
            <a:off x="804672" y="3364992"/>
            <a:ext cx="3401568" cy="566928"/>
          </a:xfrm>
          <a:prstGeom prst="rect">
            <a:avLst/>
          </a:prstGeom>
          <a:noFill/>
          <a:ln/>
        </p:spPr>
        <p:txBody>
          <a:bodyPr wrap="square" lIns="0" tIns="0" rIns="0" bIns="0" rtlCol="0" anchor="t"/>
          <a:lstStyle/>
          <a:p>
            <a:pPr algn="l" indent="0" marL="0">
              <a:buNone/>
            </a:pPr>
            <a:r>
              <a:rPr lang="en-US" sz="1120" dirty="0">
                <a:solidFill>
                  <a:srgbClr val="5E6E75"/>
                </a:solidFill>
                <a:latin typeface="Arial" pitchFamily="34" charset="0"/>
                <a:ea typeface="Arial" pitchFamily="34" charset="-122"/>
                <a:cs typeface="Arial" pitchFamily="34" charset="-120"/>
              </a:rPr>
              <a:t>当会议纪要、方案评审、进度同步涉及多个部门时，在同一份文档内集中讨论与更新，能够减少信息传递中的遗漏与偏差。</a:t>
            </a:r>
            <a:endParaRPr lang="en-US" sz="1120" dirty="0"/>
          </a:p>
        </p:txBody>
      </p:sp>
      <p:sp>
        <p:nvSpPr>
          <p:cNvPr id="18" name="Shape 16"/>
          <p:cNvSpPr/>
          <p:nvPr/>
        </p:nvSpPr>
        <p:spPr>
          <a:xfrm>
            <a:off x="3730752" y="3026664"/>
            <a:ext cx="438912" cy="438912"/>
          </a:xfrm>
          <a:prstGeom prst="roundRect">
            <a:avLst>
              <a:gd name="adj" fmla="val 16667"/>
            </a:avLst>
          </a:prstGeom>
          <a:solidFill>
            <a:srgbClr val="9B7BD4">
              <a:alpha val="26000"/>
            </a:srgbClr>
          </a:solidFill>
          <a:ln/>
        </p:spPr>
      </p:sp>
      <p:sp>
        <p:nvSpPr>
          <p:cNvPr id="19" name="Shape 17"/>
          <p:cNvSpPr/>
          <p:nvPr/>
        </p:nvSpPr>
        <p:spPr>
          <a:xfrm>
            <a:off x="4572000" y="2880360"/>
            <a:ext cx="3703320" cy="1325880"/>
          </a:xfrm>
          <a:prstGeom prst="roundRect">
            <a:avLst>
              <a:gd name="adj" fmla="val 8276"/>
            </a:avLst>
          </a:prstGeom>
          <a:solidFill>
            <a:srgbClr val="F7FAEF"/>
          </a:solidFill>
          <a:ln/>
          <a:effectLst>
            <a:outerShdw sx="100000" sy="100000" kx="0" ky="0" algn="bl" rotWithShape="0" blurRad="25400" dist="12700" dir="16200000">
              <a:srgbClr val="000000">
                <a:alpha val="8000"/>
              </a:srgbClr>
            </a:outerShdw>
          </a:effectLst>
        </p:spPr>
      </p:sp>
      <p:sp>
        <p:nvSpPr>
          <p:cNvPr id="20" name="Shape 18"/>
          <p:cNvSpPr/>
          <p:nvPr/>
        </p:nvSpPr>
        <p:spPr>
          <a:xfrm>
            <a:off x="4736592" y="3063240"/>
            <a:ext cx="329184" cy="329184"/>
          </a:xfrm>
          <a:prstGeom prst="ellipse">
            <a:avLst/>
          </a:prstGeom>
          <a:solidFill>
            <a:srgbClr val="88A957"/>
          </a:solidFill>
          <a:ln/>
        </p:spPr>
      </p:sp>
      <p:sp>
        <p:nvSpPr>
          <p:cNvPr id="21" name="Text 19"/>
          <p:cNvSpPr/>
          <p:nvPr/>
        </p:nvSpPr>
        <p:spPr>
          <a:xfrm>
            <a:off x="5166360" y="3044952"/>
            <a:ext cx="2743200" cy="274320"/>
          </a:xfrm>
          <a:prstGeom prst="rect">
            <a:avLst/>
          </a:prstGeom>
          <a:noFill/>
          <a:ln/>
        </p:spPr>
        <p:txBody>
          <a:bodyPr wrap="square" lIns="0" tIns="0" rIns="0" bIns="0" rtlCol="0" anchor="ctr"/>
          <a:lstStyle/>
          <a:p>
            <a:pPr indent="0" marL="0">
              <a:buNone/>
            </a:pPr>
            <a:r>
              <a:rPr lang="en-US" sz="1600" b="1" dirty="0">
                <a:solidFill>
                  <a:srgbClr val="23313A"/>
                </a:solidFill>
                <a:latin typeface="Arial" pitchFamily="34" charset="0"/>
                <a:ea typeface="Arial" pitchFamily="34" charset="-122"/>
                <a:cs typeface="Arial" pitchFamily="34" charset="-120"/>
              </a:rPr>
              <a:t>知识沉淀型团队</a:t>
            </a:r>
            <a:endParaRPr lang="en-US" sz="1600" dirty="0"/>
          </a:p>
        </p:txBody>
      </p:sp>
      <p:sp>
        <p:nvSpPr>
          <p:cNvPr id="22" name="Text 20"/>
          <p:cNvSpPr/>
          <p:nvPr/>
        </p:nvSpPr>
        <p:spPr>
          <a:xfrm>
            <a:off x="4736592" y="3364992"/>
            <a:ext cx="3401568" cy="566928"/>
          </a:xfrm>
          <a:prstGeom prst="rect">
            <a:avLst/>
          </a:prstGeom>
          <a:noFill/>
          <a:ln/>
        </p:spPr>
        <p:txBody>
          <a:bodyPr wrap="square" lIns="0" tIns="0" rIns="0" bIns="0" rtlCol="0" anchor="t"/>
          <a:lstStyle/>
          <a:p>
            <a:pPr algn="l" indent="0" marL="0">
              <a:buNone/>
            </a:pPr>
            <a:r>
              <a:rPr lang="en-US" sz="1120" dirty="0">
                <a:solidFill>
                  <a:srgbClr val="5E6E75"/>
                </a:solidFill>
                <a:latin typeface="Arial" pitchFamily="34" charset="0"/>
                <a:ea typeface="Arial" pitchFamily="34" charset="-122"/>
                <a:cs typeface="Arial" pitchFamily="34" charset="-120"/>
              </a:rPr>
              <a:t>培训材料、操作手册、工作模板与常见问题如果需要反复被查阅和补充，在线沉淀方式更适合形成可持续复用的知识库。</a:t>
            </a:r>
            <a:endParaRPr lang="en-US" sz="1120" dirty="0"/>
          </a:p>
        </p:txBody>
      </p:sp>
      <p:sp>
        <p:nvSpPr>
          <p:cNvPr id="23" name="Shape 21"/>
          <p:cNvSpPr/>
          <p:nvPr/>
        </p:nvSpPr>
        <p:spPr>
          <a:xfrm>
            <a:off x="7662672" y="3026664"/>
            <a:ext cx="438912" cy="438912"/>
          </a:xfrm>
          <a:prstGeom prst="roundRect">
            <a:avLst>
              <a:gd name="adj" fmla="val 16667"/>
            </a:avLst>
          </a:prstGeom>
          <a:solidFill>
            <a:srgbClr val="88A957">
              <a:alpha val="26000"/>
            </a:srgbClr>
          </a:solidFill>
          <a:ln/>
        </p:spPr>
      </p:sp>
      <p:sp>
        <p:nvSpPr>
          <p:cNvPr id="24" name="Text 22"/>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6B7C84"/>
                </a:solidFill>
                <a:latin typeface="Arial" pitchFamily="34" charset="0"/>
                <a:ea typeface="Arial" pitchFamily="34" charset="-122"/>
                <a:cs typeface="Arial" pitchFamily="34" charset="-120"/>
              </a:rPr>
              <a:t>03/10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384048"/>
          </a:xfrm>
          <a:prstGeom prst="rect">
            <a:avLst/>
          </a:prstGeom>
          <a:noFill/>
          <a:ln/>
        </p:spPr>
        <p:txBody>
          <a:bodyPr wrap="square" lIns="0" tIns="0" rIns="0" bIns="0" rtlCol="0" anchor="ctr"/>
          <a:lstStyle/>
          <a:p>
            <a:pPr algn="l" indent="0" marL="0">
              <a:buNone/>
            </a:pPr>
            <a:r>
              <a:rPr lang="en-US" sz="2800" b="1" dirty="0">
                <a:solidFill>
                  <a:srgbClr val="23313A"/>
                </a:solidFill>
                <a:latin typeface="Arial" pitchFamily="34" charset="0"/>
                <a:ea typeface="Arial" pitchFamily="34" charset="-122"/>
                <a:cs typeface="Arial" pitchFamily="34" charset="-120"/>
              </a:rPr>
              <a:t>核心能力一：多人实时协作</a:t>
            </a:r>
            <a:endParaRPr lang="en-US" sz="2800" dirty="0"/>
          </a:p>
        </p:txBody>
      </p:sp>
      <p:sp>
        <p:nvSpPr>
          <p:cNvPr id="3" name="Text 1"/>
          <p:cNvSpPr/>
          <p:nvPr/>
        </p:nvSpPr>
        <p:spPr>
          <a:xfrm>
            <a:off x="548640" y="822960"/>
            <a:ext cx="8001000" cy="384048"/>
          </a:xfrm>
          <a:prstGeom prst="rect">
            <a:avLst/>
          </a:prstGeom>
          <a:noFill/>
          <a:ln/>
        </p:spPr>
        <p:txBody>
          <a:bodyPr wrap="square" lIns="0" tIns="0" rIns="0" bIns="0" rtlCol="0" anchor="ctr"/>
          <a:lstStyle/>
          <a:p>
            <a:pPr algn="l" indent="0" marL="0">
              <a:buNone/>
            </a:pPr>
            <a:r>
              <a:rPr lang="en-US" sz="1200" dirty="0">
                <a:solidFill>
                  <a:srgbClr val="5E6E75"/>
                </a:solidFill>
                <a:latin typeface="Arial" pitchFamily="34" charset="0"/>
                <a:ea typeface="Arial" pitchFamily="34" charset="-122"/>
                <a:cs typeface="Arial" pitchFamily="34" charset="-120"/>
              </a:rPr>
              <a:t>多人实时协作并不只是同时打字，而是把创建、编辑、沟通和收束连续连接起来，使团队在同一份内容上更快达成一致。</a:t>
            </a:r>
            <a:endParaRPr lang="en-US" sz="1200" dirty="0"/>
          </a:p>
        </p:txBody>
      </p:sp>
      <p:sp>
        <p:nvSpPr>
          <p:cNvPr id="4" name="Shape 2"/>
          <p:cNvSpPr/>
          <p:nvPr/>
        </p:nvSpPr>
        <p:spPr>
          <a:xfrm>
            <a:off x="1097280" y="1572768"/>
            <a:ext cx="0" cy="2852928"/>
          </a:xfrm>
          <a:prstGeom prst="line">
            <a:avLst/>
          </a:prstGeom>
          <a:noFill/>
          <a:ln w="27940">
            <a:solidFill>
              <a:srgbClr val="B6EBD3"/>
            </a:solidFill>
            <a:prstDash val="solid"/>
          </a:ln>
        </p:spPr>
      </p:sp>
      <p:sp>
        <p:nvSpPr>
          <p:cNvPr id="5" name="Shape 3"/>
          <p:cNvSpPr/>
          <p:nvPr/>
        </p:nvSpPr>
        <p:spPr>
          <a:xfrm>
            <a:off x="914400" y="1490472"/>
            <a:ext cx="365760" cy="365760"/>
          </a:xfrm>
          <a:prstGeom prst="ellipse">
            <a:avLst/>
          </a:prstGeom>
          <a:solidFill>
            <a:srgbClr val="1FA971"/>
          </a:solidFill>
          <a:ln/>
        </p:spPr>
      </p:sp>
      <p:sp>
        <p:nvSpPr>
          <p:cNvPr id="6" name="Text 4"/>
          <p:cNvSpPr/>
          <p:nvPr/>
        </p:nvSpPr>
        <p:spPr>
          <a:xfrm>
            <a:off x="914400" y="1563624"/>
            <a:ext cx="365760" cy="1097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Shape 5"/>
          <p:cNvSpPr/>
          <p:nvPr/>
        </p:nvSpPr>
        <p:spPr>
          <a:xfrm>
            <a:off x="1463040" y="1325880"/>
            <a:ext cx="6903720" cy="676656"/>
          </a:xfrm>
          <a:prstGeom prst="roundRect">
            <a:avLst>
              <a:gd name="adj" fmla="val 16216"/>
            </a:avLst>
          </a:prstGeom>
          <a:solidFill>
            <a:srgbClr val="EFF8F4"/>
          </a:solidFill>
          <a:ln/>
          <a:effectLst>
            <a:outerShdw sx="100000" sy="100000" kx="0" ky="0" algn="bl" rotWithShape="0" blurRad="25400" dist="12700" dir="16200000">
              <a:srgbClr val="000000">
                <a:alpha val="8000"/>
              </a:srgbClr>
            </a:outerShdw>
          </a:effectLst>
        </p:spPr>
      </p:sp>
      <p:sp>
        <p:nvSpPr>
          <p:cNvPr id="8" name="Text 6"/>
          <p:cNvSpPr/>
          <p:nvPr/>
        </p:nvSpPr>
        <p:spPr>
          <a:xfrm>
            <a:off x="1691640" y="1453896"/>
            <a:ext cx="1280160" cy="164592"/>
          </a:xfrm>
          <a:prstGeom prst="rect">
            <a:avLst/>
          </a:prstGeom>
          <a:noFill/>
          <a:ln/>
        </p:spPr>
        <p:txBody>
          <a:bodyPr wrap="square" lIns="0" tIns="0" rIns="0" bIns="0" rtlCol="0" anchor="ctr"/>
          <a:lstStyle/>
          <a:p>
            <a:pPr algn="l" indent="0" marL="0">
              <a:buNone/>
            </a:pPr>
            <a:r>
              <a:rPr lang="en-US" sz="1350" b="1" dirty="0">
                <a:solidFill>
                  <a:srgbClr val="23313A"/>
                </a:solidFill>
                <a:latin typeface="Arial" pitchFamily="34" charset="0"/>
                <a:ea typeface="Arial" pitchFamily="34" charset="-122"/>
                <a:cs typeface="Arial" pitchFamily="34" charset="-120"/>
              </a:rPr>
              <a:t>共同起草</a:t>
            </a:r>
            <a:endParaRPr lang="en-US" sz="1350" dirty="0"/>
          </a:p>
        </p:txBody>
      </p:sp>
      <p:sp>
        <p:nvSpPr>
          <p:cNvPr id="9" name="Text 7"/>
          <p:cNvSpPr/>
          <p:nvPr/>
        </p:nvSpPr>
        <p:spPr>
          <a:xfrm>
            <a:off x="2743200" y="1664208"/>
            <a:ext cx="5349240" cy="329184"/>
          </a:xfrm>
          <a:prstGeom prst="rect">
            <a:avLst/>
          </a:prstGeom>
          <a:noFill/>
          <a:ln/>
        </p:spPr>
        <p:txBody>
          <a:bodyPr wrap="square" lIns="0" tIns="0" rIns="0" bIns="0" rtlCol="0" anchor="ctr"/>
          <a:lstStyle/>
          <a:p>
            <a:pPr algn="l" indent="0" marL="0">
              <a:buNone/>
            </a:pPr>
            <a:r>
              <a:rPr lang="en-US" sz="970" dirty="0">
                <a:solidFill>
                  <a:srgbClr val="5E6E75"/>
                </a:solidFill>
                <a:latin typeface="Arial" pitchFamily="34" charset="0"/>
                <a:ea typeface="Arial" pitchFamily="34" charset="-122"/>
                <a:cs typeface="Arial" pitchFamily="34" charset="-120"/>
              </a:rPr>
              <a:t>成员无需先在线下各自起草再互相传附件，而是可以直接进入同一协作空间创建文档，从一开始就把参与者、内容与后续更新放在统一入口中。</a:t>
            </a:r>
            <a:endParaRPr lang="en-US" sz="970" dirty="0"/>
          </a:p>
        </p:txBody>
      </p:sp>
      <p:sp>
        <p:nvSpPr>
          <p:cNvPr id="10" name="Shape 8"/>
          <p:cNvSpPr/>
          <p:nvPr/>
        </p:nvSpPr>
        <p:spPr>
          <a:xfrm>
            <a:off x="914400" y="2267712"/>
            <a:ext cx="365760" cy="365760"/>
          </a:xfrm>
          <a:prstGeom prst="ellipse">
            <a:avLst/>
          </a:prstGeom>
          <a:solidFill>
            <a:srgbClr val="1FA971"/>
          </a:solidFill>
          <a:ln/>
        </p:spPr>
      </p:sp>
      <p:sp>
        <p:nvSpPr>
          <p:cNvPr id="11" name="Text 9"/>
          <p:cNvSpPr/>
          <p:nvPr/>
        </p:nvSpPr>
        <p:spPr>
          <a:xfrm>
            <a:off x="914400" y="2340864"/>
            <a:ext cx="365760" cy="1097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Shape 10"/>
          <p:cNvSpPr/>
          <p:nvPr/>
        </p:nvSpPr>
        <p:spPr>
          <a:xfrm>
            <a:off x="1463040" y="2103120"/>
            <a:ext cx="6903720" cy="676656"/>
          </a:xfrm>
          <a:prstGeom prst="roundRect">
            <a:avLst>
              <a:gd name="adj" fmla="val 16216"/>
            </a:avLst>
          </a:prstGeom>
          <a:solidFill>
            <a:srgbClr val="F4FBF8"/>
          </a:solidFill>
          <a:ln/>
          <a:effectLst>
            <a:outerShdw sx="100000" sy="100000" kx="0" ky="0" algn="bl" rotWithShape="0" blurRad="25400" dist="12700" dir="16200000">
              <a:srgbClr val="000000">
                <a:alpha val="8000"/>
              </a:srgbClr>
            </a:outerShdw>
          </a:effectLst>
        </p:spPr>
      </p:sp>
      <p:sp>
        <p:nvSpPr>
          <p:cNvPr id="13" name="Text 11"/>
          <p:cNvSpPr/>
          <p:nvPr/>
        </p:nvSpPr>
        <p:spPr>
          <a:xfrm>
            <a:off x="1691640" y="2231136"/>
            <a:ext cx="1280160" cy="164592"/>
          </a:xfrm>
          <a:prstGeom prst="rect">
            <a:avLst/>
          </a:prstGeom>
          <a:noFill/>
          <a:ln/>
        </p:spPr>
        <p:txBody>
          <a:bodyPr wrap="square" lIns="0" tIns="0" rIns="0" bIns="0" rtlCol="0" anchor="ctr"/>
          <a:lstStyle/>
          <a:p>
            <a:pPr algn="l" indent="0" marL="0">
              <a:buNone/>
            </a:pPr>
            <a:r>
              <a:rPr lang="en-US" sz="1350" b="1" dirty="0">
                <a:solidFill>
                  <a:srgbClr val="23313A"/>
                </a:solidFill>
                <a:latin typeface="Arial" pitchFamily="34" charset="0"/>
                <a:ea typeface="Arial" pitchFamily="34" charset="-122"/>
                <a:cs typeface="Arial" pitchFamily="34" charset="-120"/>
              </a:rPr>
              <a:t>同时编辑</a:t>
            </a:r>
            <a:endParaRPr lang="en-US" sz="1350" dirty="0"/>
          </a:p>
        </p:txBody>
      </p:sp>
      <p:sp>
        <p:nvSpPr>
          <p:cNvPr id="14" name="Text 12"/>
          <p:cNvSpPr/>
          <p:nvPr/>
        </p:nvSpPr>
        <p:spPr>
          <a:xfrm>
            <a:off x="2743200" y="2441448"/>
            <a:ext cx="5349240" cy="329184"/>
          </a:xfrm>
          <a:prstGeom prst="rect">
            <a:avLst/>
          </a:prstGeom>
          <a:noFill/>
          <a:ln/>
        </p:spPr>
        <p:txBody>
          <a:bodyPr wrap="square" lIns="0" tIns="0" rIns="0" bIns="0" rtlCol="0" anchor="ctr"/>
          <a:lstStyle/>
          <a:p>
            <a:pPr algn="l" indent="0" marL="0">
              <a:buNone/>
            </a:pPr>
            <a:r>
              <a:rPr lang="en-US" sz="970" dirty="0">
                <a:solidFill>
                  <a:srgbClr val="5E6E75"/>
                </a:solidFill>
                <a:latin typeface="Arial" pitchFamily="34" charset="0"/>
                <a:ea typeface="Arial" pitchFamily="34" charset="-122"/>
                <a:cs typeface="Arial" pitchFamily="34" charset="-120"/>
              </a:rPr>
              <a:t>多人可以在同一时间对不同段落进行补充、修改和整理，页面中的变化会即时呈现给所有参与者，从而明显减少等待他人提交版本的空档时间。</a:t>
            </a:r>
            <a:endParaRPr lang="en-US" sz="970" dirty="0"/>
          </a:p>
        </p:txBody>
      </p:sp>
      <p:sp>
        <p:nvSpPr>
          <p:cNvPr id="15" name="Shape 13"/>
          <p:cNvSpPr/>
          <p:nvPr/>
        </p:nvSpPr>
        <p:spPr>
          <a:xfrm>
            <a:off x="914400" y="3044952"/>
            <a:ext cx="365760" cy="365760"/>
          </a:xfrm>
          <a:prstGeom prst="ellipse">
            <a:avLst/>
          </a:prstGeom>
          <a:solidFill>
            <a:srgbClr val="1FA971"/>
          </a:solidFill>
          <a:ln/>
        </p:spPr>
      </p:sp>
      <p:sp>
        <p:nvSpPr>
          <p:cNvPr id="16" name="Text 14"/>
          <p:cNvSpPr/>
          <p:nvPr/>
        </p:nvSpPr>
        <p:spPr>
          <a:xfrm>
            <a:off x="914400" y="3118104"/>
            <a:ext cx="365760" cy="1097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7" name="Shape 15"/>
          <p:cNvSpPr/>
          <p:nvPr/>
        </p:nvSpPr>
        <p:spPr>
          <a:xfrm>
            <a:off x="1463040" y="2880360"/>
            <a:ext cx="6903720" cy="676656"/>
          </a:xfrm>
          <a:prstGeom prst="roundRect">
            <a:avLst>
              <a:gd name="adj" fmla="val 16216"/>
            </a:avLst>
          </a:prstGeom>
          <a:solidFill>
            <a:srgbClr val="EEF7FB"/>
          </a:solidFill>
          <a:ln/>
          <a:effectLst>
            <a:outerShdw sx="100000" sy="100000" kx="0" ky="0" algn="bl" rotWithShape="0" blurRad="25400" dist="12700" dir="16200000">
              <a:srgbClr val="000000">
                <a:alpha val="8000"/>
              </a:srgbClr>
            </a:outerShdw>
          </a:effectLst>
        </p:spPr>
      </p:sp>
      <p:sp>
        <p:nvSpPr>
          <p:cNvPr id="18" name="Text 16"/>
          <p:cNvSpPr/>
          <p:nvPr/>
        </p:nvSpPr>
        <p:spPr>
          <a:xfrm>
            <a:off x="1691640" y="3008376"/>
            <a:ext cx="1280160" cy="164592"/>
          </a:xfrm>
          <a:prstGeom prst="rect">
            <a:avLst/>
          </a:prstGeom>
          <a:noFill/>
          <a:ln/>
        </p:spPr>
        <p:txBody>
          <a:bodyPr wrap="square" lIns="0" tIns="0" rIns="0" bIns="0" rtlCol="0" anchor="ctr"/>
          <a:lstStyle/>
          <a:p>
            <a:pPr algn="l" indent="0" marL="0">
              <a:buNone/>
            </a:pPr>
            <a:r>
              <a:rPr lang="en-US" sz="1350" b="1" dirty="0">
                <a:solidFill>
                  <a:srgbClr val="23313A"/>
                </a:solidFill>
                <a:latin typeface="Arial" pitchFamily="34" charset="0"/>
                <a:ea typeface="Arial" pitchFamily="34" charset="-122"/>
                <a:cs typeface="Arial" pitchFamily="34" charset="-120"/>
              </a:rPr>
              <a:t>贴文讨论</a:t>
            </a:r>
            <a:endParaRPr lang="en-US" sz="1350" dirty="0"/>
          </a:p>
        </p:txBody>
      </p:sp>
      <p:sp>
        <p:nvSpPr>
          <p:cNvPr id="19" name="Text 17"/>
          <p:cNvSpPr/>
          <p:nvPr/>
        </p:nvSpPr>
        <p:spPr>
          <a:xfrm>
            <a:off x="2743200" y="3218688"/>
            <a:ext cx="5349240" cy="329184"/>
          </a:xfrm>
          <a:prstGeom prst="rect">
            <a:avLst/>
          </a:prstGeom>
          <a:noFill/>
          <a:ln/>
        </p:spPr>
        <p:txBody>
          <a:bodyPr wrap="square" lIns="0" tIns="0" rIns="0" bIns="0" rtlCol="0" anchor="ctr"/>
          <a:lstStyle/>
          <a:p>
            <a:pPr algn="l" indent="0" marL="0">
              <a:buNone/>
            </a:pPr>
            <a:r>
              <a:rPr lang="en-US" sz="970" dirty="0">
                <a:solidFill>
                  <a:srgbClr val="5E6E75"/>
                </a:solidFill>
                <a:latin typeface="Arial" pitchFamily="34" charset="0"/>
                <a:ea typeface="Arial" pitchFamily="34" charset="-122"/>
                <a:cs typeface="Arial" pitchFamily="34" charset="-120"/>
              </a:rPr>
              <a:t>针对具体语句、数据或结构，团队成员能够直接在对应位置发起评论并持续回复，这种贴着内容本身展开的交流方式更容易保留上下文并形成清晰结论。</a:t>
            </a:r>
            <a:endParaRPr lang="en-US" sz="970" dirty="0"/>
          </a:p>
        </p:txBody>
      </p:sp>
      <p:sp>
        <p:nvSpPr>
          <p:cNvPr id="20" name="Shape 18"/>
          <p:cNvSpPr/>
          <p:nvPr/>
        </p:nvSpPr>
        <p:spPr>
          <a:xfrm>
            <a:off x="914400" y="3822192"/>
            <a:ext cx="365760" cy="365760"/>
          </a:xfrm>
          <a:prstGeom prst="ellipse">
            <a:avLst/>
          </a:prstGeom>
          <a:solidFill>
            <a:srgbClr val="1FA971"/>
          </a:solidFill>
          <a:ln/>
        </p:spPr>
      </p:sp>
      <p:sp>
        <p:nvSpPr>
          <p:cNvPr id="21" name="Text 19"/>
          <p:cNvSpPr/>
          <p:nvPr/>
        </p:nvSpPr>
        <p:spPr>
          <a:xfrm>
            <a:off x="914400" y="3895344"/>
            <a:ext cx="365760" cy="1097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2" name="Shape 20"/>
          <p:cNvSpPr/>
          <p:nvPr/>
        </p:nvSpPr>
        <p:spPr>
          <a:xfrm>
            <a:off x="1463040" y="3657600"/>
            <a:ext cx="6903720" cy="676656"/>
          </a:xfrm>
          <a:prstGeom prst="roundRect">
            <a:avLst>
              <a:gd name="adj" fmla="val 16216"/>
            </a:avLst>
          </a:prstGeom>
          <a:solidFill>
            <a:srgbClr val="F7FBF0"/>
          </a:solidFill>
          <a:ln/>
          <a:effectLst>
            <a:outerShdw sx="100000" sy="100000" kx="0" ky="0" algn="bl" rotWithShape="0" blurRad="25400" dist="12700" dir="16200000">
              <a:srgbClr val="000000">
                <a:alpha val="8000"/>
              </a:srgbClr>
            </a:outerShdw>
          </a:effectLst>
        </p:spPr>
      </p:sp>
      <p:sp>
        <p:nvSpPr>
          <p:cNvPr id="23" name="Text 21"/>
          <p:cNvSpPr/>
          <p:nvPr/>
        </p:nvSpPr>
        <p:spPr>
          <a:xfrm>
            <a:off x="1691640" y="3785616"/>
            <a:ext cx="1280160" cy="164592"/>
          </a:xfrm>
          <a:prstGeom prst="rect">
            <a:avLst/>
          </a:prstGeom>
          <a:noFill/>
          <a:ln/>
        </p:spPr>
        <p:txBody>
          <a:bodyPr wrap="square" lIns="0" tIns="0" rIns="0" bIns="0" rtlCol="0" anchor="ctr"/>
          <a:lstStyle/>
          <a:p>
            <a:pPr algn="l" indent="0" marL="0">
              <a:buNone/>
            </a:pPr>
            <a:r>
              <a:rPr lang="en-US" sz="1350" b="1" dirty="0">
                <a:solidFill>
                  <a:srgbClr val="23313A"/>
                </a:solidFill>
                <a:latin typeface="Arial" pitchFamily="34" charset="0"/>
                <a:ea typeface="Arial" pitchFamily="34" charset="-122"/>
                <a:cs typeface="Arial" pitchFamily="34" charset="-120"/>
              </a:rPr>
              <a:t>集中定稿</a:t>
            </a:r>
            <a:endParaRPr lang="en-US" sz="1350" dirty="0"/>
          </a:p>
        </p:txBody>
      </p:sp>
      <p:sp>
        <p:nvSpPr>
          <p:cNvPr id="24" name="Text 22"/>
          <p:cNvSpPr/>
          <p:nvPr/>
        </p:nvSpPr>
        <p:spPr>
          <a:xfrm>
            <a:off x="2743200" y="3995928"/>
            <a:ext cx="5349240" cy="329184"/>
          </a:xfrm>
          <a:prstGeom prst="rect">
            <a:avLst/>
          </a:prstGeom>
          <a:noFill/>
          <a:ln/>
        </p:spPr>
        <p:txBody>
          <a:bodyPr wrap="square" lIns="0" tIns="0" rIns="0" bIns="0" rtlCol="0" anchor="ctr"/>
          <a:lstStyle/>
          <a:p>
            <a:pPr algn="l" indent="0" marL="0">
              <a:buNone/>
            </a:pPr>
            <a:r>
              <a:rPr lang="en-US" sz="970" dirty="0">
                <a:solidFill>
                  <a:srgbClr val="5E6E75"/>
                </a:solidFill>
                <a:latin typeface="Arial" pitchFamily="34" charset="0"/>
                <a:ea typeface="Arial" pitchFamily="34" charset="-122"/>
                <a:cs typeface="Arial" pitchFamily="34" charset="-120"/>
              </a:rPr>
              <a:t>当意见在文档内完成汇总与处理后，团队不必再经历多轮文件来回传递和人工合并版本，内容可以更快收敛为统一稿件并进入下一步执行。</a:t>
            </a:r>
            <a:endParaRPr lang="en-US" sz="970" dirty="0"/>
          </a:p>
        </p:txBody>
      </p:sp>
      <p:sp>
        <p:nvSpPr>
          <p:cNvPr id="25" name="Text 23"/>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6B7C84"/>
                </a:solidFill>
                <a:latin typeface="Arial" pitchFamily="34" charset="0"/>
                <a:ea typeface="Arial" pitchFamily="34" charset="-122"/>
                <a:cs typeface="Arial" pitchFamily="34" charset="-120"/>
              </a:rPr>
              <a:t>04/10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548640" y="411480"/>
            <a:ext cx="8046720" cy="384048"/>
          </a:xfrm>
          <a:prstGeom prst="rect">
            <a:avLst/>
          </a:prstGeom>
          <a:noFill/>
          <a:ln/>
        </p:spPr>
        <p:txBody>
          <a:bodyPr wrap="square" lIns="0" tIns="0" rIns="0" bIns="0" rtlCol="0" anchor="ctr"/>
          <a:lstStyle/>
          <a:p>
            <a:pPr algn="l" indent="0" marL="0">
              <a:buNone/>
            </a:pPr>
            <a:r>
              <a:rPr lang="en-US" sz="2800" b="1" dirty="0">
                <a:solidFill>
                  <a:srgbClr val="23313A"/>
                </a:solidFill>
                <a:latin typeface="Arial" pitchFamily="34" charset="0"/>
                <a:ea typeface="Arial" pitchFamily="34" charset="-122"/>
                <a:cs typeface="Arial" pitchFamily="34" charset="-120"/>
              </a:rPr>
              <a:t>核心能力二：让内容更有组织</a:t>
            </a:r>
            <a:endParaRPr lang="en-US" sz="2800" dirty="0"/>
          </a:p>
        </p:txBody>
      </p:sp>
      <p:sp>
        <p:nvSpPr>
          <p:cNvPr id="3" name="Text 1"/>
          <p:cNvSpPr/>
          <p:nvPr/>
        </p:nvSpPr>
        <p:spPr>
          <a:xfrm>
            <a:off x="548640" y="822960"/>
            <a:ext cx="8001000" cy="384048"/>
          </a:xfrm>
          <a:prstGeom prst="rect">
            <a:avLst/>
          </a:prstGeom>
          <a:noFill/>
          <a:ln/>
        </p:spPr>
        <p:txBody>
          <a:bodyPr wrap="square" lIns="0" tIns="0" rIns="0" bIns="0" rtlCol="0" anchor="ctr"/>
          <a:lstStyle/>
          <a:p>
            <a:pPr algn="l" indent="0" marL="0">
              <a:buNone/>
            </a:pPr>
            <a:r>
              <a:rPr lang="en-US" sz="1200" dirty="0">
                <a:solidFill>
                  <a:srgbClr val="5E6E75"/>
                </a:solidFill>
                <a:latin typeface="Arial" pitchFamily="34" charset="0"/>
                <a:ea typeface="Arial" pitchFamily="34" charset="-122"/>
                <a:cs typeface="Arial" pitchFamily="34" charset="-120"/>
              </a:rPr>
              <a:t>从内容搭建、资料查找和经验复用三个维度展开，突出石墨文档不仅帮助团队写好一份文档，更帮助团队建立有秩序、可延续的知识体系。</a:t>
            </a:r>
            <a:endParaRPr lang="en-US" sz="1200" dirty="0"/>
          </a:p>
        </p:txBody>
      </p:sp>
      <p:sp>
        <p:nvSpPr>
          <p:cNvPr id="4" name="Shape 2"/>
          <p:cNvSpPr/>
          <p:nvPr/>
        </p:nvSpPr>
        <p:spPr>
          <a:xfrm>
            <a:off x="1005840" y="1325880"/>
            <a:ext cx="7269480" cy="530352"/>
          </a:xfrm>
          <a:prstGeom prst="roundRect">
            <a:avLst>
              <a:gd name="adj" fmla="val 20690"/>
            </a:avLst>
          </a:prstGeom>
          <a:solidFill>
            <a:srgbClr val="F0FAF5"/>
          </a:solidFill>
          <a:ln/>
          <a:effectLst>
            <a:outerShdw sx="100000" sy="100000" kx="0" ky="0" algn="bl" rotWithShape="0" blurRad="25400" dist="12700" dir="16200000">
              <a:srgbClr val="000000">
                <a:alpha val="8000"/>
              </a:srgbClr>
            </a:outerShdw>
          </a:effectLst>
        </p:spPr>
      </p:sp>
      <p:sp>
        <p:nvSpPr>
          <p:cNvPr id="5" name="Shape 3"/>
          <p:cNvSpPr/>
          <p:nvPr/>
        </p:nvSpPr>
        <p:spPr>
          <a:xfrm>
            <a:off x="1234440" y="1426464"/>
            <a:ext cx="310896" cy="310896"/>
          </a:xfrm>
          <a:prstGeom prst="ellipse">
            <a:avLst/>
          </a:prstGeom>
          <a:solidFill>
            <a:srgbClr val="1FA971"/>
          </a:solidFill>
          <a:ln/>
        </p:spPr>
      </p:sp>
      <p:sp>
        <p:nvSpPr>
          <p:cNvPr id="6" name="Text 4"/>
          <p:cNvSpPr/>
          <p:nvPr/>
        </p:nvSpPr>
        <p:spPr>
          <a:xfrm>
            <a:off x="1234440" y="1508760"/>
            <a:ext cx="310896" cy="914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Text 5"/>
          <p:cNvSpPr/>
          <p:nvPr/>
        </p:nvSpPr>
        <p:spPr>
          <a:xfrm>
            <a:off x="1691640" y="1426464"/>
            <a:ext cx="6263640" cy="310896"/>
          </a:xfrm>
          <a:prstGeom prst="rect">
            <a:avLst/>
          </a:prstGeom>
          <a:noFill/>
          <a:ln/>
        </p:spPr>
        <p:txBody>
          <a:bodyPr wrap="square" lIns="0" tIns="0" rIns="0" bIns="0" rtlCol="0" anchor="ctr"/>
          <a:lstStyle/>
          <a:p>
            <a:pPr algn="l" indent="0" marL="0">
              <a:buNone/>
            </a:pPr>
            <a:r>
              <a:rPr lang="en-US" sz="1200" dirty="0">
                <a:solidFill>
                  <a:srgbClr val="23313A"/>
                </a:solidFill>
                <a:latin typeface="Arial" pitchFamily="34" charset="0"/>
                <a:ea typeface="Arial" pitchFamily="34" charset="-122"/>
                <a:cs typeface="Arial" pitchFamily="34" charset="-120"/>
              </a:rPr>
              <a:t>结构化组织：通过页面层级、目录与分类管理，团队可以把制度、项目资料和会议记录放入清晰框架中，减少内容越积越乱的问题。</a:t>
            </a:r>
            <a:endParaRPr lang="en-US" sz="1200" dirty="0"/>
          </a:p>
        </p:txBody>
      </p:sp>
      <p:sp>
        <p:nvSpPr>
          <p:cNvPr id="8" name="Shape 6"/>
          <p:cNvSpPr/>
          <p:nvPr/>
        </p:nvSpPr>
        <p:spPr>
          <a:xfrm>
            <a:off x="1005840" y="2057400"/>
            <a:ext cx="7269480" cy="530352"/>
          </a:xfrm>
          <a:prstGeom prst="roundRect">
            <a:avLst>
              <a:gd name="adj" fmla="val 20690"/>
            </a:avLst>
          </a:prstGeom>
          <a:solidFill>
            <a:srgbClr val="EDF8F7"/>
          </a:solidFill>
          <a:ln/>
          <a:effectLst>
            <a:outerShdw sx="100000" sy="100000" kx="0" ky="0" algn="bl" rotWithShape="0" blurRad="25400" dist="12700" dir="16200000">
              <a:srgbClr val="000000">
                <a:alpha val="8000"/>
              </a:srgbClr>
            </a:outerShdw>
          </a:effectLst>
        </p:spPr>
      </p:sp>
      <p:sp>
        <p:nvSpPr>
          <p:cNvPr id="9" name="Shape 7"/>
          <p:cNvSpPr/>
          <p:nvPr/>
        </p:nvSpPr>
        <p:spPr>
          <a:xfrm>
            <a:off x="1234440" y="2157984"/>
            <a:ext cx="310896" cy="310896"/>
          </a:xfrm>
          <a:prstGeom prst="ellipse">
            <a:avLst/>
          </a:prstGeom>
          <a:solidFill>
            <a:srgbClr val="4FA8A0"/>
          </a:solidFill>
          <a:ln/>
        </p:spPr>
      </p:sp>
      <p:sp>
        <p:nvSpPr>
          <p:cNvPr id="10" name="Text 8"/>
          <p:cNvSpPr/>
          <p:nvPr/>
        </p:nvSpPr>
        <p:spPr>
          <a:xfrm>
            <a:off x="1234440" y="2240280"/>
            <a:ext cx="310896" cy="914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Text 9"/>
          <p:cNvSpPr/>
          <p:nvPr/>
        </p:nvSpPr>
        <p:spPr>
          <a:xfrm>
            <a:off x="1691640" y="2157984"/>
            <a:ext cx="6263640" cy="310896"/>
          </a:xfrm>
          <a:prstGeom prst="rect">
            <a:avLst/>
          </a:prstGeom>
          <a:noFill/>
          <a:ln/>
        </p:spPr>
        <p:txBody>
          <a:bodyPr wrap="square" lIns="0" tIns="0" rIns="0" bIns="0" rtlCol="0" anchor="ctr"/>
          <a:lstStyle/>
          <a:p>
            <a:pPr algn="l" indent="0" marL="0">
              <a:buNone/>
            </a:pPr>
            <a:r>
              <a:rPr lang="en-US" sz="1200" dirty="0">
                <a:solidFill>
                  <a:srgbClr val="23313A"/>
                </a:solidFill>
                <a:latin typeface="Arial" pitchFamily="34" charset="0"/>
                <a:ea typeface="Arial" pitchFamily="34" charset="-122"/>
                <a:cs typeface="Arial" pitchFamily="34" charset="-120"/>
              </a:rPr>
              <a:t>便于检索：常用资料集中在同一协作空间后，成员无需反复询问文件位置，能够更快找到最新版内容并直接进入使用场景。</a:t>
            </a:r>
            <a:endParaRPr lang="en-US" sz="1200" dirty="0"/>
          </a:p>
        </p:txBody>
      </p:sp>
      <p:sp>
        <p:nvSpPr>
          <p:cNvPr id="12" name="Shape 10"/>
          <p:cNvSpPr/>
          <p:nvPr/>
        </p:nvSpPr>
        <p:spPr>
          <a:xfrm>
            <a:off x="1005840" y="2788920"/>
            <a:ext cx="7269480" cy="530352"/>
          </a:xfrm>
          <a:prstGeom prst="roundRect">
            <a:avLst>
              <a:gd name="adj" fmla="val 20690"/>
            </a:avLst>
          </a:prstGeom>
          <a:solidFill>
            <a:srgbClr val="F0FAF5"/>
          </a:solidFill>
          <a:ln/>
          <a:effectLst>
            <a:outerShdw sx="100000" sy="100000" kx="0" ky="0" algn="bl" rotWithShape="0" blurRad="25400" dist="12700" dir="16200000">
              <a:srgbClr val="000000">
                <a:alpha val="8000"/>
              </a:srgbClr>
            </a:outerShdw>
          </a:effectLst>
        </p:spPr>
      </p:sp>
      <p:sp>
        <p:nvSpPr>
          <p:cNvPr id="13" name="Shape 11"/>
          <p:cNvSpPr/>
          <p:nvPr/>
        </p:nvSpPr>
        <p:spPr>
          <a:xfrm>
            <a:off x="1234440" y="2889504"/>
            <a:ext cx="310896" cy="310896"/>
          </a:xfrm>
          <a:prstGeom prst="ellipse">
            <a:avLst/>
          </a:prstGeom>
          <a:solidFill>
            <a:srgbClr val="6D9EEB"/>
          </a:solidFill>
          <a:ln/>
        </p:spPr>
      </p:sp>
      <p:sp>
        <p:nvSpPr>
          <p:cNvPr id="14" name="Text 12"/>
          <p:cNvSpPr/>
          <p:nvPr/>
        </p:nvSpPr>
        <p:spPr>
          <a:xfrm>
            <a:off x="1234440" y="2971800"/>
            <a:ext cx="310896" cy="914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3"/>
          <p:cNvSpPr/>
          <p:nvPr/>
        </p:nvSpPr>
        <p:spPr>
          <a:xfrm>
            <a:off x="1691640" y="2889504"/>
            <a:ext cx="6263640" cy="310896"/>
          </a:xfrm>
          <a:prstGeom prst="rect">
            <a:avLst/>
          </a:prstGeom>
          <a:noFill/>
          <a:ln/>
        </p:spPr>
        <p:txBody>
          <a:bodyPr wrap="square" lIns="0" tIns="0" rIns="0" bIns="0" rtlCol="0" anchor="ctr"/>
          <a:lstStyle/>
          <a:p>
            <a:pPr algn="l" indent="0" marL="0">
              <a:buNone/>
            </a:pPr>
            <a:r>
              <a:rPr lang="en-US" sz="1200" dirty="0">
                <a:solidFill>
                  <a:srgbClr val="23313A"/>
                </a:solidFill>
                <a:latin typeface="Arial" pitchFamily="34" charset="0"/>
                <a:ea typeface="Arial" pitchFamily="34" charset="-122"/>
                <a:cs typeface="Arial" pitchFamily="34" charset="-120"/>
              </a:rPr>
              <a:t>支持复用：模板、规范和历史文档可以长期保留下来，后续撰写新内容时能够直接继承成熟结构，减少从零开始的重复劳动。</a:t>
            </a:r>
            <a:endParaRPr lang="en-US" sz="1200" dirty="0"/>
          </a:p>
        </p:txBody>
      </p:sp>
      <p:sp>
        <p:nvSpPr>
          <p:cNvPr id="16" name="Shape 14"/>
          <p:cNvSpPr/>
          <p:nvPr/>
        </p:nvSpPr>
        <p:spPr>
          <a:xfrm>
            <a:off x="1005840" y="3520440"/>
            <a:ext cx="7269480" cy="530352"/>
          </a:xfrm>
          <a:prstGeom prst="roundRect">
            <a:avLst>
              <a:gd name="adj" fmla="val 20690"/>
            </a:avLst>
          </a:prstGeom>
          <a:solidFill>
            <a:srgbClr val="EDF8F7"/>
          </a:solidFill>
          <a:ln/>
          <a:effectLst>
            <a:outerShdw sx="100000" sy="100000" kx="0" ky="0" algn="bl" rotWithShape="0" blurRad="25400" dist="12700" dir="16200000">
              <a:srgbClr val="000000">
                <a:alpha val="8000"/>
              </a:srgbClr>
            </a:outerShdw>
          </a:effectLst>
        </p:spPr>
      </p:sp>
      <p:sp>
        <p:nvSpPr>
          <p:cNvPr id="17" name="Shape 15"/>
          <p:cNvSpPr/>
          <p:nvPr/>
        </p:nvSpPr>
        <p:spPr>
          <a:xfrm>
            <a:off x="1234440" y="3621024"/>
            <a:ext cx="310896" cy="310896"/>
          </a:xfrm>
          <a:prstGeom prst="ellipse">
            <a:avLst/>
          </a:prstGeom>
          <a:solidFill>
            <a:srgbClr val="85B65E"/>
          </a:solidFill>
          <a:ln/>
        </p:spPr>
      </p:sp>
      <p:sp>
        <p:nvSpPr>
          <p:cNvPr id="18" name="Text 16"/>
          <p:cNvSpPr/>
          <p:nvPr/>
        </p:nvSpPr>
        <p:spPr>
          <a:xfrm>
            <a:off x="1234440" y="3703320"/>
            <a:ext cx="310896" cy="914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9" name="Text 17"/>
          <p:cNvSpPr/>
          <p:nvPr/>
        </p:nvSpPr>
        <p:spPr>
          <a:xfrm>
            <a:off x="1691640" y="3621024"/>
            <a:ext cx="6263640" cy="310896"/>
          </a:xfrm>
          <a:prstGeom prst="rect">
            <a:avLst/>
          </a:prstGeom>
          <a:noFill/>
          <a:ln/>
        </p:spPr>
        <p:txBody>
          <a:bodyPr wrap="square" lIns="0" tIns="0" rIns="0" bIns="0" rtlCol="0" anchor="ctr"/>
          <a:lstStyle/>
          <a:p>
            <a:pPr algn="l" indent="0" marL="0">
              <a:buNone/>
            </a:pPr>
            <a:r>
              <a:rPr lang="en-US" sz="1200" dirty="0">
                <a:solidFill>
                  <a:srgbClr val="23313A"/>
                </a:solidFill>
                <a:latin typeface="Arial" pitchFamily="34" charset="0"/>
                <a:ea typeface="Arial" pitchFamily="34" charset="-122"/>
                <a:cs typeface="Arial" pitchFamily="34" charset="-120"/>
              </a:rPr>
              <a:t>持续沉淀：一次会议纪要或一次项目方案不再只是阶段性产出，而是能够在补充、更新和复盘中逐步演变为团队共有的知识积累。</a:t>
            </a:r>
            <a:endParaRPr lang="en-US" sz="1200" dirty="0"/>
          </a:p>
        </p:txBody>
      </p:sp>
      <p:sp>
        <p:nvSpPr>
          <p:cNvPr id="20" name="Shape 18"/>
          <p:cNvSpPr/>
          <p:nvPr/>
        </p:nvSpPr>
        <p:spPr>
          <a:xfrm>
            <a:off x="640080" y="4160520"/>
            <a:ext cx="8001000" cy="365760"/>
          </a:xfrm>
          <a:prstGeom prst="roundRect">
            <a:avLst>
              <a:gd name="adj" fmla="val 25000"/>
            </a:avLst>
          </a:prstGeom>
          <a:solidFill>
            <a:srgbClr val="DDF2EA"/>
          </a:solidFill>
          <a:ln/>
        </p:spPr>
      </p:sp>
      <p:sp>
        <p:nvSpPr>
          <p:cNvPr id="21" name="Text 19"/>
          <p:cNvSpPr/>
          <p:nvPr/>
        </p:nvSpPr>
        <p:spPr>
          <a:xfrm>
            <a:off x="868680" y="4251960"/>
            <a:ext cx="7543800" cy="164592"/>
          </a:xfrm>
          <a:prstGeom prst="rect">
            <a:avLst/>
          </a:prstGeom>
          <a:noFill/>
          <a:ln/>
        </p:spPr>
        <p:txBody>
          <a:bodyPr wrap="square" lIns="0" tIns="0" rIns="0" bIns="0" rtlCol="0" anchor="ctr"/>
          <a:lstStyle/>
          <a:p>
            <a:pPr algn="l" indent="0" marL="0">
              <a:buNone/>
            </a:pPr>
            <a:r>
              <a:rPr lang="en-US" sz="1020" dirty="0">
                <a:solidFill>
                  <a:srgbClr val="3D8F86"/>
                </a:solidFill>
                <a:latin typeface="Arial" pitchFamily="34" charset="0"/>
                <a:ea typeface="Arial" pitchFamily="34" charset="-122"/>
                <a:cs typeface="Arial" pitchFamily="34" charset="-120"/>
              </a:rPr>
              <a:t>文档不只是产出结果，更成为团队组织内容、查找资料与持续复用的共同载体。</a:t>
            </a:r>
            <a:endParaRPr lang="en-US" sz="1020" dirty="0"/>
          </a:p>
        </p:txBody>
      </p:sp>
      <p:sp>
        <p:nvSpPr>
          <p:cNvPr id="22" name="Text 20"/>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6B7C84"/>
                </a:solidFill>
                <a:latin typeface="Arial" pitchFamily="34" charset="0"/>
                <a:ea typeface="Arial" pitchFamily="34" charset="-122"/>
                <a:cs typeface="Arial" pitchFamily="34" charset="-120"/>
              </a:rPr>
              <a:t>05/10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384048"/>
          </a:xfrm>
          <a:prstGeom prst="rect">
            <a:avLst/>
          </a:prstGeom>
          <a:noFill/>
          <a:ln/>
        </p:spPr>
        <p:txBody>
          <a:bodyPr wrap="square" lIns="0" tIns="0" rIns="0" bIns="0" rtlCol="0" anchor="ctr"/>
          <a:lstStyle/>
          <a:p>
            <a:pPr algn="l" indent="0" marL="0">
              <a:buNone/>
            </a:pPr>
            <a:r>
              <a:rPr lang="en-US" sz="2800" b="1" dirty="0">
                <a:solidFill>
                  <a:srgbClr val="23313A"/>
                </a:solidFill>
                <a:latin typeface="Arial" pitchFamily="34" charset="0"/>
                <a:ea typeface="Arial" pitchFamily="34" charset="-122"/>
                <a:cs typeface="Arial" pitchFamily="34" charset="-120"/>
              </a:rPr>
              <a:t>核心能力三：权限清晰，协作可控</a:t>
            </a:r>
            <a:endParaRPr lang="en-US" sz="2800" dirty="0"/>
          </a:p>
        </p:txBody>
      </p:sp>
      <p:sp>
        <p:nvSpPr>
          <p:cNvPr id="3" name="Text 1"/>
          <p:cNvSpPr/>
          <p:nvPr/>
        </p:nvSpPr>
        <p:spPr>
          <a:xfrm>
            <a:off x="548640" y="822960"/>
            <a:ext cx="8001000" cy="384048"/>
          </a:xfrm>
          <a:prstGeom prst="rect">
            <a:avLst/>
          </a:prstGeom>
          <a:noFill/>
          <a:ln/>
        </p:spPr>
        <p:txBody>
          <a:bodyPr wrap="square" lIns="0" tIns="0" rIns="0" bIns="0" rtlCol="0" anchor="ctr"/>
          <a:lstStyle/>
          <a:p>
            <a:pPr algn="l" indent="0" marL="0">
              <a:buNone/>
            </a:pPr>
            <a:r>
              <a:rPr lang="en-US" sz="1200" dirty="0">
                <a:solidFill>
                  <a:srgbClr val="5E6E75"/>
                </a:solidFill>
                <a:latin typeface="Arial" pitchFamily="34" charset="0"/>
                <a:ea typeface="Arial" pitchFamily="34" charset="-122"/>
                <a:cs typeface="Arial" pitchFamily="34" charset="-120"/>
              </a:rPr>
              <a:t>权限能力并非限制协作，而是为协作建立清晰边界，使共享、编辑与传播都处于可理解、可配置、可追踪的状态。</a:t>
            </a:r>
            <a:endParaRPr lang="en-US" sz="1200" dirty="0"/>
          </a:p>
        </p:txBody>
      </p:sp>
      <p:sp>
        <p:nvSpPr>
          <p:cNvPr id="4" name="Shape 2"/>
          <p:cNvSpPr/>
          <p:nvPr/>
        </p:nvSpPr>
        <p:spPr>
          <a:xfrm>
            <a:off x="640080" y="1234440"/>
            <a:ext cx="1645920" cy="960120"/>
          </a:xfrm>
          <a:prstGeom prst="roundRect">
            <a:avLst>
              <a:gd name="adj" fmla="val 11429"/>
            </a:avLst>
          </a:prstGeom>
          <a:solidFill>
            <a:srgbClr val="EFF8F4"/>
          </a:solidFill>
          <a:ln/>
          <a:effectLst>
            <a:outerShdw sx="100000" sy="100000" kx="0" ky="0" algn="bl" rotWithShape="0" blurRad="25400" dist="12700" dir="16200000">
              <a:srgbClr val="000000">
                <a:alpha val="8000"/>
              </a:srgbClr>
            </a:outerShdw>
          </a:effectLst>
        </p:spPr>
      </p:sp>
      <p:sp>
        <p:nvSpPr>
          <p:cNvPr id="5" name="Text 3"/>
          <p:cNvSpPr/>
          <p:nvPr/>
        </p:nvSpPr>
        <p:spPr>
          <a:xfrm>
            <a:off x="777240" y="1389888"/>
            <a:ext cx="1371600" cy="164592"/>
          </a:xfrm>
          <a:prstGeom prst="rect">
            <a:avLst/>
          </a:prstGeom>
          <a:noFill/>
          <a:ln/>
        </p:spPr>
        <p:txBody>
          <a:bodyPr wrap="square" lIns="0" tIns="0" rIns="0" bIns="0" rtlCol="0" anchor="ctr"/>
          <a:lstStyle/>
          <a:p>
            <a:pPr algn="l" indent="0" marL="0">
              <a:buNone/>
            </a:pPr>
            <a:r>
              <a:rPr lang="en-US" sz="1100" dirty="0">
                <a:solidFill>
                  <a:srgbClr val="5E6E75"/>
                </a:solidFill>
                <a:latin typeface="Arial" pitchFamily="34" charset="0"/>
                <a:ea typeface="Arial" pitchFamily="34" charset="-122"/>
                <a:cs typeface="Arial" pitchFamily="34" charset="-120"/>
              </a:rPr>
              <a:t>可见范围</a:t>
            </a:r>
            <a:endParaRPr lang="en-US" sz="1100" dirty="0"/>
          </a:p>
        </p:txBody>
      </p:sp>
      <p:sp>
        <p:nvSpPr>
          <p:cNvPr id="6" name="Text 4"/>
          <p:cNvSpPr/>
          <p:nvPr/>
        </p:nvSpPr>
        <p:spPr>
          <a:xfrm>
            <a:off x="777240" y="1645920"/>
            <a:ext cx="1371600" cy="256032"/>
          </a:xfrm>
          <a:prstGeom prst="rect">
            <a:avLst/>
          </a:prstGeom>
          <a:noFill/>
          <a:ln/>
        </p:spPr>
        <p:txBody>
          <a:bodyPr wrap="square" lIns="0" tIns="0" rIns="0" bIns="0" rtlCol="0" anchor="ctr"/>
          <a:lstStyle/>
          <a:p>
            <a:pPr algn="ctr" indent="0" marL="0">
              <a:buNone/>
            </a:pPr>
            <a:r>
              <a:rPr lang="en-US" sz="1800" b="1" dirty="0">
                <a:solidFill>
                  <a:srgbClr val="1FA971"/>
                </a:solidFill>
                <a:latin typeface="Arial" pitchFamily="34" charset="0"/>
                <a:ea typeface="Arial" pitchFamily="34" charset="-122"/>
                <a:cs typeface="Arial" pitchFamily="34" charset="-120"/>
              </a:rPr>
              <a:t>范围清晰</a:t>
            </a:r>
            <a:endParaRPr lang="en-US" sz="1800" dirty="0"/>
          </a:p>
        </p:txBody>
      </p:sp>
      <p:sp>
        <p:nvSpPr>
          <p:cNvPr id="7" name="Shape 5"/>
          <p:cNvSpPr/>
          <p:nvPr/>
        </p:nvSpPr>
        <p:spPr>
          <a:xfrm>
            <a:off x="2697480" y="1234440"/>
            <a:ext cx="1645920" cy="960120"/>
          </a:xfrm>
          <a:prstGeom prst="roundRect">
            <a:avLst>
              <a:gd name="adj" fmla="val 11429"/>
            </a:avLst>
          </a:prstGeom>
          <a:solidFill>
            <a:srgbClr val="EDF7F6"/>
          </a:solidFill>
          <a:ln/>
          <a:effectLst>
            <a:outerShdw sx="100000" sy="100000" kx="0" ky="0" algn="bl" rotWithShape="0" blurRad="25400" dist="12700" dir="16200000">
              <a:srgbClr val="000000">
                <a:alpha val="8000"/>
              </a:srgbClr>
            </a:outerShdw>
          </a:effectLst>
        </p:spPr>
      </p:sp>
      <p:sp>
        <p:nvSpPr>
          <p:cNvPr id="8" name="Text 6"/>
          <p:cNvSpPr/>
          <p:nvPr/>
        </p:nvSpPr>
        <p:spPr>
          <a:xfrm>
            <a:off x="2834640" y="1389888"/>
            <a:ext cx="1371600" cy="164592"/>
          </a:xfrm>
          <a:prstGeom prst="rect">
            <a:avLst/>
          </a:prstGeom>
          <a:noFill/>
          <a:ln/>
        </p:spPr>
        <p:txBody>
          <a:bodyPr wrap="square" lIns="0" tIns="0" rIns="0" bIns="0" rtlCol="0" anchor="ctr"/>
          <a:lstStyle/>
          <a:p>
            <a:pPr algn="l" indent="0" marL="0">
              <a:buNone/>
            </a:pPr>
            <a:r>
              <a:rPr lang="en-US" sz="1100" dirty="0">
                <a:solidFill>
                  <a:srgbClr val="5E6E75"/>
                </a:solidFill>
                <a:latin typeface="Arial" pitchFamily="34" charset="0"/>
                <a:ea typeface="Arial" pitchFamily="34" charset="-122"/>
                <a:cs typeface="Arial" pitchFamily="34" charset="-120"/>
              </a:rPr>
              <a:t>编辑权限</a:t>
            </a:r>
            <a:endParaRPr lang="en-US" sz="1100" dirty="0"/>
          </a:p>
        </p:txBody>
      </p:sp>
      <p:sp>
        <p:nvSpPr>
          <p:cNvPr id="9" name="Text 7"/>
          <p:cNvSpPr/>
          <p:nvPr/>
        </p:nvSpPr>
        <p:spPr>
          <a:xfrm>
            <a:off x="2834640" y="1645920"/>
            <a:ext cx="1371600" cy="256032"/>
          </a:xfrm>
          <a:prstGeom prst="rect">
            <a:avLst/>
          </a:prstGeom>
          <a:noFill/>
          <a:ln/>
        </p:spPr>
        <p:txBody>
          <a:bodyPr wrap="square" lIns="0" tIns="0" rIns="0" bIns="0" rtlCol="0" anchor="ctr"/>
          <a:lstStyle/>
          <a:p>
            <a:pPr algn="ctr" indent="0" marL="0">
              <a:buNone/>
            </a:pPr>
            <a:r>
              <a:rPr lang="en-US" sz="1800" b="1" dirty="0">
                <a:solidFill>
                  <a:srgbClr val="1FA971"/>
                </a:solidFill>
                <a:latin typeface="Arial" pitchFamily="34" charset="0"/>
                <a:ea typeface="Arial" pitchFamily="34" charset="-122"/>
                <a:cs typeface="Arial" pitchFamily="34" charset="-120"/>
              </a:rPr>
              <a:t>分级管理</a:t>
            </a:r>
            <a:endParaRPr lang="en-US" sz="1800" dirty="0"/>
          </a:p>
        </p:txBody>
      </p:sp>
      <p:sp>
        <p:nvSpPr>
          <p:cNvPr id="10" name="Shape 8"/>
          <p:cNvSpPr/>
          <p:nvPr/>
        </p:nvSpPr>
        <p:spPr>
          <a:xfrm>
            <a:off x="4754880" y="1234440"/>
            <a:ext cx="1645920" cy="960120"/>
          </a:xfrm>
          <a:prstGeom prst="roundRect">
            <a:avLst>
              <a:gd name="adj" fmla="val 11429"/>
            </a:avLst>
          </a:prstGeom>
          <a:solidFill>
            <a:srgbClr val="EFF8F4"/>
          </a:solidFill>
          <a:ln/>
          <a:effectLst>
            <a:outerShdw sx="100000" sy="100000" kx="0" ky="0" algn="bl" rotWithShape="0" blurRad="25400" dist="12700" dir="16200000">
              <a:srgbClr val="000000">
                <a:alpha val="8000"/>
              </a:srgbClr>
            </a:outerShdw>
          </a:effectLst>
        </p:spPr>
      </p:sp>
      <p:sp>
        <p:nvSpPr>
          <p:cNvPr id="11" name="Text 9"/>
          <p:cNvSpPr/>
          <p:nvPr/>
        </p:nvSpPr>
        <p:spPr>
          <a:xfrm>
            <a:off x="4892040" y="1389888"/>
            <a:ext cx="1371600" cy="164592"/>
          </a:xfrm>
          <a:prstGeom prst="rect">
            <a:avLst/>
          </a:prstGeom>
          <a:noFill/>
          <a:ln/>
        </p:spPr>
        <p:txBody>
          <a:bodyPr wrap="square" lIns="0" tIns="0" rIns="0" bIns="0" rtlCol="0" anchor="ctr"/>
          <a:lstStyle/>
          <a:p>
            <a:pPr algn="l" indent="0" marL="0">
              <a:buNone/>
            </a:pPr>
            <a:r>
              <a:rPr lang="en-US" sz="1100" dirty="0">
                <a:solidFill>
                  <a:srgbClr val="5E6E75"/>
                </a:solidFill>
                <a:latin typeface="Arial" pitchFamily="34" charset="0"/>
                <a:ea typeface="Arial" pitchFamily="34" charset="-122"/>
                <a:cs typeface="Arial" pitchFamily="34" charset="-120"/>
              </a:rPr>
              <a:t>共享控制</a:t>
            </a:r>
            <a:endParaRPr lang="en-US" sz="1100" dirty="0"/>
          </a:p>
        </p:txBody>
      </p:sp>
      <p:sp>
        <p:nvSpPr>
          <p:cNvPr id="12" name="Text 10"/>
          <p:cNvSpPr/>
          <p:nvPr/>
        </p:nvSpPr>
        <p:spPr>
          <a:xfrm>
            <a:off x="4892040" y="1645920"/>
            <a:ext cx="1371600" cy="256032"/>
          </a:xfrm>
          <a:prstGeom prst="rect">
            <a:avLst/>
          </a:prstGeom>
          <a:noFill/>
          <a:ln/>
        </p:spPr>
        <p:txBody>
          <a:bodyPr wrap="square" lIns="0" tIns="0" rIns="0" bIns="0" rtlCol="0" anchor="ctr"/>
          <a:lstStyle/>
          <a:p>
            <a:pPr algn="ctr" indent="0" marL="0">
              <a:buNone/>
            </a:pPr>
            <a:r>
              <a:rPr lang="en-US" sz="1800" b="1" dirty="0">
                <a:solidFill>
                  <a:srgbClr val="1FA971"/>
                </a:solidFill>
                <a:latin typeface="Arial" pitchFamily="34" charset="0"/>
                <a:ea typeface="Arial" pitchFamily="34" charset="-122"/>
                <a:cs typeface="Arial" pitchFamily="34" charset="-120"/>
              </a:rPr>
              <a:t>边界可控</a:t>
            </a:r>
            <a:endParaRPr lang="en-US" sz="1800" dirty="0"/>
          </a:p>
        </p:txBody>
      </p:sp>
      <p:sp>
        <p:nvSpPr>
          <p:cNvPr id="13" name="Shape 11"/>
          <p:cNvSpPr/>
          <p:nvPr/>
        </p:nvSpPr>
        <p:spPr>
          <a:xfrm>
            <a:off x="6812280" y="1234440"/>
            <a:ext cx="1645920" cy="960120"/>
          </a:xfrm>
          <a:prstGeom prst="roundRect">
            <a:avLst>
              <a:gd name="adj" fmla="val 11429"/>
            </a:avLst>
          </a:prstGeom>
          <a:solidFill>
            <a:srgbClr val="EDF7F6"/>
          </a:solidFill>
          <a:ln/>
          <a:effectLst>
            <a:outerShdw sx="100000" sy="100000" kx="0" ky="0" algn="bl" rotWithShape="0" blurRad="25400" dist="12700" dir="16200000">
              <a:srgbClr val="000000">
                <a:alpha val="8000"/>
              </a:srgbClr>
            </a:outerShdw>
          </a:effectLst>
        </p:spPr>
      </p:sp>
      <p:sp>
        <p:nvSpPr>
          <p:cNvPr id="14" name="Text 12"/>
          <p:cNvSpPr/>
          <p:nvPr/>
        </p:nvSpPr>
        <p:spPr>
          <a:xfrm>
            <a:off x="6949440" y="1389888"/>
            <a:ext cx="1371600" cy="164592"/>
          </a:xfrm>
          <a:prstGeom prst="rect">
            <a:avLst/>
          </a:prstGeom>
          <a:noFill/>
          <a:ln/>
        </p:spPr>
        <p:txBody>
          <a:bodyPr wrap="square" lIns="0" tIns="0" rIns="0" bIns="0" rtlCol="0" anchor="ctr"/>
          <a:lstStyle/>
          <a:p>
            <a:pPr algn="l" indent="0" marL="0">
              <a:buNone/>
            </a:pPr>
            <a:r>
              <a:rPr lang="en-US" sz="1100" dirty="0">
                <a:solidFill>
                  <a:srgbClr val="5E6E75"/>
                </a:solidFill>
                <a:latin typeface="Arial" pitchFamily="34" charset="0"/>
                <a:ea typeface="Arial" pitchFamily="34" charset="-122"/>
                <a:cs typeface="Arial" pitchFamily="34" charset="-120"/>
              </a:rPr>
              <a:t>管理价值</a:t>
            </a:r>
            <a:endParaRPr lang="en-US" sz="1100" dirty="0"/>
          </a:p>
        </p:txBody>
      </p:sp>
      <p:sp>
        <p:nvSpPr>
          <p:cNvPr id="15" name="Text 13"/>
          <p:cNvSpPr/>
          <p:nvPr/>
        </p:nvSpPr>
        <p:spPr>
          <a:xfrm>
            <a:off x="6949440" y="1645920"/>
            <a:ext cx="1371600" cy="256032"/>
          </a:xfrm>
          <a:prstGeom prst="rect">
            <a:avLst/>
          </a:prstGeom>
          <a:noFill/>
          <a:ln/>
        </p:spPr>
        <p:txBody>
          <a:bodyPr wrap="square" lIns="0" tIns="0" rIns="0" bIns="0" rtlCol="0" anchor="ctr"/>
          <a:lstStyle/>
          <a:p>
            <a:pPr algn="ctr" indent="0" marL="0">
              <a:buNone/>
            </a:pPr>
            <a:r>
              <a:rPr lang="en-US" sz="1800" b="1" dirty="0">
                <a:solidFill>
                  <a:srgbClr val="1FA971"/>
                </a:solidFill>
                <a:latin typeface="Arial" pitchFamily="34" charset="0"/>
                <a:ea typeface="Arial" pitchFamily="34" charset="-122"/>
                <a:cs typeface="Arial" pitchFamily="34" charset="-120"/>
              </a:rPr>
              <a:t>风险更低</a:t>
            </a:r>
            <a:endParaRPr lang="en-US" sz="1800" dirty="0"/>
          </a:p>
        </p:txBody>
      </p:sp>
      <p:sp>
        <p:nvSpPr>
          <p:cNvPr id="16" name="Shape 14"/>
          <p:cNvSpPr/>
          <p:nvPr/>
        </p:nvSpPr>
        <p:spPr>
          <a:xfrm>
            <a:off x="640080" y="2450592"/>
            <a:ext cx="3703320" cy="987552"/>
          </a:xfrm>
          <a:prstGeom prst="roundRect">
            <a:avLst>
              <a:gd name="adj" fmla="val 11111"/>
            </a:avLst>
          </a:prstGeom>
          <a:solidFill>
            <a:srgbClr val="F7FBFA"/>
          </a:solidFill>
          <a:ln/>
          <a:effectLst>
            <a:outerShdw sx="100000" sy="100000" kx="0" ky="0" algn="bl" rotWithShape="0" blurRad="25400" dist="12700" dir="16200000">
              <a:srgbClr val="000000">
                <a:alpha val="8000"/>
              </a:srgbClr>
            </a:outerShdw>
          </a:effectLst>
        </p:spPr>
      </p:sp>
      <p:sp>
        <p:nvSpPr>
          <p:cNvPr id="17" name="Text 15"/>
          <p:cNvSpPr/>
          <p:nvPr/>
        </p:nvSpPr>
        <p:spPr>
          <a:xfrm>
            <a:off x="804672" y="2587752"/>
            <a:ext cx="3154680" cy="182880"/>
          </a:xfrm>
          <a:prstGeom prst="rect">
            <a:avLst/>
          </a:prstGeom>
          <a:noFill/>
          <a:ln/>
        </p:spPr>
        <p:txBody>
          <a:bodyPr wrap="square" lIns="0" tIns="0" rIns="0" bIns="0" rtlCol="0" anchor="ctr"/>
          <a:lstStyle/>
          <a:p>
            <a:pPr indent="0" marL="0">
              <a:buNone/>
            </a:pPr>
            <a:r>
              <a:rPr lang="en-US" sz="1400" b="1" dirty="0">
                <a:solidFill>
                  <a:srgbClr val="23313A"/>
                </a:solidFill>
                <a:latin typeface="Arial" pitchFamily="34" charset="0"/>
                <a:ea typeface="Arial" pitchFamily="34" charset="-122"/>
                <a:cs typeface="Arial" pitchFamily="34" charset="-120"/>
              </a:rPr>
              <a:t>查看对象明确</a:t>
            </a:r>
            <a:endParaRPr lang="en-US" sz="1400" dirty="0"/>
          </a:p>
        </p:txBody>
      </p:sp>
      <p:sp>
        <p:nvSpPr>
          <p:cNvPr id="18" name="Text 16"/>
          <p:cNvSpPr/>
          <p:nvPr/>
        </p:nvSpPr>
        <p:spPr>
          <a:xfrm>
            <a:off x="804672" y="2816352"/>
            <a:ext cx="3310128" cy="493776"/>
          </a:xfrm>
          <a:prstGeom prst="rect">
            <a:avLst/>
          </a:prstGeom>
          <a:noFill/>
          <a:ln/>
        </p:spPr>
        <p:txBody>
          <a:bodyPr wrap="square" lIns="0" tIns="0" rIns="0" bIns="0" rtlCol="0" anchor="t"/>
          <a:lstStyle/>
          <a:p>
            <a:pPr algn="l" indent="0" marL="0">
              <a:buNone/>
            </a:pPr>
            <a:r>
              <a:rPr lang="en-US" sz="1000" dirty="0">
                <a:solidFill>
                  <a:srgbClr val="5E6E75"/>
                </a:solidFill>
                <a:latin typeface="Arial" pitchFamily="34" charset="0"/>
                <a:ea typeface="Arial" pitchFamily="34" charset="-122"/>
                <a:cs typeface="Arial" pitchFamily="34" charset="-120"/>
              </a:rPr>
              <a:t>团队可以根据项目范围、部门边界或资料敏感程度决定谁能够进入文档查看内容，从源头避免无关人员接触不必知晓的信息。</a:t>
            </a:r>
            <a:endParaRPr lang="en-US" sz="1000" dirty="0"/>
          </a:p>
        </p:txBody>
      </p:sp>
      <p:sp>
        <p:nvSpPr>
          <p:cNvPr id="19" name="Shape 17"/>
          <p:cNvSpPr/>
          <p:nvPr/>
        </p:nvSpPr>
        <p:spPr>
          <a:xfrm>
            <a:off x="4572000" y="2450592"/>
            <a:ext cx="3703320" cy="987552"/>
          </a:xfrm>
          <a:prstGeom prst="roundRect">
            <a:avLst>
              <a:gd name="adj" fmla="val 11111"/>
            </a:avLst>
          </a:prstGeom>
          <a:solidFill>
            <a:srgbClr val="F7FBFA"/>
          </a:solidFill>
          <a:ln/>
          <a:effectLst>
            <a:outerShdw sx="100000" sy="100000" kx="0" ky="0" algn="bl" rotWithShape="0" blurRad="25400" dist="12700" dir="16200000">
              <a:srgbClr val="000000">
                <a:alpha val="8000"/>
              </a:srgbClr>
            </a:outerShdw>
          </a:effectLst>
        </p:spPr>
      </p:sp>
      <p:sp>
        <p:nvSpPr>
          <p:cNvPr id="20" name="Text 18"/>
          <p:cNvSpPr/>
          <p:nvPr/>
        </p:nvSpPr>
        <p:spPr>
          <a:xfrm>
            <a:off x="4736592" y="2587752"/>
            <a:ext cx="3154680" cy="182880"/>
          </a:xfrm>
          <a:prstGeom prst="rect">
            <a:avLst/>
          </a:prstGeom>
          <a:noFill/>
          <a:ln/>
        </p:spPr>
        <p:txBody>
          <a:bodyPr wrap="square" lIns="0" tIns="0" rIns="0" bIns="0" rtlCol="0" anchor="ctr"/>
          <a:lstStyle/>
          <a:p>
            <a:pPr indent="0" marL="0">
              <a:buNone/>
            </a:pPr>
            <a:r>
              <a:rPr lang="en-US" sz="1400" b="1" dirty="0">
                <a:solidFill>
                  <a:srgbClr val="23313A"/>
                </a:solidFill>
                <a:latin typeface="Arial" pitchFamily="34" charset="0"/>
                <a:ea typeface="Arial" pitchFamily="34" charset="-122"/>
                <a:cs typeface="Arial" pitchFamily="34" charset="-120"/>
              </a:rPr>
              <a:t>操作层级分明</a:t>
            </a:r>
            <a:endParaRPr lang="en-US" sz="1400" dirty="0"/>
          </a:p>
        </p:txBody>
      </p:sp>
      <p:sp>
        <p:nvSpPr>
          <p:cNvPr id="21" name="Text 19"/>
          <p:cNvSpPr/>
          <p:nvPr/>
        </p:nvSpPr>
        <p:spPr>
          <a:xfrm>
            <a:off x="4736592" y="2816352"/>
            <a:ext cx="3310128" cy="493776"/>
          </a:xfrm>
          <a:prstGeom prst="rect">
            <a:avLst/>
          </a:prstGeom>
          <a:noFill/>
          <a:ln/>
        </p:spPr>
        <p:txBody>
          <a:bodyPr wrap="square" lIns="0" tIns="0" rIns="0" bIns="0" rtlCol="0" anchor="t"/>
          <a:lstStyle/>
          <a:p>
            <a:pPr algn="l" indent="0" marL="0">
              <a:buNone/>
            </a:pPr>
            <a:r>
              <a:rPr lang="en-US" sz="1000" dirty="0">
                <a:solidFill>
                  <a:srgbClr val="5E6E75"/>
                </a:solidFill>
                <a:latin typeface="Arial" pitchFamily="34" charset="0"/>
                <a:ea typeface="Arial" pitchFamily="34" charset="-122"/>
                <a:cs typeface="Arial" pitchFamily="34" charset="-120"/>
              </a:rPr>
              <a:t>同一份文档可以面向不同参与者配置不同操作级别，既保障核心内容由责任人维护，又保留其他成员参与反馈与补充的空间。</a:t>
            </a:r>
            <a:endParaRPr lang="en-US" sz="1000" dirty="0"/>
          </a:p>
        </p:txBody>
      </p:sp>
      <p:sp>
        <p:nvSpPr>
          <p:cNvPr id="22" name="Shape 20"/>
          <p:cNvSpPr/>
          <p:nvPr/>
        </p:nvSpPr>
        <p:spPr>
          <a:xfrm>
            <a:off x="640080" y="3593592"/>
            <a:ext cx="3703320" cy="987552"/>
          </a:xfrm>
          <a:prstGeom prst="roundRect">
            <a:avLst>
              <a:gd name="adj" fmla="val 11111"/>
            </a:avLst>
          </a:prstGeom>
          <a:solidFill>
            <a:srgbClr val="F7FBFA"/>
          </a:solidFill>
          <a:ln/>
          <a:effectLst>
            <a:outerShdw sx="100000" sy="100000" kx="0" ky="0" algn="bl" rotWithShape="0" blurRad="25400" dist="12700" dir="16200000">
              <a:srgbClr val="000000">
                <a:alpha val="8000"/>
              </a:srgbClr>
            </a:outerShdw>
          </a:effectLst>
        </p:spPr>
      </p:sp>
      <p:sp>
        <p:nvSpPr>
          <p:cNvPr id="23" name="Text 21"/>
          <p:cNvSpPr/>
          <p:nvPr/>
        </p:nvSpPr>
        <p:spPr>
          <a:xfrm>
            <a:off x="804672" y="3730752"/>
            <a:ext cx="3154680" cy="182880"/>
          </a:xfrm>
          <a:prstGeom prst="rect">
            <a:avLst/>
          </a:prstGeom>
          <a:noFill/>
          <a:ln/>
        </p:spPr>
        <p:txBody>
          <a:bodyPr wrap="square" lIns="0" tIns="0" rIns="0" bIns="0" rtlCol="0" anchor="ctr"/>
          <a:lstStyle/>
          <a:p>
            <a:pPr indent="0" marL="0">
              <a:buNone/>
            </a:pPr>
            <a:r>
              <a:rPr lang="en-US" sz="1400" b="1" dirty="0">
                <a:solidFill>
                  <a:srgbClr val="23313A"/>
                </a:solidFill>
                <a:latin typeface="Arial" pitchFamily="34" charset="0"/>
                <a:ea typeface="Arial" pitchFamily="34" charset="-122"/>
                <a:cs typeface="Arial" pitchFamily="34" charset="-120"/>
              </a:rPr>
              <a:t>传播边界可设</a:t>
            </a:r>
            <a:endParaRPr lang="en-US" sz="1400" dirty="0"/>
          </a:p>
        </p:txBody>
      </p:sp>
      <p:sp>
        <p:nvSpPr>
          <p:cNvPr id="24" name="Text 22"/>
          <p:cNvSpPr/>
          <p:nvPr/>
        </p:nvSpPr>
        <p:spPr>
          <a:xfrm>
            <a:off x="804672" y="3959352"/>
            <a:ext cx="3310128" cy="493776"/>
          </a:xfrm>
          <a:prstGeom prst="rect">
            <a:avLst/>
          </a:prstGeom>
          <a:noFill/>
          <a:ln/>
        </p:spPr>
        <p:txBody>
          <a:bodyPr wrap="square" lIns="0" tIns="0" rIns="0" bIns="0" rtlCol="0" anchor="t"/>
          <a:lstStyle/>
          <a:p>
            <a:pPr algn="l" indent="0" marL="0">
              <a:buNone/>
            </a:pPr>
            <a:r>
              <a:rPr lang="en-US" sz="1000" dirty="0">
                <a:solidFill>
                  <a:srgbClr val="5E6E75"/>
                </a:solidFill>
                <a:latin typeface="Arial" pitchFamily="34" charset="0"/>
                <a:ea typeface="Arial" pitchFamily="34" charset="-122"/>
                <a:cs typeface="Arial" pitchFamily="34" charset="-120"/>
              </a:rPr>
              <a:t>当文档需要跨团队流转时，共享方式并不是一次性放开全部权限，而是能够结合链接设置与成员名单持续管理传播范围。</a:t>
            </a:r>
            <a:endParaRPr lang="en-US" sz="1000" dirty="0"/>
          </a:p>
        </p:txBody>
      </p:sp>
      <p:sp>
        <p:nvSpPr>
          <p:cNvPr id="25" name="Shape 23"/>
          <p:cNvSpPr/>
          <p:nvPr/>
        </p:nvSpPr>
        <p:spPr>
          <a:xfrm>
            <a:off x="4572000" y="3593592"/>
            <a:ext cx="3703320" cy="987552"/>
          </a:xfrm>
          <a:prstGeom prst="roundRect">
            <a:avLst>
              <a:gd name="adj" fmla="val 11111"/>
            </a:avLst>
          </a:prstGeom>
          <a:solidFill>
            <a:srgbClr val="F7FBFA"/>
          </a:solidFill>
          <a:ln/>
          <a:effectLst>
            <a:outerShdw sx="100000" sy="100000" kx="0" ky="0" algn="bl" rotWithShape="0" blurRad="25400" dist="12700" dir="16200000">
              <a:srgbClr val="000000">
                <a:alpha val="8000"/>
              </a:srgbClr>
            </a:outerShdw>
          </a:effectLst>
        </p:spPr>
      </p:sp>
      <p:sp>
        <p:nvSpPr>
          <p:cNvPr id="26" name="Text 24"/>
          <p:cNvSpPr/>
          <p:nvPr/>
        </p:nvSpPr>
        <p:spPr>
          <a:xfrm>
            <a:off x="4736592" y="3730752"/>
            <a:ext cx="3154680" cy="182880"/>
          </a:xfrm>
          <a:prstGeom prst="rect">
            <a:avLst/>
          </a:prstGeom>
          <a:noFill/>
          <a:ln/>
        </p:spPr>
        <p:txBody>
          <a:bodyPr wrap="square" lIns="0" tIns="0" rIns="0" bIns="0" rtlCol="0" anchor="ctr"/>
          <a:lstStyle/>
          <a:p>
            <a:pPr indent="0" marL="0">
              <a:buNone/>
            </a:pPr>
            <a:r>
              <a:rPr lang="en-US" sz="1400" b="1" dirty="0">
                <a:solidFill>
                  <a:srgbClr val="23313A"/>
                </a:solidFill>
                <a:latin typeface="Arial" pitchFamily="34" charset="0"/>
                <a:ea typeface="Arial" pitchFamily="34" charset="-122"/>
                <a:cs typeface="Arial" pitchFamily="34" charset="-120"/>
              </a:rPr>
              <a:t>协作风险下降</a:t>
            </a:r>
            <a:endParaRPr lang="en-US" sz="1400" dirty="0"/>
          </a:p>
        </p:txBody>
      </p:sp>
      <p:sp>
        <p:nvSpPr>
          <p:cNvPr id="27" name="Text 25"/>
          <p:cNvSpPr/>
          <p:nvPr/>
        </p:nvSpPr>
        <p:spPr>
          <a:xfrm>
            <a:off x="4736592" y="3959352"/>
            <a:ext cx="3310128" cy="493776"/>
          </a:xfrm>
          <a:prstGeom prst="rect">
            <a:avLst/>
          </a:prstGeom>
          <a:noFill/>
          <a:ln/>
        </p:spPr>
        <p:txBody>
          <a:bodyPr wrap="square" lIns="0" tIns="0" rIns="0" bIns="0" rtlCol="0" anchor="t"/>
          <a:lstStyle/>
          <a:p>
            <a:pPr algn="l" indent="0" marL="0">
              <a:buNone/>
            </a:pPr>
            <a:r>
              <a:rPr lang="en-US" sz="1000" dirty="0">
                <a:solidFill>
                  <a:srgbClr val="5E6E75"/>
                </a:solidFill>
                <a:latin typeface="Arial" pitchFamily="34" charset="0"/>
                <a:ea typeface="Arial" pitchFamily="34" charset="-122"/>
                <a:cs typeface="Arial" pitchFamily="34" charset="-120"/>
              </a:rPr>
              <a:t>权限规则一旦形成统一习惯，团队在协作时会减少因误删、误改或误发带来的返工成本，管理者也更容易建立稳定的协作秩序。</a:t>
            </a:r>
            <a:endParaRPr lang="en-US" sz="1000" dirty="0"/>
          </a:p>
        </p:txBody>
      </p:sp>
      <p:sp>
        <p:nvSpPr>
          <p:cNvPr id="28" name="Text 26"/>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6B7C84"/>
                </a:solidFill>
                <a:latin typeface="Arial" pitchFamily="34" charset="0"/>
                <a:ea typeface="Arial" pitchFamily="34" charset="-122"/>
                <a:cs typeface="Arial" pitchFamily="34" charset="-120"/>
              </a:rPr>
              <a:t>06/10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548640" y="411480"/>
            <a:ext cx="8046720" cy="384048"/>
          </a:xfrm>
          <a:prstGeom prst="rect">
            <a:avLst/>
          </a:prstGeom>
          <a:noFill/>
          <a:ln/>
        </p:spPr>
        <p:txBody>
          <a:bodyPr wrap="square" lIns="0" tIns="0" rIns="0" bIns="0" rtlCol="0" anchor="ctr"/>
          <a:lstStyle/>
          <a:p>
            <a:pPr algn="l" indent="0" marL="0">
              <a:buNone/>
            </a:pPr>
            <a:r>
              <a:rPr lang="en-US" sz="2800" b="1" dirty="0">
                <a:solidFill>
                  <a:srgbClr val="23313A"/>
                </a:solidFill>
                <a:latin typeface="Arial" pitchFamily="34" charset="0"/>
                <a:ea typeface="Arial" pitchFamily="34" charset="-122"/>
                <a:cs typeface="Arial" pitchFamily="34" charset="-120"/>
              </a:rPr>
              <a:t>核心能力四：嵌入日常工作流程</a:t>
            </a:r>
            <a:endParaRPr lang="en-US" sz="2800" dirty="0"/>
          </a:p>
        </p:txBody>
      </p:sp>
      <p:sp>
        <p:nvSpPr>
          <p:cNvPr id="3" name="Text 1"/>
          <p:cNvSpPr/>
          <p:nvPr/>
        </p:nvSpPr>
        <p:spPr>
          <a:xfrm>
            <a:off x="548640" y="822960"/>
            <a:ext cx="8001000" cy="384048"/>
          </a:xfrm>
          <a:prstGeom prst="rect">
            <a:avLst/>
          </a:prstGeom>
          <a:noFill/>
          <a:ln/>
        </p:spPr>
        <p:txBody>
          <a:bodyPr wrap="square" lIns="0" tIns="0" rIns="0" bIns="0" rtlCol="0" anchor="ctr"/>
          <a:lstStyle/>
          <a:p>
            <a:pPr algn="l" indent="0" marL="0">
              <a:buNone/>
            </a:pPr>
            <a:r>
              <a:rPr lang="en-US" sz="1200" dirty="0">
                <a:solidFill>
                  <a:srgbClr val="5E6E75"/>
                </a:solidFill>
                <a:latin typeface="Arial" pitchFamily="34" charset="0"/>
                <a:ea typeface="Arial" pitchFamily="34" charset="-122"/>
                <a:cs typeface="Arial" pitchFamily="34" charset="-120"/>
              </a:rPr>
              <a:t>石墨文档并不是只在写作环节发挥作用，而是覆盖准备、讨论、反馈与跟进等多个节点，让信息能够沿着工作流程自然流动并持续沉淀。</a:t>
            </a:r>
            <a:endParaRPr lang="en-US" sz="1200" dirty="0"/>
          </a:p>
        </p:txBody>
      </p:sp>
      <p:sp>
        <p:nvSpPr>
          <p:cNvPr id="4" name="Shape 2"/>
          <p:cNvSpPr/>
          <p:nvPr/>
        </p:nvSpPr>
        <p:spPr>
          <a:xfrm>
            <a:off x="594360" y="1280160"/>
            <a:ext cx="4343400" cy="3246120"/>
          </a:xfrm>
          <a:prstGeom prst="roundRect">
            <a:avLst>
              <a:gd name="adj" fmla="val 3380"/>
            </a:avLst>
          </a:prstGeom>
          <a:solidFill>
            <a:srgbClr val="FFFFFF"/>
          </a:solidFill>
          <a:ln/>
          <a:effectLst>
            <a:outerShdw sx="100000" sy="100000" kx="0" ky="0" algn="bl" rotWithShape="0" blurRad="25400" dist="12700" dir="16200000">
              <a:srgbClr val="000000">
                <a:alpha val="8000"/>
              </a:srgbClr>
            </a:outerShdw>
          </a:effectLst>
        </p:spPr>
      </p:sp>
      <p:graphicFrame>
        <p:nvGraphicFramePr>
          <p:cNvPr id="5" name="Chart 0" descr=""/>
          <p:cNvGraphicFramePr/>
          <p:nvPr/>
        </p:nvGraphicFramePr>
        <p:xfrm>
          <a:off x="804672" y="1609344"/>
          <a:ext cx="3913632" cy="2423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41248" y="4169664"/>
            <a:ext cx="3840480" cy="146304"/>
          </a:xfrm>
          <a:prstGeom prst="rect">
            <a:avLst/>
          </a:prstGeom>
          <a:noFill/>
          <a:ln/>
        </p:spPr>
        <p:txBody>
          <a:bodyPr wrap="square" lIns="0" tIns="0" rIns="0" bIns="0" rtlCol="0" anchor="ctr"/>
          <a:lstStyle/>
          <a:p>
            <a:pPr algn="l" indent="0" marL="0">
              <a:buNone/>
            </a:pPr>
            <a:r>
              <a:rPr lang="en-US" sz="900" dirty="0">
                <a:solidFill>
                  <a:srgbClr val="5E6E75"/>
                </a:solidFill>
                <a:latin typeface="Arial" pitchFamily="34" charset="0"/>
                <a:ea typeface="Arial" pitchFamily="34" charset="-122"/>
                <a:cs typeface="Arial" pitchFamily="34" charset="-120"/>
              </a:rPr>
              <a:t>说明：以上数值为示意表达，并非真实统计数据。</a:t>
            </a:r>
            <a:endParaRPr lang="en-US" sz="900" dirty="0"/>
          </a:p>
        </p:txBody>
      </p:sp>
      <p:sp>
        <p:nvSpPr>
          <p:cNvPr id="7" name="Shape 4"/>
          <p:cNvSpPr/>
          <p:nvPr/>
        </p:nvSpPr>
        <p:spPr>
          <a:xfrm>
            <a:off x="5120640" y="1280160"/>
            <a:ext cx="3429000" cy="3246120"/>
          </a:xfrm>
          <a:prstGeom prst="roundRect">
            <a:avLst>
              <a:gd name="adj" fmla="val 3380"/>
            </a:avLst>
          </a:prstGeom>
          <a:solidFill>
            <a:srgbClr val="EEF8F4"/>
          </a:solidFill>
          <a:ln/>
          <a:effectLst>
            <a:outerShdw sx="100000" sy="100000" kx="0" ky="0" algn="bl" rotWithShape="0" blurRad="25400" dist="12700" dir="16200000">
              <a:srgbClr val="000000">
                <a:alpha val="8000"/>
              </a:srgbClr>
            </a:outerShdw>
          </a:effectLst>
        </p:spPr>
      </p:sp>
      <p:sp>
        <p:nvSpPr>
          <p:cNvPr id="8" name="Shape 5"/>
          <p:cNvSpPr/>
          <p:nvPr/>
        </p:nvSpPr>
        <p:spPr>
          <a:xfrm>
            <a:off x="5285232" y="1426464"/>
            <a:ext cx="3099816" cy="658368"/>
          </a:xfrm>
          <a:prstGeom prst="roundRect">
            <a:avLst>
              <a:gd name="adj" fmla="val 11111"/>
            </a:avLst>
          </a:prstGeom>
          <a:solidFill>
            <a:srgbClr val="FFFFFF"/>
          </a:solidFill>
          <a:ln/>
        </p:spPr>
      </p:sp>
      <p:sp>
        <p:nvSpPr>
          <p:cNvPr id="9" name="Shape 6"/>
          <p:cNvSpPr/>
          <p:nvPr/>
        </p:nvSpPr>
        <p:spPr>
          <a:xfrm>
            <a:off x="5413248" y="1563624"/>
            <a:ext cx="201168" cy="201168"/>
          </a:xfrm>
          <a:prstGeom prst="ellipse">
            <a:avLst/>
          </a:prstGeom>
          <a:solidFill>
            <a:srgbClr val="1FA971"/>
          </a:solidFill>
          <a:ln/>
        </p:spPr>
      </p:sp>
      <p:sp>
        <p:nvSpPr>
          <p:cNvPr id="10" name="Text 7"/>
          <p:cNvSpPr/>
          <p:nvPr/>
        </p:nvSpPr>
        <p:spPr>
          <a:xfrm>
            <a:off x="5687568" y="1527048"/>
            <a:ext cx="2487168" cy="146304"/>
          </a:xfrm>
          <a:prstGeom prst="rect">
            <a:avLst/>
          </a:prstGeom>
          <a:noFill/>
          <a:ln/>
        </p:spPr>
        <p:txBody>
          <a:bodyPr wrap="square" lIns="0" tIns="0" rIns="0" bIns="0" rtlCol="0" anchor="ctr"/>
          <a:lstStyle/>
          <a:p>
            <a:pPr indent="0" marL="0">
              <a:buNone/>
            </a:pPr>
            <a:r>
              <a:rPr lang="en-US" sz="1160" b="1" dirty="0">
                <a:solidFill>
                  <a:srgbClr val="23313A"/>
                </a:solidFill>
                <a:latin typeface="Arial" pitchFamily="34" charset="0"/>
                <a:ea typeface="Arial" pitchFamily="34" charset="-122"/>
                <a:cs typeface="Arial" pitchFamily="34" charset="-120"/>
              </a:rPr>
              <a:t>会议准备前移</a:t>
            </a:r>
            <a:endParaRPr lang="en-US" sz="1160" dirty="0"/>
          </a:p>
        </p:txBody>
      </p:sp>
      <p:sp>
        <p:nvSpPr>
          <p:cNvPr id="11" name="Text 8"/>
          <p:cNvSpPr/>
          <p:nvPr/>
        </p:nvSpPr>
        <p:spPr>
          <a:xfrm>
            <a:off x="5687568" y="1719072"/>
            <a:ext cx="2487168" cy="347472"/>
          </a:xfrm>
          <a:prstGeom prst="rect">
            <a:avLst/>
          </a:prstGeom>
          <a:noFill/>
          <a:ln/>
        </p:spPr>
        <p:txBody>
          <a:bodyPr wrap="square" lIns="0" tIns="0" rIns="0" bIns="0" rtlCol="0" anchor="ctr"/>
          <a:lstStyle/>
          <a:p>
            <a:pPr algn="l" indent="0" marL="0">
              <a:buNone/>
            </a:pPr>
            <a:r>
              <a:rPr lang="en-US" sz="830" dirty="0">
                <a:solidFill>
                  <a:srgbClr val="5E6E75"/>
                </a:solidFill>
                <a:latin typeface="Arial" pitchFamily="34" charset="0"/>
                <a:ea typeface="Arial" pitchFamily="34" charset="-122"/>
                <a:cs typeface="Arial" pitchFamily="34" charset="-120"/>
              </a:rPr>
              <a:t>在会议开始前，团队可以提前共写议程、补充背景资料并确认讨论重点，使参会者在进入讨论前就建立一致的信息基础。</a:t>
            </a:r>
            <a:endParaRPr lang="en-US" sz="830" dirty="0"/>
          </a:p>
        </p:txBody>
      </p:sp>
      <p:sp>
        <p:nvSpPr>
          <p:cNvPr id="12" name="Shape 9"/>
          <p:cNvSpPr/>
          <p:nvPr/>
        </p:nvSpPr>
        <p:spPr>
          <a:xfrm>
            <a:off x="5285232" y="2221992"/>
            <a:ext cx="3099816" cy="658368"/>
          </a:xfrm>
          <a:prstGeom prst="roundRect">
            <a:avLst>
              <a:gd name="adj" fmla="val 11111"/>
            </a:avLst>
          </a:prstGeom>
          <a:solidFill>
            <a:srgbClr val="F7FBFA"/>
          </a:solidFill>
          <a:ln/>
        </p:spPr>
      </p:sp>
      <p:sp>
        <p:nvSpPr>
          <p:cNvPr id="13" name="Shape 10"/>
          <p:cNvSpPr/>
          <p:nvPr/>
        </p:nvSpPr>
        <p:spPr>
          <a:xfrm>
            <a:off x="5413248" y="2359152"/>
            <a:ext cx="201168" cy="201168"/>
          </a:xfrm>
          <a:prstGeom prst="ellipse">
            <a:avLst/>
          </a:prstGeom>
          <a:solidFill>
            <a:srgbClr val="4FA8A0"/>
          </a:solidFill>
          <a:ln/>
        </p:spPr>
      </p:sp>
      <p:sp>
        <p:nvSpPr>
          <p:cNvPr id="14" name="Text 11"/>
          <p:cNvSpPr/>
          <p:nvPr/>
        </p:nvSpPr>
        <p:spPr>
          <a:xfrm>
            <a:off x="5687568" y="2322576"/>
            <a:ext cx="2487168" cy="146304"/>
          </a:xfrm>
          <a:prstGeom prst="rect">
            <a:avLst/>
          </a:prstGeom>
          <a:noFill/>
          <a:ln/>
        </p:spPr>
        <p:txBody>
          <a:bodyPr wrap="square" lIns="0" tIns="0" rIns="0" bIns="0" rtlCol="0" anchor="ctr"/>
          <a:lstStyle/>
          <a:p>
            <a:pPr indent="0" marL="0">
              <a:buNone/>
            </a:pPr>
            <a:r>
              <a:rPr lang="en-US" sz="1160" b="1" dirty="0">
                <a:solidFill>
                  <a:srgbClr val="23313A"/>
                </a:solidFill>
                <a:latin typeface="Arial" pitchFamily="34" charset="0"/>
                <a:ea typeface="Arial" pitchFamily="34" charset="-122"/>
                <a:cs typeface="Arial" pitchFamily="34" charset="-120"/>
              </a:rPr>
              <a:t>现场记录不断线</a:t>
            </a:r>
            <a:endParaRPr lang="en-US" sz="1160" dirty="0"/>
          </a:p>
        </p:txBody>
      </p:sp>
      <p:sp>
        <p:nvSpPr>
          <p:cNvPr id="15" name="Text 12"/>
          <p:cNvSpPr/>
          <p:nvPr/>
        </p:nvSpPr>
        <p:spPr>
          <a:xfrm>
            <a:off x="5687568" y="2514600"/>
            <a:ext cx="2487168" cy="347472"/>
          </a:xfrm>
          <a:prstGeom prst="rect">
            <a:avLst/>
          </a:prstGeom>
          <a:noFill/>
          <a:ln/>
        </p:spPr>
        <p:txBody>
          <a:bodyPr wrap="square" lIns="0" tIns="0" rIns="0" bIns="0" rtlCol="0" anchor="ctr"/>
          <a:lstStyle/>
          <a:p>
            <a:pPr algn="l" indent="0" marL="0">
              <a:buNone/>
            </a:pPr>
            <a:r>
              <a:rPr lang="en-US" sz="830" dirty="0">
                <a:solidFill>
                  <a:srgbClr val="5E6E75"/>
                </a:solidFill>
                <a:latin typeface="Arial" pitchFamily="34" charset="0"/>
                <a:ea typeface="Arial" pitchFamily="34" charset="-122"/>
                <a:cs typeface="Arial" pitchFamily="34" charset="-120"/>
              </a:rPr>
              <a:t>会议过程中，记录内容、待办事项和责任分工可以直接沉淀在同一份文档中，避免会后再依据零散笔记重新整理。</a:t>
            </a:r>
            <a:endParaRPr lang="en-US" sz="830" dirty="0"/>
          </a:p>
        </p:txBody>
      </p:sp>
      <p:sp>
        <p:nvSpPr>
          <p:cNvPr id="16" name="Shape 13"/>
          <p:cNvSpPr/>
          <p:nvPr/>
        </p:nvSpPr>
        <p:spPr>
          <a:xfrm>
            <a:off x="5285232" y="3017520"/>
            <a:ext cx="3099816" cy="658368"/>
          </a:xfrm>
          <a:prstGeom prst="roundRect">
            <a:avLst>
              <a:gd name="adj" fmla="val 11111"/>
            </a:avLst>
          </a:prstGeom>
          <a:solidFill>
            <a:srgbClr val="FFFFFF"/>
          </a:solidFill>
          <a:ln/>
        </p:spPr>
      </p:sp>
      <p:sp>
        <p:nvSpPr>
          <p:cNvPr id="17" name="Shape 14"/>
          <p:cNvSpPr/>
          <p:nvPr/>
        </p:nvSpPr>
        <p:spPr>
          <a:xfrm>
            <a:off x="5413248" y="3154680"/>
            <a:ext cx="201168" cy="201168"/>
          </a:xfrm>
          <a:prstGeom prst="ellipse">
            <a:avLst/>
          </a:prstGeom>
          <a:solidFill>
            <a:srgbClr val="1FA971"/>
          </a:solidFill>
          <a:ln/>
        </p:spPr>
      </p:sp>
      <p:sp>
        <p:nvSpPr>
          <p:cNvPr id="18" name="Text 15"/>
          <p:cNvSpPr/>
          <p:nvPr/>
        </p:nvSpPr>
        <p:spPr>
          <a:xfrm>
            <a:off x="5687568" y="3118104"/>
            <a:ext cx="2487168" cy="146304"/>
          </a:xfrm>
          <a:prstGeom prst="rect">
            <a:avLst/>
          </a:prstGeom>
          <a:noFill/>
          <a:ln/>
        </p:spPr>
        <p:txBody>
          <a:bodyPr wrap="square" lIns="0" tIns="0" rIns="0" bIns="0" rtlCol="0" anchor="ctr"/>
          <a:lstStyle/>
          <a:p>
            <a:pPr indent="0" marL="0">
              <a:buNone/>
            </a:pPr>
            <a:r>
              <a:rPr lang="en-US" sz="1160" b="1" dirty="0">
                <a:solidFill>
                  <a:srgbClr val="23313A"/>
                </a:solidFill>
                <a:latin typeface="Arial" pitchFamily="34" charset="0"/>
                <a:ea typeface="Arial" pitchFamily="34" charset="-122"/>
                <a:cs typeface="Arial" pitchFamily="34" charset="-120"/>
              </a:rPr>
              <a:t>评审修改同处一处</a:t>
            </a:r>
            <a:endParaRPr lang="en-US" sz="1160" dirty="0"/>
          </a:p>
        </p:txBody>
      </p:sp>
      <p:sp>
        <p:nvSpPr>
          <p:cNvPr id="19" name="Text 16"/>
          <p:cNvSpPr/>
          <p:nvPr/>
        </p:nvSpPr>
        <p:spPr>
          <a:xfrm>
            <a:off x="5687568" y="3310128"/>
            <a:ext cx="2487168" cy="347472"/>
          </a:xfrm>
          <a:prstGeom prst="rect">
            <a:avLst/>
          </a:prstGeom>
          <a:noFill/>
          <a:ln/>
        </p:spPr>
        <p:txBody>
          <a:bodyPr wrap="square" lIns="0" tIns="0" rIns="0" bIns="0" rtlCol="0" anchor="ctr"/>
          <a:lstStyle/>
          <a:p>
            <a:pPr algn="l" indent="0" marL="0">
              <a:buNone/>
            </a:pPr>
            <a:r>
              <a:rPr lang="en-US" sz="830" dirty="0">
                <a:solidFill>
                  <a:srgbClr val="5E6E75"/>
                </a:solidFill>
                <a:latin typeface="Arial" pitchFamily="34" charset="0"/>
                <a:ea typeface="Arial" pitchFamily="34" charset="-122"/>
                <a:cs typeface="Arial" pitchFamily="34" charset="-120"/>
              </a:rPr>
              <a:t>方案评审时，展示材料、逐条评论与修改建议能够围绕原文集中展开，让反馈不再散落在聊天窗口与附件版本之间。</a:t>
            </a:r>
            <a:endParaRPr lang="en-US" sz="830" dirty="0"/>
          </a:p>
        </p:txBody>
      </p:sp>
      <p:sp>
        <p:nvSpPr>
          <p:cNvPr id="20" name="Shape 17"/>
          <p:cNvSpPr/>
          <p:nvPr/>
        </p:nvSpPr>
        <p:spPr>
          <a:xfrm>
            <a:off x="5285232" y="3813048"/>
            <a:ext cx="3099816" cy="658368"/>
          </a:xfrm>
          <a:prstGeom prst="roundRect">
            <a:avLst>
              <a:gd name="adj" fmla="val 11111"/>
            </a:avLst>
          </a:prstGeom>
          <a:solidFill>
            <a:srgbClr val="F7FBFA"/>
          </a:solidFill>
          <a:ln/>
        </p:spPr>
      </p:sp>
      <p:sp>
        <p:nvSpPr>
          <p:cNvPr id="21" name="Shape 18"/>
          <p:cNvSpPr/>
          <p:nvPr/>
        </p:nvSpPr>
        <p:spPr>
          <a:xfrm>
            <a:off x="5413248" y="3950208"/>
            <a:ext cx="201168" cy="201168"/>
          </a:xfrm>
          <a:prstGeom prst="ellipse">
            <a:avLst/>
          </a:prstGeom>
          <a:solidFill>
            <a:srgbClr val="4FA8A0"/>
          </a:solidFill>
          <a:ln/>
        </p:spPr>
      </p:sp>
      <p:sp>
        <p:nvSpPr>
          <p:cNvPr id="22" name="Text 19"/>
          <p:cNvSpPr/>
          <p:nvPr/>
        </p:nvSpPr>
        <p:spPr>
          <a:xfrm>
            <a:off x="5687568" y="3913632"/>
            <a:ext cx="2487168" cy="146304"/>
          </a:xfrm>
          <a:prstGeom prst="rect">
            <a:avLst/>
          </a:prstGeom>
          <a:noFill/>
          <a:ln/>
        </p:spPr>
        <p:txBody>
          <a:bodyPr wrap="square" lIns="0" tIns="0" rIns="0" bIns="0" rtlCol="0" anchor="ctr"/>
          <a:lstStyle/>
          <a:p>
            <a:pPr indent="0" marL="0">
              <a:buNone/>
            </a:pPr>
            <a:r>
              <a:rPr lang="en-US" sz="1160" b="1" dirty="0">
                <a:solidFill>
                  <a:srgbClr val="23313A"/>
                </a:solidFill>
                <a:latin typeface="Arial" pitchFamily="34" charset="0"/>
                <a:ea typeface="Arial" pitchFamily="34" charset="-122"/>
                <a:cs typeface="Arial" pitchFamily="34" charset="-120"/>
              </a:rPr>
              <a:t>推进信息持续累计</a:t>
            </a:r>
            <a:endParaRPr lang="en-US" sz="1160" dirty="0"/>
          </a:p>
        </p:txBody>
      </p:sp>
      <p:sp>
        <p:nvSpPr>
          <p:cNvPr id="23" name="Text 20"/>
          <p:cNvSpPr/>
          <p:nvPr/>
        </p:nvSpPr>
        <p:spPr>
          <a:xfrm>
            <a:off x="5687568" y="4105656"/>
            <a:ext cx="2487168" cy="347472"/>
          </a:xfrm>
          <a:prstGeom prst="rect">
            <a:avLst/>
          </a:prstGeom>
          <a:noFill/>
          <a:ln/>
        </p:spPr>
        <p:txBody>
          <a:bodyPr wrap="square" lIns="0" tIns="0" rIns="0" bIns="0" rtlCol="0" anchor="ctr"/>
          <a:lstStyle/>
          <a:p>
            <a:pPr algn="l" indent="0" marL="0">
              <a:buNone/>
            </a:pPr>
            <a:r>
              <a:rPr lang="en-US" sz="830" dirty="0">
                <a:solidFill>
                  <a:srgbClr val="5E6E75"/>
                </a:solidFill>
                <a:latin typeface="Arial" pitchFamily="34" charset="0"/>
                <a:ea typeface="Arial" pitchFamily="34" charset="-122"/>
                <a:cs typeface="Arial" pitchFamily="34" charset="-120"/>
              </a:rPr>
              <a:t>在项目推进阶段，任务更新、阶段结果和状态变化可持续追加到统一页面中，方便团队随时回看过程并追踪执行进展。</a:t>
            </a:r>
            <a:endParaRPr lang="en-US" sz="830" dirty="0"/>
          </a:p>
        </p:txBody>
      </p:sp>
      <p:sp>
        <p:nvSpPr>
          <p:cNvPr id="24" name="Text 21"/>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6B7C84"/>
                </a:solidFill>
                <a:latin typeface="Arial" pitchFamily="34" charset="0"/>
                <a:ea typeface="Arial" pitchFamily="34" charset="-122"/>
                <a:cs typeface="Arial" pitchFamily="34" charset="-120"/>
              </a:rPr>
              <a:t>07/10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384048"/>
          </a:xfrm>
          <a:prstGeom prst="rect">
            <a:avLst/>
          </a:prstGeom>
          <a:noFill/>
          <a:ln/>
        </p:spPr>
        <p:txBody>
          <a:bodyPr wrap="square" lIns="0" tIns="0" rIns="0" bIns="0" rtlCol="0" anchor="ctr"/>
          <a:lstStyle/>
          <a:p>
            <a:pPr algn="l" indent="0" marL="0">
              <a:buNone/>
            </a:pPr>
            <a:r>
              <a:rPr lang="en-US" sz="2800" b="1" dirty="0">
                <a:solidFill>
                  <a:srgbClr val="23313A"/>
                </a:solidFill>
                <a:latin typeface="Arial" pitchFamily="34" charset="0"/>
                <a:ea typeface="Arial" pitchFamily="34" charset="-122"/>
                <a:cs typeface="Arial" pitchFamily="34" charset="-120"/>
              </a:rPr>
              <a:t>石墨文档常见应用场景</a:t>
            </a:r>
            <a:endParaRPr lang="en-US" sz="2800" dirty="0"/>
          </a:p>
        </p:txBody>
      </p:sp>
      <p:sp>
        <p:nvSpPr>
          <p:cNvPr id="3" name="Text 1"/>
          <p:cNvSpPr/>
          <p:nvPr/>
        </p:nvSpPr>
        <p:spPr>
          <a:xfrm>
            <a:off x="548640" y="822960"/>
            <a:ext cx="8001000" cy="384048"/>
          </a:xfrm>
          <a:prstGeom prst="rect">
            <a:avLst/>
          </a:prstGeom>
          <a:noFill/>
          <a:ln/>
        </p:spPr>
        <p:txBody>
          <a:bodyPr wrap="square" lIns="0" tIns="0" rIns="0" bIns="0" rtlCol="0" anchor="ctr"/>
          <a:lstStyle/>
          <a:p>
            <a:pPr algn="l" indent="0" marL="0">
              <a:buNone/>
            </a:pPr>
            <a:r>
              <a:rPr lang="en-US" sz="1200" dirty="0">
                <a:solidFill>
                  <a:srgbClr val="5E6E75"/>
                </a:solidFill>
                <a:latin typeface="Arial" pitchFamily="34" charset="0"/>
                <a:ea typeface="Arial" pitchFamily="34" charset="-122"/>
                <a:cs typeface="Arial" pitchFamily="34" charset="-120"/>
              </a:rPr>
              <a:t>石墨文档在实际工作中最常见的价值，并不是单点写作，而是把推进事项、协同沟通、资料共享和经验复用放进同一套在线空间中持续运转。</a:t>
            </a:r>
            <a:endParaRPr lang="en-US" sz="1200" dirty="0"/>
          </a:p>
        </p:txBody>
      </p:sp>
      <p:sp>
        <p:nvSpPr>
          <p:cNvPr id="4" name="Shape 2"/>
          <p:cNvSpPr/>
          <p:nvPr/>
        </p:nvSpPr>
        <p:spPr>
          <a:xfrm>
            <a:off x="3749040" y="1965960"/>
            <a:ext cx="1645920" cy="1645920"/>
          </a:xfrm>
          <a:prstGeom prst="ellipse">
            <a:avLst/>
          </a:prstGeom>
          <a:solidFill>
            <a:srgbClr val="1FA971"/>
          </a:solidFill>
          <a:ln/>
        </p:spPr>
      </p:sp>
      <p:sp>
        <p:nvSpPr>
          <p:cNvPr id="5" name="Text 3"/>
          <p:cNvSpPr/>
          <p:nvPr/>
        </p:nvSpPr>
        <p:spPr>
          <a:xfrm>
            <a:off x="3886200" y="2423160"/>
            <a:ext cx="137160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石墨文档</a:t>
            </a:r>
            <a:endParaRPr lang="en-US" sz="1800" dirty="0"/>
          </a:p>
          <a:p>
            <a:pPr algn="ctr" indent="0" marL="0">
              <a:buNone/>
            </a:pPr>
            <a:r>
              <a:rPr lang="en-US" sz="1800" b="1" dirty="0">
                <a:solidFill>
                  <a:srgbClr val="FFFFFF"/>
                </a:solidFill>
                <a:latin typeface="Arial" pitchFamily="34" charset="0"/>
                <a:ea typeface="Arial" pitchFamily="34" charset="-122"/>
                <a:cs typeface="Arial" pitchFamily="34" charset="-120"/>
              </a:rPr>
              <a:t>应用场景</a:t>
            </a:r>
            <a:endParaRPr lang="en-US" sz="1800" dirty="0"/>
          </a:p>
        </p:txBody>
      </p:sp>
      <p:sp>
        <p:nvSpPr>
          <p:cNvPr id="6" name="Shape 4"/>
          <p:cNvSpPr/>
          <p:nvPr/>
        </p:nvSpPr>
        <p:spPr>
          <a:xfrm>
            <a:off x="3566160" y="1938528"/>
            <a:ext cx="182880" cy="137160"/>
          </a:xfrm>
          <a:prstGeom prst="line">
            <a:avLst/>
          </a:prstGeom>
          <a:noFill/>
          <a:ln w="19050">
            <a:solidFill>
              <a:srgbClr val="B6EBD3"/>
            </a:solidFill>
            <a:prstDash val="solid"/>
          </a:ln>
        </p:spPr>
      </p:sp>
      <p:sp>
        <p:nvSpPr>
          <p:cNvPr id="7" name="Shape 5"/>
          <p:cNvSpPr/>
          <p:nvPr/>
        </p:nvSpPr>
        <p:spPr>
          <a:xfrm>
            <a:off x="640080" y="1024128"/>
            <a:ext cx="2926080" cy="1389888"/>
          </a:xfrm>
          <a:prstGeom prst="roundRect">
            <a:avLst>
              <a:gd name="adj" fmla="val 7895"/>
            </a:avLst>
          </a:prstGeom>
          <a:solidFill>
            <a:srgbClr val="F1FAF6"/>
          </a:solidFill>
          <a:ln/>
          <a:effectLst>
            <a:outerShdw sx="100000" sy="100000" kx="0" ky="0" algn="bl" rotWithShape="0" blurRad="25400" dist="12700" dir="16200000">
              <a:srgbClr val="000000">
                <a:alpha val="8000"/>
              </a:srgbClr>
            </a:outerShdw>
          </a:effectLst>
        </p:spPr>
      </p:sp>
      <p:sp>
        <p:nvSpPr>
          <p:cNvPr id="8" name="Text 6"/>
          <p:cNvSpPr/>
          <p:nvPr/>
        </p:nvSpPr>
        <p:spPr>
          <a:xfrm>
            <a:off x="804672" y="1170432"/>
            <a:ext cx="2514600" cy="201168"/>
          </a:xfrm>
          <a:prstGeom prst="rect">
            <a:avLst/>
          </a:prstGeom>
          <a:noFill/>
          <a:ln/>
        </p:spPr>
        <p:txBody>
          <a:bodyPr wrap="square" lIns="0" tIns="0" rIns="0" bIns="0" rtlCol="0" anchor="ctr"/>
          <a:lstStyle/>
          <a:p>
            <a:pPr indent="0" marL="0">
              <a:buNone/>
            </a:pPr>
            <a:r>
              <a:rPr lang="en-US" sz="1420" b="1" dirty="0">
                <a:solidFill>
                  <a:srgbClr val="23313A"/>
                </a:solidFill>
                <a:latin typeface="Arial" pitchFamily="34" charset="0"/>
                <a:ea typeface="Arial" pitchFamily="34" charset="-122"/>
                <a:cs typeface="Arial" pitchFamily="34" charset="-120"/>
              </a:rPr>
              <a:t>项目推进更连贯</a:t>
            </a:r>
            <a:endParaRPr lang="en-US" sz="1420" dirty="0"/>
          </a:p>
        </p:txBody>
      </p:sp>
      <p:sp>
        <p:nvSpPr>
          <p:cNvPr id="9" name="Text 7"/>
          <p:cNvSpPr/>
          <p:nvPr/>
        </p:nvSpPr>
        <p:spPr>
          <a:xfrm>
            <a:off x="804672" y="1417320"/>
            <a:ext cx="2578608" cy="768096"/>
          </a:xfrm>
          <a:prstGeom prst="rect">
            <a:avLst/>
          </a:prstGeom>
          <a:noFill/>
          <a:ln/>
        </p:spPr>
        <p:txBody>
          <a:bodyPr wrap="square" lIns="0" tIns="0" rIns="0" bIns="0" rtlCol="0" anchor="t"/>
          <a:lstStyle/>
          <a:p>
            <a:pPr algn="l" indent="0" marL="0">
              <a:buNone/>
            </a:pPr>
            <a:r>
              <a:rPr lang="en-US" sz="960" dirty="0">
                <a:solidFill>
                  <a:srgbClr val="5E6E75"/>
                </a:solidFill>
                <a:latin typeface="Arial" pitchFamily="34" charset="0"/>
                <a:ea typeface="Arial" pitchFamily="34" charset="-122"/>
                <a:cs typeface="Arial" pitchFamily="34" charset="-120"/>
              </a:rPr>
              <a:t>需求说明、进度计划、会议记录与阶段复盘都可以围绕同一组文档持续补充，团队不必在多个文件和聊天记录之间来回切换，项目状态也更容易被完整追踪。</a:t>
            </a:r>
            <a:endParaRPr lang="en-US" sz="960" dirty="0"/>
          </a:p>
        </p:txBody>
      </p:sp>
      <p:sp>
        <p:nvSpPr>
          <p:cNvPr id="10" name="Shape 8"/>
          <p:cNvSpPr/>
          <p:nvPr/>
        </p:nvSpPr>
        <p:spPr>
          <a:xfrm>
            <a:off x="5394960" y="1938528"/>
            <a:ext cx="137160" cy="137160"/>
          </a:xfrm>
          <a:prstGeom prst="line">
            <a:avLst/>
          </a:prstGeom>
          <a:noFill/>
          <a:ln w="19050">
            <a:solidFill>
              <a:srgbClr val="B6EBD3"/>
            </a:solidFill>
            <a:prstDash val="solid"/>
          </a:ln>
        </p:spPr>
      </p:sp>
      <p:sp>
        <p:nvSpPr>
          <p:cNvPr id="11" name="Shape 9"/>
          <p:cNvSpPr/>
          <p:nvPr/>
        </p:nvSpPr>
        <p:spPr>
          <a:xfrm>
            <a:off x="5532120" y="1024128"/>
            <a:ext cx="2926080" cy="1389888"/>
          </a:xfrm>
          <a:prstGeom prst="roundRect">
            <a:avLst>
              <a:gd name="adj" fmla="val 7895"/>
            </a:avLst>
          </a:prstGeom>
          <a:solidFill>
            <a:srgbClr val="EDF7F6"/>
          </a:solidFill>
          <a:ln/>
          <a:effectLst>
            <a:outerShdw sx="100000" sy="100000" kx="0" ky="0" algn="bl" rotWithShape="0" blurRad="25400" dist="12700" dir="16200000">
              <a:srgbClr val="000000">
                <a:alpha val="8000"/>
              </a:srgbClr>
            </a:outerShdw>
          </a:effectLst>
        </p:spPr>
      </p:sp>
      <p:sp>
        <p:nvSpPr>
          <p:cNvPr id="12" name="Text 10"/>
          <p:cNvSpPr/>
          <p:nvPr/>
        </p:nvSpPr>
        <p:spPr>
          <a:xfrm>
            <a:off x="5696712" y="1170432"/>
            <a:ext cx="2514600" cy="201168"/>
          </a:xfrm>
          <a:prstGeom prst="rect">
            <a:avLst/>
          </a:prstGeom>
          <a:noFill/>
          <a:ln/>
        </p:spPr>
        <p:txBody>
          <a:bodyPr wrap="square" lIns="0" tIns="0" rIns="0" bIns="0" rtlCol="0" anchor="ctr"/>
          <a:lstStyle/>
          <a:p>
            <a:pPr indent="0" marL="0">
              <a:buNone/>
            </a:pPr>
            <a:r>
              <a:rPr lang="en-US" sz="1420" b="1" dirty="0">
                <a:solidFill>
                  <a:srgbClr val="23313A"/>
                </a:solidFill>
                <a:latin typeface="Arial" pitchFamily="34" charset="0"/>
                <a:ea typeface="Arial" pitchFamily="34" charset="-122"/>
                <a:cs typeface="Arial" pitchFamily="34" charset="-120"/>
              </a:rPr>
              <a:t>跨部门对齐更一致</a:t>
            </a:r>
            <a:endParaRPr lang="en-US" sz="1420" dirty="0"/>
          </a:p>
        </p:txBody>
      </p:sp>
      <p:sp>
        <p:nvSpPr>
          <p:cNvPr id="13" name="Text 11"/>
          <p:cNvSpPr/>
          <p:nvPr/>
        </p:nvSpPr>
        <p:spPr>
          <a:xfrm>
            <a:off x="5696712" y="1417320"/>
            <a:ext cx="2578608" cy="768096"/>
          </a:xfrm>
          <a:prstGeom prst="rect">
            <a:avLst/>
          </a:prstGeom>
          <a:noFill/>
          <a:ln/>
        </p:spPr>
        <p:txBody>
          <a:bodyPr wrap="square" lIns="0" tIns="0" rIns="0" bIns="0" rtlCol="0" anchor="t"/>
          <a:lstStyle/>
          <a:p>
            <a:pPr algn="l" indent="0" marL="0">
              <a:buNone/>
            </a:pPr>
            <a:r>
              <a:rPr lang="en-US" sz="960" dirty="0">
                <a:solidFill>
                  <a:srgbClr val="5E6E75"/>
                </a:solidFill>
                <a:latin typeface="Arial" pitchFamily="34" charset="0"/>
                <a:ea typeface="Arial" pitchFamily="34" charset="-122"/>
                <a:cs typeface="Arial" pitchFamily="34" charset="-120"/>
              </a:rPr>
              <a:t>当产品、运营、销售或支持团队需要围绕同一事项统一表达时，大家可以直接在同一份文档中查看背景、补充意见并确认结论，从而减少各自转述造成的信息偏差。</a:t>
            </a:r>
            <a:endParaRPr lang="en-US" sz="960" dirty="0"/>
          </a:p>
        </p:txBody>
      </p:sp>
      <p:sp>
        <p:nvSpPr>
          <p:cNvPr id="14" name="Shape 12"/>
          <p:cNvSpPr/>
          <p:nvPr/>
        </p:nvSpPr>
        <p:spPr>
          <a:xfrm>
            <a:off x="3566160" y="3182112"/>
            <a:ext cx="182880" cy="137160"/>
          </a:xfrm>
          <a:prstGeom prst="line">
            <a:avLst/>
          </a:prstGeom>
          <a:noFill/>
          <a:ln w="19050">
            <a:solidFill>
              <a:srgbClr val="B6EBD3"/>
            </a:solidFill>
            <a:prstDash val="solid"/>
          </a:ln>
        </p:spPr>
      </p:sp>
      <p:sp>
        <p:nvSpPr>
          <p:cNvPr id="15" name="Shape 13"/>
          <p:cNvSpPr/>
          <p:nvPr/>
        </p:nvSpPr>
        <p:spPr>
          <a:xfrm>
            <a:off x="640080" y="2907792"/>
            <a:ext cx="2926080" cy="1389888"/>
          </a:xfrm>
          <a:prstGeom prst="roundRect">
            <a:avLst>
              <a:gd name="adj" fmla="val 7895"/>
            </a:avLst>
          </a:prstGeom>
          <a:solidFill>
            <a:srgbClr val="F1FAF6"/>
          </a:solidFill>
          <a:ln/>
          <a:effectLst>
            <a:outerShdw sx="100000" sy="100000" kx="0" ky="0" algn="bl" rotWithShape="0" blurRad="25400" dist="12700" dir="16200000">
              <a:srgbClr val="000000">
                <a:alpha val="8000"/>
              </a:srgbClr>
            </a:outerShdw>
          </a:effectLst>
        </p:spPr>
      </p:sp>
      <p:sp>
        <p:nvSpPr>
          <p:cNvPr id="16" name="Text 14"/>
          <p:cNvSpPr/>
          <p:nvPr/>
        </p:nvSpPr>
        <p:spPr>
          <a:xfrm>
            <a:off x="804672" y="3054096"/>
            <a:ext cx="2514600" cy="201168"/>
          </a:xfrm>
          <a:prstGeom prst="rect">
            <a:avLst/>
          </a:prstGeom>
          <a:noFill/>
          <a:ln/>
        </p:spPr>
        <p:txBody>
          <a:bodyPr wrap="square" lIns="0" tIns="0" rIns="0" bIns="0" rtlCol="0" anchor="ctr"/>
          <a:lstStyle/>
          <a:p>
            <a:pPr indent="0" marL="0">
              <a:buNone/>
            </a:pPr>
            <a:r>
              <a:rPr lang="en-US" sz="1420" b="1" dirty="0">
                <a:solidFill>
                  <a:srgbClr val="23313A"/>
                </a:solidFill>
                <a:latin typeface="Arial" pitchFamily="34" charset="0"/>
                <a:ea typeface="Arial" pitchFamily="34" charset="-122"/>
                <a:cs typeface="Arial" pitchFamily="34" charset="-120"/>
              </a:rPr>
              <a:t>资料共享更高效</a:t>
            </a:r>
            <a:endParaRPr lang="en-US" sz="1420" dirty="0"/>
          </a:p>
        </p:txBody>
      </p:sp>
      <p:sp>
        <p:nvSpPr>
          <p:cNvPr id="17" name="Text 15"/>
          <p:cNvSpPr/>
          <p:nvPr/>
        </p:nvSpPr>
        <p:spPr>
          <a:xfrm>
            <a:off x="804672" y="3300984"/>
            <a:ext cx="2578608" cy="768096"/>
          </a:xfrm>
          <a:prstGeom prst="rect">
            <a:avLst/>
          </a:prstGeom>
          <a:noFill/>
          <a:ln/>
        </p:spPr>
        <p:txBody>
          <a:bodyPr wrap="square" lIns="0" tIns="0" rIns="0" bIns="0" rtlCol="0" anchor="t"/>
          <a:lstStyle/>
          <a:p>
            <a:pPr algn="l" indent="0" marL="0">
              <a:buNone/>
            </a:pPr>
            <a:r>
              <a:rPr lang="en-US" sz="960" dirty="0">
                <a:solidFill>
                  <a:srgbClr val="5E6E75"/>
                </a:solidFill>
                <a:latin typeface="Arial" pitchFamily="34" charset="0"/>
                <a:ea typeface="Arial" pitchFamily="34" charset="-122"/>
                <a:cs typeface="Arial" pitchFamily="34" charset="-120"/>
              </a:rPr>
              <a:t>制度文件、操作指南、常用模板与培训材料能够集中存放并持续更新，新成员进入团队后可以更快找到所需资料，也更容易按照统一规范开展工作。</a:t>
            </a:r>
            <a:endParaRPr lang="en-US" sz="960" dirty="0"/>
          </a:p>
        </p:txBody>
      </p:sp>
      <p:sp>
        <p:nvSpPr>
          <p:cNvPr id="18" name="Shape 16"/>
          <p:cNvSpPr/>
          <p:nvPr/>
        </p:nvSpPr>
        <p:spPr>
          <a:xfrm>
            <a:off x="5394960" y="3182112"/>
            <a:ext cx="137160" cy="137160"/>
          </a:xfrm>
          <a:prstGeom prst="line">
            <a:avLst/>
          </a:prstGeom>
          <a:noFill/>
          <a:ln w="19050">
            <a:solidFill>
              <a:srgbClr val="B6EBD3"/>
            </a:solidFill>
            <a:prstDash val="solid"/>
          </a:ln>
        </p:spPr>
      </p:sp>
      <p:sp>
        <p:nvSpPr>
          <p:cNvPr id="19" name="Shape 17"/>
          <p:cNvSpPr/>
          <p:nvPr/>
        </p:nvSpPr>
        <p:spPr>
          <a:xfrm>
            <a:off x="5532120" y="2907792"/>
            <a:ext cx="2926080" cy="1389888"/>
          </a:xfrm>
          <a:prstGeom prst="roundRect">
            <a:avLst>
              <a:gd name="adj" fmla="val 7895"/>
            </a:avLst>
          </a:prstGeom>
          <a:solidFill>
            <a:srgbClr val="EDF7F6"/>
          </a:solidFill>
          <a:ln/>
          <a:effectLst>
            <a:outerShdw sx="100000" sy="100000" kx="0" ky="0" algn="bl" rotWithShape="0" blurRad="25400" dist="12700" dir="16200000">
              <a:srgbClr val="000000">
                <a:alpha val="8000"/>
              </a:srgbClr>
            </a:outerShdw>
          </a:effectLst>
        </p:spPr>
      </p:sp>
      <p:sp>
        <p:nvSpPr>
          <p:cNvPr id="20" name="Text 18"/>
          <p:cNvSpPr/>
          <p:nvPr/>
        </p:nvSpPr>
        <p:spPr>
          <a:xfrm>
            <a:off x="5696712" y="3054096"/>
            <a:ext cx="2514600" cy="201168"/>
          </a:xfrm>
          <a:prstGeom prst="rect">
            <a:avLst/>
          </a:prstGeom>
          <a:noFill/>
          <a:ln/>
        </p:spPr>
        <p:txBody>
          <a:bodyPr wrap="square" lIns="0" tIns="0" rIns="0" bIns="0" rtlCol="0" anchor="ctr"/>
          <a:lstStyle/>
          <a:p>
            <a:pPr indent="0" marL="0">
              <a:buNone/>
            </a:pPr>
            <a:r>
              <a:rPr lang="en-US" sz="1420" b="1" dirty="0">
                <a:solidFill>
                  <a:srgbClr val="23313A"/>
                </a:solidFill>
                <a:latin typeface="Arial" pitchFamily="34" charset="0"/>
                <a:ea typeface="Arial" pitchFamily="34" charset="-122"/>
                <a:cs typeface="Arial" pitchFamily="34" charset="-120"/>
              </a:rPr>
              <a:t>经验复用更顺畅</a:t>
            </a:r>
            <a:endParaRPr lang="en-US" sz="1420" dirty="0"/>
          </a:p>
        </p:txBody>
      </p:sp>
      <p:sp>
        <p:nvSpPr>
          <p:cNvPr id="21" name="Text 19"/>
          <p:cNvSpPr/>
          <p:nvPr/>
        </p:nvSpPr>
        <p:spPr>
          <a:xfrm>
            <a:off x="5696712" y="3300984"/>
            <a:ext cx="2578608" cy="768096"/>
          </a:xfrm>
          <a:prstGeom prst="rect">
            <a:avLst/>
          </a:prstGeom>
          <a:noFill/>
          <a:ln/>
        </p:spPr>
        <p:txBody>
          <a:bodyPr wrap="square" lIns="0" tIns="0" rIns="0" bIns="0" rtlCol="0" anchor="t"/>
          <a:lstStyle/>
          <a:p>
            <a:pPr algn="l" indent="0" marL="0">
              <a:buNone/>
            </a:pPr>
            <a:r>
              <a:rPr lang="en-US" sz="960" dirty="0">
                <a:solidFill>
                  <a:srgbClr val="5E6E75"/>
                </a:solidFill>
                <a:latin typeface="Arial" pitchFamily="34" charset="0"/>
                <a:ea typeface="Arial" pitchFamily="34" charset="-122"/>
                <a:cs typeface="Arial" pitchFamily="34" charset="-120"/>
              </a:rPr>
              <a:t>方案评审、周会纪要、待办跟进和经验总结都能沉淀在同一协作空间中，后续遇到相似任务时，团队可以直接调用历史内容，避免重复整理和重复沟通。</a:t>
            </a:r>
            <a:endParaRPr lang="en-US" sz="960" dirty="0"/>
          </a:p>
        </p:txBody>
      </p:sp>
      <p:sp>
        <p:nvSpPr>
          <p:cNvPr id="22" name="Text 20"/>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6B7C84"/>
                </a:solidFill>
                <a:latin typeface="Arial" pitchFamily="34" charset="0"/>
                <a:ea typeface="Arial" pitchFamily="34" charset="-122"/>
                <a:cs typeface="Arial" pitchFamily="34" charset="-120"/>
              </a:rPr>
              <a:t>08/10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548640" y="411480"/>
            <a:ext cx="8046720" cy="384048"/>
          </a:xfrm>
          <a:prstGeom prst="rect">
            <a:avLst/>
          </a:prstGeom>
          <a:noFill/>
          <a:ln/>
        </p:spPr>
        <p:txBody>
          <a:bodyPr wrap="square" lIns="0" tIns="0" rIns="0" bIns="0" rtlCol="0" anchor="ctr"/>
          <a:lstStyle/>
          <a:p>
            <a:pPr algn="l" indent="0" marL="0">
              <a:buNone/>
            </a:pPr>
            <a:r>
              <a:rPr lang="en-US" sz="2800" b="1" dirty="0">
                <a:solidFill>
                  <a:srgbClr val="23313A"/>
                </a:solidFill>
                <a:latin typeface="Arial" pitchFamily="34" charset="0"/>
                <a:ea typeface="Arial" pitchFamily="34" charset="-122"/>
                <a:cs typeface="Arial" pitchFamily="34" charset="-120"/>
              </a:rPr>
              <a:t>石墨文档带来的核心价值</a:t>
            </a:r>
            <a:endParaRPr lang="en-US" sz="2800" dirty="0"/>
          </a:p>
        </p:txBody>
      </p:sp>
      <p:sp>
        <p:nvSpPr>
          <p:cNvPr id="3" name="Text 1"/>
          <p:cNvSpPr/>
          <p:nvPr/>
        </p:nvSpPr>
        <p:spPr>
          <a:xfrm>
            <a:off x="548640" y="822960"/>
            <a:ext cx="8001000" cy="384048"/>
          </a:xfrm>
          <a:prstGeom prst="rect">
            <a:avLst/>
          </a:prstGeom>
          <a:noFill/>
          <a:ln/>
        </p:spPr>
        <p:txBody>
          <a:bodyPr wrap="square" lIns="0" tIns="0" rIns="0" bIns="0" rtlCol="0" anchor="ctr"/>
          <a:lstStyle/>
          <a:p>
            <a:pPr algn="l" indent="0" marL="0">
              <a:buNone/>
            </a:pPr>
            <a:r>
              <a:rPr lang="en-US" sz="1200" dirty="0">
                <a:solidFill>
                  <a:srgbClr val="5E6E75"/>
                </a:solidFill>
                <a:latin typeface="Arial" pitchFamily="34" charset="0"/>
                <a:ea typeface="Arial" pitchFamily="34" charset="-122"/>
                <a:cs typeface="Arial" pitchFamily="34" charset="-120"/>
              </a:rPr>
              <a:t>这一页从效率、透明度、知识积累与组织稳定性四个层面，总结产品在团队协作中的综合收益。</a:t>
            </a:r>
            <a:endParaRPr lang="en-US" sz="1200" dirty="0"/>
          </a:p>
        </p:txBody>
      </p:sp>
      <p:sp>
        <p:nvSpPr>
          <p:cNvPr id="4" name="Shape 2"/>
          <p:cNvSpPr/>
          <p:nvPr/>
        </p:nvSpPr>
        <p:spPr>
          <a:xfrm>
            <a:off x="640080" y="1325880"/>
            <a:ext cx="2880360" cy="2971800"/>
          </a:xfrm>
          <a:prstGeom prst="roundRect">
            <a:avLst>
              <a:gd name="adj" fmla="val 3810"/>
            </a:avLst>
          </a:prstGeom>
          <a:solidFill>
            <a:srgbClr val="FFFFFF"/>
          </a:solidFill>
          <a:ln/>
          <a:effectLst>
            <a:outerShdw sx="100000" sy="100000" kx="0" ky="0" algn="bl" rotWithShape="0" blurRad="25400" dist="12700" dir="16200000">
              <a:srgbClr val="000000">
                <a:alpha val="8000"/>
              </a:srgbClr>
            </a:outerShdw>
          </a:effectLst>
        </p:spPr>
      </p:sp>
      <p:sp>
        <p:nvSpPr>
          <p:cNvPr id="5" name="Text 3"/>
          <p:cNvSpPr/>
          <p:nvPr/>
        </p:nvSpPr>
        <p:spPr>
          <a:xfrm>
            <a:off x="822960" y="1481328"/>
            <a:ext cx="2011680" cy="219456"/>
          </a:xfrm>
          <a:prstGeom prst="rect">
            <a:avLst/>
          </a:prstGeom>
          <a:noFill/>
          <a:ln/>
        </p:spPr>
        <p:txBody>
          <a:bodyPr wrap="square" lIns="0" tIns="0" rIns="0" bIns="0" rtlCol="0" anchor="ctr"/>
          <a:lstStyle/>
          <a:p>
            <a:pPr indent="0" marL="0">
              <a:buNone/>
            </a:pPr>
            <a:r>
              <a:rPr lang="en-US" sz="1600" b="1" dirty="0">
                <a:solidFill>
                  <a:srgbClr val="23313A"/>
                </a:solidFill>
                <a:latin typeface="Arial" pitchFamily="34" charset="0"/>
                <a:ea typeface="Arial" pitchFamily="34" charset="-122"/>
                <a:cs typeface="Arial" pitchFamily="34" charset="-120"/>
              </a:rPr>
              <a:t>综合收益概览</a:t>
            </a:r>
            <a:endParaRPr lang="en-US" sz="1600" dirty="0"/>
          </a:p>
        </p:txBody>
      </p:sp>
      <p:sp>
        <p:nvSpPr>
          <p:cNvPr id="6" name="Text 4"/>
          <p:cNvSpPr/>
          <p:nvPr/>
        </p:nvSpPr>
        <p:spPr>
          <a:xfrm>
            <a:off x="841248" y="1828800"/>
            <a:ext cx="2423160" cy="2103120"/>
          </a:xfrm>
          <a:prstGeom prst="rect">
            <a:avLst/>
          </a:prstGeom>
          <a:noFill/>
          <a:ln/>
        </p:spPr>
        <p:txBody>
          <a:bodyPr wrap="square" lIns="381" tIns="381" rIns="381" bIns="381" rtlCol="0" anchor="t"/>
          <a:lstStyle/>
          <a:p>
            <a:pPr algn="l" marL="152400" indent="-152400">
              <a:buSzPct val="100000"/>
              <a:buChar char="•"/>
            </a:pPr>
            <a:r>
              <a:rPr lang="en-US" sz="1200" dirty="0">
                <a:solidFill>
                  <a:srgbClr val="5E6E75"/>
                </a:solidFill>
                <a:latin typeface="Arial" pitchFamily="34" charset="0"/>
                <a:ea typeface="Arial" pitchFamily="34" charset="-122"/>
                <a:cs typeface="Arial" pitchFamily="34" charset="-120"/>
              </a:rPr>
              <a:t>减少版本传递与重复沟通，让内容协作更快收敛为统一结果。</a:t>
            </a:r>
            <a:pPr algn="l" marL="152400" indent="-152400">
              <a:buSzPct val="100000"/>
              <a:buChar char="•"/>
            </a:pPr>
            <a:r>
              <a:rPr lang="en-US" sz="1200" dirty="0">
                <a:solidFill>
                  <a:srgbClr val="5E6E75"/>
                </a:solidFill>
                <a:latin typeface="Arial" pitchFamily="34" charset="0"/>
                <a:ea typeface="Arial" pitchFamily="34" charset="-122"/>
                <a:cs typeface="Arial" pitchFamily="34" charset="-120"/>
              </a:rPr>
              <a:t>把编辑、讨论与反馈放在同一空间中，提升多人参与时的透明度。</a:t>
            </a:r>
            <a:pPr algn="l" marL="152400" indent="-152400">
              <a:buSzPct val="100000"/>
              <a:buChar char="•"/>
            </a:pPr>
            <a:r>
              <a:rPr lang="en-US" sz="1200" dirty="0">
                <a:solidFill>
                  <a:srgbClr val="5E6E75"/>
                </a:solidFill>
                <a:latin typeface="Arial" pitchFamily="34" charset="0"/>
                <a:ea typeface="Arial" pitchFamily="34" charset="-122"/>
                <a:cs typeface="Arial" pitchFamily="34" charset="-120"/>
              </a:rPr>
              <a:t>将阶段性文档持续沉淀为模板、规范与经验，增强后续复用价值。</a:t>
            </a:r>
            <a:pPr algn="l" marL="152400" indent="-152400">
              <a:buSzPct val="100000"/>
              <a:buChar char="•"/>
            </a:pPr>
            <a:r>
              <a:rPr lang="en-US" sz="1200" dirty="0">
                <a:solidFill>
                  <a:srgbClr val="5E6E75"/>
                </a:solidFill>
                <a:latin typeface="Arial" pitchFamily="34" charset="0"/>
                <a:ea typeface="Arial" pitchFamily="34" charset="-122"/>
                <a:cs typeface="Arial" pitchFamily="34" charset="-120"/>
              </a:rPr>
              <a:t>帮助团队形成更一致的工作方式，为标准化管理提供稳定基础。</a:t>
            </a:r>
            <a:endParaRPr lang="en-US" sz="1200" dirty="0"/>
          </a:p>
        </p:txBody>
      </p:sp>
      <p:sp>
        <p:nvSpPr>
          <p:cNvPr id="7" name="Shape 5"/>
          <p:cNvSpPr/>
          <p:nvPr/>
        </p:nvSpPr>
        <p:spPr>
          <a:xfrm>
            <a:off x="3794760" y="1325880"/>
            <a:ext cx="1965960" cy="868680"/>
          </a:xfrm>
          <a:prstGeom prst="roundRect">
            <a:avLst>
              <a:gd name="adj" fmla="val 12632"/>
            </a:avLst>
          </a:prstGeom>
          <a:solidFill>
            <a:srgbClr val="EFF8F4"/>
          </a:solidFill>
          <a:ln/>
          <a:effectLst>
            <a:outerShdw sx="100000" sy="100000" kx="0" ky="0" algn="bl" rotWithShape="0" blurRad="25400" dist="12700" dir="16200000">
              <a:srgbClr val="000000">
                <a:alpha val="8000"/>
              </a:srgbClr>
            </a:outerShdw>
          </a:effectLst>
        </p:spPr>
      </p:sp>
      <p:sp>
        <p:nvSpPr>
          <p:cNvPr id="8" name="Text 6"/>
          <p:cNvSpPr/>
          <p:nvPr/>
        </p:nvSpPr>
        <p:spPr>
          <a:xfrm>
            <a:off x="3931920" y="1463040"/>
            <a:ext cx="1691640" cy="146304"/>
          </a:xfrm>
          <a:prstGeom prst="rect">
            <a:avLst/>
          </a:prstGeom>
          <a:noFill/>
          <a:ln/>
        </p:spPr>
        <p:txBody>
          <a:bodyPr wrap="square" lIns="0" tIns="0" rIns="0" bIns="0" rtlCol="0" anchor="ctr"/>
          <a:lstStyle/>
          <a:p>
            <a:pPr indent="0" marL="0">
              <a:buNone/>
            </a:pPr>
            <a:r>
              <a:rPr lang="en-US" sz="1050" dirty="0">
                <a:solidFill>
                  <a:srgbClr val="5E6E75"/>
                </a:solidFill>
                <a:latin typeface="Arial" pitchFamily="34" charset="0"/>
                <a:ea typeface="Arial" pitchFamily="34" charset="-122"/>
                <a:cs typeface="Arial" pitchFamily="34" charset="-120"/>
              </a:rPr>
              <a:t>协作效率</a:t>
            </a:r>
            <a:endParaRPr lang="en-US" sz="1050" dirty="0"/>
          </a:p>
        </p:txBody>
      </p:sp>
      <p:sp>
        <p:nvSpPr>
          <p:cNvPr id="9" name="Text 7"/>
          <p:cNvSpPr/>
          <p:nvPr/>
        </p:nvSpPr>
        <p:spPr>
          <a:xfrm>
            <a:off x="3931920" y="1673352"/>
            <a:ext cx="1691640" cy="182880"/>
          </a:xfrm>
          <a:prstGeom prst="rect">
            <a:avLst/>
          </a:prstGeom>
          <a:noFill/>
          <a:ln/>
        </p:spPr>
        <p:txBody>
          <a:bodyPr wrap="square" lIns="0" tIns="0" rIns="0" bIns="0" rtlCol="0" anchor="ctr"/>
          <a:lstStyle/>
          <a:p>
            <a:pPr algn="ctr" indent="0" marL="0">
              <a:buNone/>
            </a:pPr>
            <a:r>
              <a:rPr lang="en-US" sz="1700" b="1" dirty="0">
                <a:solidFill>
                  <a:srgbClr val="1FA971"/>
                </a:solidFill>
                <a:latin typeface="Arial" pitchFamily="34" charset="0"/>
                <a:ea typeface="Arial" pitchFamily="34" charset="-122"/>
                <a:cs typeface="Arial" pitchFamily="34" charset="-120"/>
              </a:rPr>
              <a:t>沟通更短</a:t>
            </a:r>
            <a:endParaRPr lang="en-US" sz="1700" dirty="0"/>
          </a:p>
        </p:txBody>
      </p:sp>
      <p:sp>
        <p:nvSpPr>
          <p:cNvPr id="10" name="Shape 8"/>
          <p:cNvSpPr/>
          <p:nvPr/>
        </p:nvSpPr>
        <p:spPr>
          <a:xfrm>
            <a:off x="6126480" y="1325880"/>
            <a:ext cx="1965960" cy="868680"/>
          </a:xfrm>
          <a:prstGeom prst="roundRect">
            <a:avLst>
              <a:gd name="adj" fmla="val 12632"/>
            </a:avLst>
          </a:prstGeom>
          <a:solidFill>
            <a:srgbClr val="F2FBF8"/>
          </a:solidFill>
          <a:ln/>
          <a:effectLst>
            <a:outerShdw sx="100000" sy="100000" kx="0" ky="0" algn="bl" rotWithShape="0" blurRad="25400" dist="12700" dir="16200000">
              <a:srgbClr val="000000">
                <a:alpha val="8000"/>
              </a:srgbClr>
            </a:outerShdw>
          </a:effectLst>
        </p:spPr>
      </p:sp>
      <p:sp>
        <p:nvSpPr>
          <p:cNvPr id="11" name="Text 9"/>
          <p:cNvSpPr/>
          <p:nvPr/>
        </p:nvSpPr>
        <p:spPr>
          <a:xfrm>
            <a:off x="6263640" y="1463040"/>
            <a:ext cx="1691640" cy="146304"/>
          </a:xfrm>
          <a:prstGeom prst="rect">
            <a:avLst/>
          </a:prstGeom>
          <a:noFill/>
          <a:ln/>
        </p:spPr>
        <p:txBody>
          <a:bodyPr wrap="square" lIns="0" tIns="0" rIns="0" bIns="0" rtlCol="0" anchor="ctr"/>
          <a:lstStyle/>
          <a:p>
            <a:pPr indent="0" marL="0">
              <a:buNone/>
            </a:pPr>
            <a:r>
              <a:rPr lang="en-US" sz="1050" dirty="0">
                <a:solidFill>
                  <a:srgbClr val="5E6E75"/>
                </a:solidFill>
                <a:latin typeface="Arial" pitchFamily="34" charset="0"/>
                <a:ea typeface="Arial" pitchFamily="34" charset="-122"/>
                <a:cs typeface="Arial" pitchFamily="34" charset="-120"/>
              </a:rPr>
              <a:t>过程透明</a:t>
            </a:r>
            <a:endParaRPr lang="en-US" sz="1050" dirty="0"/>
          </a:p>
        </p:txBody>
      </p:sp>
      <p:sp>
        <p:nvSpPr>
          <p:cNvPr id="12" name="Text 10"/>
          <p:cNvSpPr/>
          <p:nvPr/>
        </p:nvSpPr>
        <p:spPr>
          <a:xfrm>
            <a:off x="6263640" y="1673352"/>
            <a:ext cx="1691640" cy="182880"/>
          </a:xfrm>
          <a:prstGeom prst="rect">
            <a:avLst/>
          </a:prstGeom>
          <a:noFill/>
          <a:ln/>
        </p:spPr>
        <p:txBody>
          <a:bodyPr wrap="square" lIns="0" tIns="0" rIns="0" bIns="0" rtlCol="0" anchor="ctr"/>
          <a:lstStyle/>
          <a:p>
            <a:pPr algn="ctr" indent="0" marL="0">
              <a:buNone/>
            </a:pPr>
            <a:r>
              <a:rPr lang="en-US" sz="1700" b="1" dirty="0">
                <a:solidFill>
                  <a:srgbClr val="1FA971"/>
                </a:solidFill>
                <a:latin typeface="Arial" pitchFamily="34" charset="0"/>
                <a:ea typeface="Arial" pitchFamily="34" charset="-122"/>
                <a:cs typeface="Arial" pitchFamily="34" charset="-120"/>
              </a:rPr>
              <a:t>推进更顺</a:t>
            </a:r>
            <a:endParaRPr lang="en-US" sz="1700" dirty="0"/>
          </a:p>
        </p:txBody>
      </p:sp>
      <p:sp>
        <p:nvSpPr>
          <p:cNvPr id="13" name="Shape 11"/>
          <p:cNvSpPr/>
          <p:nvPr/>
        </p:nvSpPr>
        <p:spPr>
          <a:xfrm>
            <a:off x="3794760" y="2377440"/>
            <a:ext cx="1965960" cy="868680"/>
          </a:xfrm>
          <a:prstGeom prst="roundRect">
            <a:avLst>
              <a:gd name="adj" fmla="val 12632"/>
            </a:avLst>
          </a:prstGeom>
          <a:solidFill>
            <a:srgbClr val="EFF8F4"/>
          </a:solidFill>
          <a:ln/>
          <a:effectLst>
            <a:outerShdw sx="100000" sy="100000" kx="0" ky="0" algn="bl" rotWithShape="0" blurRad="25400" dist="12700" dir="16200000">
              <a:srgbClr val="000000">
                <a:alpha val="8000"/>
              </a:srgbClr>
            </a:outerShdw>
          </a:effectLst>
        </p:spPr>
      </p:sp>
      <p:sp>
        <p:nvSpPr>
          <p:cNvPr id="14" name="Text 12"/>
          <p:cNvSpPr/>
          <p:nvPr/>
        </p:nvSpPr>
        <p:spPr>
          <a:xfrm>
            <a:off x="3931920" y="2514600"/>
            <a:ext cx="1691640" cy="146304"/>
          </a:xfrm>
          <a:prstGeom prst="rect">
            <a:avLst/>
          </a:prstGeom>
          <a:noFill/>
          <a:ln/>
        </p:spPr>
        <p:txBody>
          <a:bodyPr wrap="square" lIns="0" tIns="0" rIns="0" bIns="0" rtlCol="0" anchor="ctr"/>
          <a:lstStyle/>
          <a:p>
            <a:pPr indent="0" marL="0">
              <a:buNone/>
            </a:pPr>
            <a:r>
              <a:rPr lang="en-US" sz="1050" dirty="0">
                <a:solidFill>
                  <a:srgbClr val="5E6E75"/>
                </a:solidFill>
                <a:latin typeface="Arial" pitchFamily="34" charset="0"/>
                <a:ea typeface="Arial" pitchFamily="34" charset="-122"/>
                <a:cs typeface="Arial" pitchFamily="34" charset="-120"/>
              </a:rPr>
              <a:t>知识资产</a:t>
            </a:r>
            <a:endParaRPr lang="en-US" sz="1050" dirty="0"/>
          </a:p>
        </p:txBody>
      </p:sp>
      <p:sp>
        <p:nvSpPr>
          <p:cNvPr id="15" name="Text 13"/>
          <p:cNvSpPr/>
          <p:nvPr/>
        </p:nvSpPr>
        <p:spPr>
          <a:xfrm>
            <a:off x="3931920" y="2724912"/>
            <a:ext cx="1691640" cy="182880"/>
          </a:xfrm>
          <a:prstGeom prst="rect">
            <a:avLst/>
          </a:prstGeom>
          <a:noFill/>
          <a:ln/>
        </p:spPr>
        <p:txBody>
          <a:bodyPr wrap="square" lIns="0" tIns="0" rIns="0" bIns="0" rtlCol="0" anchor="ctr"/>
          <a:lstStyle/>
          <a:p>
            <a:pPr algn="ctr" indent="0" marL="0">
              <a:buNone/>
            </a:pPr>
            <a:r>
              <a:rPr lang="en-US" sz="1700" b="1" dirty="0">
                <a:solidFill>
                  <a:srgbClr val="1FA971"/>
                </a:solidFill>
                <a:latin typeface="Arial" pitchFamily="34" charset="0"/>
                <a:ea typeface="Arial" pitchFamily="34" charset="-122"/>
                <a:cs typeface="Arial" pitchFamily="34" charset="-120"/>
              </a:rPr>
              <a:t>复用更多</a:t>
            </a:r>
            <a:endParaRPr lang="en-US" sz="1700" dirty="0"/>
          </a:p>
        </p:txBody>
      </p:sp>
      <p:sp>
        <p:nvSpPr>
          <p:cNvPr id="16" name="Shape 14"/>
          <p:cNvSpPr/>
          <p:nvPr/>
        </p:nvSpPr>
        <p:spPr>
          <a:xfrm>
            <a:off x="6126480" y="2377440"/>
            <a:ext cx="1965960" cy="868680"/>
          </a:xfrm>
          <a:prstGeom prst="roundRect">
            <a:avLst>
              <a:gd name="adj" fmla="val 12632"/>
            </a:avLst>
          </a:prstGeom>
          <a:solidFill>
            <a:srgbClr val="F2FBF8"/>
          </a:solidFill>
          <a:ln/>
          <a:effectLst>
            <a:outerShdw sx="100000" sy="100000" kx="0" ky="0" algn="bl" rotWithShape="0" blurRad="25400" dist="12700" dir="16200000">
              <a:srgbClr val="000000">
                <a:alpha val="8000"/>
              </a:srgbClr>
            </a:outerShdw>
          </a:effectLst>
        </p:spPr>
      </p:sp>
      <p:sp>
        <p:nvSpPr>
          <p:cNvPr id="17" name="Text 15"/>
          <p:cNvSpPr/>
          <p:nvPr/>
        </p:nvSpPr>
        <p:spPr>
          <a:xfrm>
            <a:off x="6263640" y="2514600"/>
            <a:ext cx="1691640" cy="146304"/>
          </a:xfrm>
          <a:prstGeom prst="rect">
            <a:avLst/>
          </a:prstGeom>
          <a:noFill/>
          <a:ln/>
        </p:spPr>
        <p:txBody>
          <a:bodyPr wrap="square" lIns="0" tIns="0" rIns="0" bIns="0" rtlCol="0" anchor="ctr"/>
          <a:lstStyle/>
          <a:p>
            <a:pPr indent="0" marL="0">
              <a:buNone/>
            </a:pPr>
            <a:r>
              <a:rPr lang="en-US" sz="1050" dirty="0">
                <a:solidFill>
                  <a:srgbClr val="5E6E75"/>
                </a:solidFill>
                <a:latin typeface="Arial" pitchFamily="34" charset="0"/>
                <a:ea typeface="Arial" pitchFamily="34" charset="-122"/>
                <a:cs typeface="Arial" pitchFamily="34" charset="-120"/>
              </a:rPr>
              <a:t>组织能力</a:t>
            </a:r>
            <a:endParaRPr lang="en-US" sz="1050" dirty="0"/>
          </a:p>
        </p:txBody>
      </p:sp>
      <p:sp>
        <p:nvSpPr>
          <p:cNvPr id="18" name="Text 16"/>
          <p:cNvSpPr/>
          <p:nvPr/>
        </p:nvSpPr>
        <p:spPr>
          <a:xfrm>
            <a:off x="6263640" y="2724912"/>
            <a:ext cx="1691640" cy="182880"/>
          </a:xfrm>
          <a:prstGeom prst="rect">
            <a:avLst/>
          </a:prstGeom>
          <a:noFill/>
          <a:ln/>
        </p:spPr>
        <p:txBody>
          <a:bodyPr wrap="square" lIns="0" tIns="0" rIns="0" bIns="0" rtlCol="0" anchor="ctr"/>
          <a:lstStyle/>
          <a:p>
            <a:pPr algn="ctr" indent="0" marL="0">
              <a:buNone/>
            </a:pPr>
            <a:r>
              <a:rPr lang="en-US" sz="1700" b="1" dirty="0">
                <a:solidFill>
                  <a:srgbClr val="1FA971"/>
                </a:solidFill>
                <a:latin typeface="Arial" pitchFamily="34" charset="0"/>
                <a:ea typeface="Arial" pitchFamily="34" charset="-122"/>
                <a:cs typeface="Arial" pitchFamily="34" charset="-120"/>
              </a:rPr>
              <a:t>管理更稳</a:t>
            </a:r>
            <a:endParaRPr lang="en-US" sz="1700" dirty="0"/>
          </a:p>
        </p:txBody>
      </p:sp>
      <p:sp>
        <p:nvSpPr>
          <p:cNvPr id="19" name="Shape 17"/>
          <p:cNvSpPr/>
          <p:nvPr/>
        </p:nvSpPr>
        <p:spPr>
          <a:xfrm>
            <a:off x="3794760" y="3474720"/>
            <a:ext cx="1417320" cy="1005840"/>
          </a:xfrm>
          <a:prstGeom prst="roundRect">
            <a:avLst>
              <a:gd name="adj" fmla="val 10909"/>
            </a:avLst>
          </a:prstGeom>
          <a:solidFill>
            <a:srgbClr val="FFFFFF"/>
          </a:solidFill>
          <a:ln/>
          <a:effectLst>
            <a:outerShdw sx="100000" sy="100000" kx="0" ky="0" algn="bl" rotWithShape="0" blurRad="25400" dist="12700" dir="16200000">
              <a:srgbClr val="000000">
                <a:alpha val="8000"/>
              </a:srgbClr>
            </a:outerShdw>
          </a:effectLst>
        </p:spPr>
      </p:sp>
      <p:sp>
        <p:nvSpPr>
          <p:cNvPr id="20" name="Text 18"/>
          <p:cNvSpPr/>
          <p:nvPr/>
        </p:nvSpPr>
        <p:spPr>
          <a:xfrm>
            <a:off x="3904488" y="3611880"/>
            <a:ext cx="1188720" cy="201168"/>
          </a:xfrm>
          <a:prstGeom prst="rect">
            <a:avLst/>
          </a:prstGeom>
          <a:noFill/>
          <a:ln/>
        </p:spPr>
        <p:txBody>
          <a:bodyPr wrap="square" lIns="0" tIns="0" rIns="0" bIns="0" rtlCol="0" anchor="ctr"/>
          <a:lstStyle/>
          <a:p>
            <a:pPr indent="0" marL="0">
              <a:buNone/>
            </a:pPr>
            <a:r>
              <a:rPr lang="en-US" sz="1220" b="1" dirty="0">
                <a:solidFill>
                  <a:srgbClr val="23313A"/>
                </a:solidFill>
                <a:latin typeface="Arial" pitchFamily="34" charset="0"/>
                <a:ea typeface="Arial" pitchFamily="34" charset="-122"/>
                <a:cs typeface="Arial" pitchFamily="34" charset="-120"/>
              </a:rPr>
              <a:t>对一线协作的意义</a:t>
            </a:r>
            <a:endParaRPr lang="en-US" sz="1220" dirty="0"/>
          </a:p>
        </p:txBody>
      </p:sp>
      <p:sp>
        <p:nvSpPr>
          <p:cNvPr id="21" name="Text 19"/>
          <p:cNvSpPr/>
          <p:nvPr/>
        </p:nvSpPr>
        <p:spPr>
          <a:xfrm>
            <a:off x="3904488" y="3858768"/>
            <a:ext cx="1188720" cy="365760"/>
          </a:xfrm>
          <a:prstGeom prst="rect">
            <a:avLst/>
          </a:prstGeom>
          <a:noFill/>
          <a:ln/>
        </p:spPr>
        <p:txBody>
          <a:bodyPr wrap="square" lIns="0" tIns="0" rIns="0" bIns="0" rtlCol="0" anchor="t"/>
          <a:lstStyle/>
          <a:p>
            <a:pPr algn="l" indent="0" marL="0">
              <a:buNone/>
            </a:pPr>
            <a:r>
              <a:rPr lang="en-US" sz="950" dirty="0">
                <a:solidFill>
                  <a:srgbClr val="5E6E75"/>
                </a:solidFill>
                <a:latin typeface="Arial" pitchFamily="34" charset="0"/>
                <a:ea typeface="Arial" pitchFamily="34" charset="-122"/>
                <a:cs typeface="Arial" pitchFamily="34" charset="-120"/>
              </a:rPr>
              <a:t>从个人写作工具到团队协作平台，石墨文档最直接的价值在于让信息围绕同一份内容持续流动，减少无效切换与重复对齐。</a:t>
            </a:r>
            <a:endParaRPr lang="en-US" sz="950" dirty="0"/>
          </a:p>
        </p:txBody>
      </p:sp>
      <p:sp>
        <p:nvSpPr>
          <p:cNvPr id="22" name="Shape 20"/>
          <p:cNvSpPr/>
          <p:nvPr/>
        </p:nvSpPr>
        <p:spPr>
          <a:xfrm>
            <a:off x="5486400" y="3474720"/>
            <a:ext cx="1417320" cy="1005840"/>
          </a:xfrm>
          <a:prstGeom prst="roundRect">
            <a:avLst>
              <a:gd name="adj" fmla="val 10909"/>
            </a:avLst>
          </a:prstGeom>
          <a:solidFill>
            <a:srgbClr val="FFFFFF"/>
          </a:solidFill>
          <a:ln/>
          <a:effectLst>
            <a:outerShdw sx="100000" sy="100000" kx="0" ky="0" algn="bl" rotWithShape="0" blurRad="25400" dist="12700" dir="16200000">
              <a:srgbClr val="000000">
                <a:alpha val="8000"/>
              </a:srgbClr>
            </a:outerShdw>
          </a:effectLst>
        </p:spPr>
      </p:sp>
      <p:sp>
        <p:nvSpPr>
          <p:cNvPr id="23" name="Text 21"/>
          <p:cNvSpPr/>
          <p:nvPr/>
        </p:nvSpPr>
        <p:spPr>
          <a:xfrm>
            <a:off x="5596128" y="3611880"/>
            <a:ext cx="1188720" cy="201168"/>
          </a:xfrm>
          <a:prstGeom prst="rect">
            <a:avLst/>
          </a:prstGeom>
          <a:noFill/>
          <a:ln/>
        </p:spPr>
        <p:txBody>
          <a:bodyPr wrap="square" lIns="0" tIns="0" rIns="0" bIns="0" rtlCol="0" anchor="ctr"/>
          <a:lstStyle/>
          <a:p>
            <a:pPr indent="0" marL="0">
              <a:buNone/>
            </a:pPr>
            <a:r>
              <a:rPr lang="en-US" sz="1220" b="1" dirty="0">
                <a:solidFill>
                  <a:srgbClr val="23313A"/>
                </a:solidFill>
                <a:latin typeface="Arial" pitchFamily="34" charset="0"/>
                <a:ea typeface="Arial" pitchFamily="34" charset="-122"/>
                <a:cs typeface="Arial" pitchFamily="34" charset="-120"/>
              </a:rPr>
              <a:t>对协同过程的意义</a:t>
            </a:r>
            <a:endParaRPr lang="en-US" sz="1220" dirty="0"/>
          </a:p>
        </p:txBody>
      </p:sp>
      <p:sp>
        <p:nvSpPr>
          <p:cNvPr id="24" name="Text 22"/>
          <p:cNvSpPr/>
          <p:nvPr/>
        </p:nvSpPr>
        <p:spPr>
          <a:xfrm>
            <a:off x="5596128" y="3858768"/>
            <a:ext cx="1188720" cy="365760"/>
          </a:xfrm>
          <a:prstGeom prst="rect">
            <a:avLst/>
          </a:prstGeom>
          <a:noFill/>
          <a:ln/>
        </p:spPr>
        <p:txBody>
          <a:bodyPr wrap="square" lIns="0" tIns="0" rIns="0" bIns="0" rtlCol="0" anchor="t"/>
          <a:lstStyle/>
          <a:p>
            <a:pPr algn="l" indent="0" marL="0">
              <a:buNone/>
            </a:pPr>
            <a:r>
              <a:rPr lang="en-US" sz="950" dirty="0">
                <a:solidFill>
                  <a:srgbClr val="5E6E75"/>
                </a:solidFill>
                <a:latin typeface="Arial" pitchFamily="34" charset="0"/>
                <a:ea typeface="Arial" pitchFamily="34" charset="-122"/>
                <a:cs typeface="Arial" pitchFamily="34" charset="-120"/>
              </a:rPr>
              <a:t>评论、修改与版本变化都能够留存在统一上下文中，这使团队在推进复杂事项时更容易保持共识，并及时发现偏差。</a:t>
            </a:r>
            <a:endParaRPr lang="en-US" sz="950" dirty="0"/>
          </a:p>
        </p:txBody>
      </p:sp>
      <p:sp>
        <p:nvSpPr>
          <p:cNvPr id="25" name="Shape 23"/>
          <p:cNvSpPr/>
          <p:nvPr/>
        </p:nvSpPr>
        <p:spPr>
          <a:xfrm>
            <a:off x="7178040" y="3474720"/>
            <a:ext cx="1417320" cy="1005840"/>
          </a:xfrm>
          <a:prstGeom prst="roundRect">
            <a:avLst>
              <a:gd name="adj" fmla="val 10909"/>
            </a:avLst>
          </a:prstGeom>
          <a:solidFill>
            <a:srgbClr val="FFFFFF"/>
          </a:solidFill>
          <a:ln/>
          <a:effectLst>
            <a:outerShdw sx="100000" sy="100000" kx="0" ky="0" algn="bl" rotWithShape="0" blurRad="25400" dist="12700" dir="16200000">
              <a:srgbClr val="000000">
                <a:alpha val="8000"/>
              </a:srgbClr>
            </a:outerShdw>
          </a:effectLst>
        </p:spPr>
      </p:sp>
      <p:sp>
        <p:nvSpPr>
          <p:cNvPr id="26" name="Text 24"/>
          <p:cNvSpPr/>
          <p:nvPr/>
        </p:nvSpPr>
        <p:spPr>
          <a:xfrm>
            <a:off x="7287768" y="3611880"/>
            <a:ext cx="1188720" cy="201168"/>
          </a:xfrm>
          <a:prstGeom prst="rect">
            <a:avLst/>
          </a:prstGeom>
          <a:noFill/>
          <a:ln/>
        </p:spPr>
        <p:txBody>
          <a:bodyPr wrap="square" lIns="0" tIns="0" rIns="0" bIns="0" rtlCol="0" anchor="ctr"/>
          <a:lstStyle/>
          <a:p>
            <a:pPr indent="0" marL="0">
              <a:buNone/>
            </a:pPr>
            <a:r>
              <a:rPr lang="en-US" sz="1220" b="1" dirty="0">
                <a:solidFill>
                  <a:srgbClr val="23313A"/>
                </a:solidFill>
                <a:latin typeface="Arial" pitchFamily="34" charset="0"/>
                <a:ea typeface="Arial" pitchFamily="34" charset="-122"/>
                <a:cs typeface="Arial" pitchFamily="34" charset="-120"/>
              </a:rPr>
              <a:t>对长期建设的意义</a:t>
            </a:r>
            <a:endParaRPr lang="en-US" sz="1220" dirty="0"/>
          </a:p>
        </p:txBody>
      </p:sp>
      <p:sp>
        <p:nvSpPr>
          <p:cNvPr id="27" name="Text 25"/>
          <p:cNvSpPr/>
          <p:nvPr/>
        </p:nvSpPr>
        <p:spPr>
          <a:xfrm>
            <a:off x="7287768" y="3858768"/>
            <a:ext cx="1188720" cy="365760"/>
          </a:xfrm>
          <a:prstGeom prst="rect">
            <a:avLst/>
          </a:prstGeom>
          <a:noFill/>
          <a:ln/>
        </p:spPr>
        <p:txBody>
          <a:bodyPr wrap="square" lIns="0" tIns="0" rIns="0" bIns="0" rtlCol="0" anchor="t"/>
          <a:lstStyle/>
          <a:p>
            <a:pPr algn="l" indent="0" marL="0">
              <a:buNone/>
            </a:pPr>
            <a:r>
              <a:rPr lang="en-US" sz="950" dirty="0">
                <a:solidFill>
                  <a:srgbClr val="5E6E75"/>
                </a:solidFill>
                <a:latin typeface="Arial" pitchFamily="34" charset="0"/>
                <a:ea typeface="Arial" pitchFamily="34" charset="-122"/>
                <a:cs typeface="Arial" pitchFamily="34" charset="-120"/>
              </a:rPr>
              <a:t>当日常记录、项目资料和方法经验被持续积累下来，组织就不再依赖个体记忆，而是逐步建立可传承、可复用的知识基础。</a:t>
            </a:r>
            <a:endParaRPr lang="en-US" sz="950" dirty="0"/>
          </a:p>
        </p:txBody>
      </p:sp>
      <p:sp>
        <p:nvSpPr>
          <p:cNvPr id="28" name="Text 26"/>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6B7C84"/>
                </a:solidFill>
                <a:latin typeface="Arial" pitchFamily="34" charset="0"/>
                <a:ea typeface="Arial" pitchFamily="34" charset="-122"/>
                <a:cs typeface="Arial" pitchFamily="34" charset="-120"/>
              </a:rPr>
              <a:t>09/10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13C"/>
        </a:solidFill>
      </p:bgPr>
    </p:bg>
    <p:spTree>
      <p:nvGrpSpPr>
        <p:cNvPr id="1" name=""/>
        <p:cNvGrpSpPr/>
        <p:nvPr/>
      </p:nvGrpSpPr>
      <p:grpSpPr>
        <a:xfrm>
          <a:off x="0" y="0"/>
          <a:ext cx="0" cy="0"/>
          <a:chOff x="0" y="0"/>
          <a:chExt cx="0" cy="0"/>
        </a:xfrm>
      </p:grpSpPr>
      <p:sp>
        <p:nvSpPr>
          <p:cNvPr id="2" name="Shape 0"/>
          <p:cNvSpPr/>
          <p:nvPr/>
        </p:nvSpPr>
        <p:spPr>
          <a:xfrm>
            <a:off x="731520" y="502920"/>
            <a:ext cx="914400" cy="914400"/>
          </a:xfrm>
          <a:prstGeom prst="ellipse">
            <a:avLst/>
          </a:prstGeom>
          <a:solidFill>
            <a:srgbClr val="29434B"/>
          </a:solidFill>
          <a:ln/>
        </p:spPr>
      </p:sp>
      <p:sp>
        <p:nvSpPr>
          <p:cNvPr id="3" name="Shape 1"/>
          <p:cNvSpPr/>
          <p:nvPr/>
        </p:nvSpPr>
        <p:spPr>
          <a:xfrm>
            <a:off x="7818120" y="640080"/>
            <a:ext cx="822960" cy="822960"/>
          </a:xfrm>
          <a:prstGeom prst="ellipse">
            <a:avLst/>
          </a:prstGeom>
          <a:solidFill>
            <a:srgbClr val="1FA971"/>
          </a:solidFill>
          <a:ln/>
        </p:spPr>
      </p:sp>
      <p:sp>
        <p:nvSpPr>
          <p:cNvPr id="4" name="Shape 2"/>
          <p:cNvSpPr/>
          <p:nvPr/>
        </p:nvSpPr>
        <p:spPr>
          <a:xfrm>
            <a:off x="7223760" y="3794760"/>
            <a:ext cx="1051560" cy="1051560"/>
          </a:xfrm>
          <a:prstGeom prst="ellipse">
            <a:avLst/>
          </a:prstGeom>
          <a:solidFill>
            <a:srgbClr val="264149"/>
          </a:solidFill>
          <a:ln/>
        </p:spPr>
      </p:sp>
      <p:sp>
        <p:nvSpPr>
          <p:cNvPr id="5" name="Text 3"/>
          <p:cNvSpPr/>
          <p:nvPr/>
        </p:nvSpPr>
        <p:spPr>
          <a:xfrm>
            <a:off x="1097280" y="777240"/>
            <a:ext cx="694944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总结：从协作工具到团队知识底座</a:t>
            </a:r>
            <a:endParaRPr lang="en-US" sz="2600" dirty="0"/>
          </a:p>
        </p:txBody>
      </p:sp>
      <p:sp>
        <p:nvSpPr>
          <p:cNvPr id="6" name="Text 4"/>
          <p:cNvSpPr/>
          <p:nvPr/>
        </p:nvSpPr>
        <p:spPr>
          <a:xfrm>
            <a:off x="2606040" y="1298448"/>
            <a:ext cx="3931920" cy="182880"/>
          </a:xfrm>
          <a:prstGeom prst="rect">
            <a:avLst/>
          </a:prstGeom>
          <a:noFill/>
          <a:ln/>
        </p:spPr>
        <p:txBody>
          <a:bodyPr wrap="square" lIns="0" tIns="0" rIns="0" bIns="0" rtlCol="0" anchor="ctr"/>
          <a:lstStyle/>
          <a:p>
            <a:pPr algn="ctr" indent="0" marL="0">
              <a:buNone/>
            </a:pPr>
            <a:r>
              <a:rPr lang="en-US" sz="1250" dirty="0">
                <a:solidFill>
                  <a:srgbClr val="BED6CF"/>
                </a:solidFill>
                <a:latin typeface="Arial" pitchFamily="34" charset="0"/>
                <a:ea typeface="Arial" pitchFamily="34" charset="-122"/>
                <a:cs typeface="Arial" pitchFamily="34" charset="-120"/>
              </a:rPr>
              <a:t>定位、能力与价值三层收束</a:t>
            </a:r>
            <a:endParaRPr lang="en-US" sz="1250" dirty="0"/>
          </a:p>
        </p:txBody>
      </p:sp>
      <p:sp>
        <p:nvSpPr>
          <p:cNvPr id="7" name="Shape 5"/>
          <p:cNvSpPr/>
          <p:nvPr/>
        </p:nvSpPr>
        <p:spPr>
          <a:xfrm>
            <a:off x="1051560" y="1828800"/>
            <a:ext cx="7040880" cy="621792"/>
          </a:xfrm>
          <a:prstGeom prst="roundRect">
            <a:avLst>
              <a:gd name="adj" fmla="val 17647"/>
            </a:avLst>
          </a:prstGeom>
          <a:solidFill>
            <a:srgbClr val="1E333B"/>
          </a:solidFill>
          <a:ln/>
        </p:spPr>
      </p:sp>
      <p:sp>
        <p:nvSpPr>
          <p:cNvPr id="8" name="Text 6"/>
          <p:cNvSpPr/>
          <p:nvPr/>
        </p:nvSpPr>
        <p:spPr>
          <a:xfrm>
            <a:off x="1325880" y="1956816"/>
            <a:ext cx="1371600" cy="164592"/>
          </a:xfrm>
          <a:prstGeom prst="rect">
            <a:avLst/>
          </a:prstGeom>
          <a:noFill/>
          <a:ln/>
        </p:spPr>
        <p:txBody>
          <a:bodyPr wrap="square" lIns="0" tIns="0" rIns="0" bIns="0" rtlCol="0" anchor="ctr"/>
          <a:lstStyle/>
          <a:p>
            <a:pPr indent="0" marL="0">
              <a:buNone/>
            </a:pPr>
            <a:r>
              <a:rPr lang="en-US" sz="1350" b="1" dirty="0">
                <a:solidFill>
                  <a:srgbClr val="35C58B"/>
                </a:solidFill>
                <a:latin typeface="Arial" pitchFamily="34" charset="0"/>
                <a:ea typeface="Arial" pitchFamily="34" charset="-122"/>
                <a:cs typeface="Arial" pitchFamily="34" charset="-120"/>
              </a:rPr>
              <a:t>定位归纳</a:t>
            </a:r>
            <a:endParaRPr lang="en-US" sz="1350" dirty="0"/>
          </a:p>
        </p:txBody>
      </p:sp>
      <p:sp>
        <p:nvSpPr>
          <p:cNvPr id="9" name="Text 7"/>
          <p:cNvSpPr/>
          <p:nvPr/>
        </p:nvSpPr>
        <p:spPr>
          <a:xfrm>
            <a:off x="2331720" y="2167128"/>
            <a:ext cx="5440680" cy="182880"/>
          </a:xfrm>
          <a:prstGeom prst="rect">
            <a:avLst/>
          </a:prstGeom>
          <a:noFill/>
          <a:ln/>
        </p:spPr>
        <p:txBody>
          <a:bodyPr wrap="square" lIns="0" tIns="0" rIns="0" bIns="0" rtlCol="0" anchor="ctr"/>
          <a:lstStyle/>
          <a:p>
            <a:pPr algn="l" indent="0" marL="0">
              <a:buNone/>
            </a:pPr>
            <a:r>
              <a:rPr lang="en-US" sz="1100" dirty="0">
                <a:solidFill>
                  <a:srgbClr val="E1F0EB"/>
                </a:solidFill>
                <a:latin typeface="Arial" pitchFamily="34" charset="0"/>
                <a:ea typeface="Arial" pitchFamily="34" charset="-122"/>
                <a:cs typeface="Arial" pitchFamily="34" charset="-120"/>
              </a:rPr>
              <a:t>石墨文档不仅用于在线撰写内容，更承接多人协作、资料归档与持续更新，让团队把日常产出逐步转化为可管理、可查找、可复用的知识资源。</a:t>
            </a:r>
            <a:endParaRPr lang="en-US" sz="1100" dirty="0"/>
          </a:p>
        </p:txBody>
      </p:sp>
      <p:sp>
        <p:nvSpPr>
          <p:cNvPr id="10" name="Shape 8"/>
          <p:cNvSpPr/>
          <p:nvPr/>
        </p:nvSpPr>
        <p:spPr>
          <a:xfrm>
            <a:off x="1051560" y="2651760"/>
            <a:ext cx="7040880" cy="621792"/>
          </a:xfrm>
          <a:prstGeom prst="roundRect">
            <a:avLst>
              <a:gd name="adj" fmla="val 17647"/>
            </a:avLst>
          </a:prstGeom>
          <a:solidFill>
            <a:srgbClr val="213840"/>
          </a:solidFill>
          <a:ln/>
        </p:spPr>
      </p:sp>
      <p:sp>
        <p:nvSpPr>
          <p:cNvPr id="11" name="Text 9"/>
          <p:cNvSpPr/>
          <p:nvPr/>
        </p:nvSpPr>
        <p:spPr>
          <a:xfrm>
            <a:off x="1325880" y="2779776"/>
            <a:ext cx="1371600" cy="164592"/>
          </a:xfrm>
          <a:prstGeom prst="rect">
            <a:avLst/>
          </a:prstGeom>
          <a:noFill/>
          <a:ln/>
        </p:spPr>
        <p:txBody>
          <a:bodyPr wrap="square" lIns="0" tIns="0" rIns="0" bIns="0" rtlCol="0" anchor="ctr"/>
          <a:lstStyle/>
          <a:p>
            <a:pPr indent="0" marL="0">
              <a:buNone/>
            </a:pPr>
            <a:r>
              <a:rPr lang="en-US" sz="1350" b="1" dirty="0">
                <a:solidFill>
                  <a:srgbClr val="35C58B"/>
                </a:solidFill>
                <a:latin typeface="Arial" pitchFamily="34" charset="0"/>
                <a:ea typeface="Arial" pitchFamily="34" charset="-122"/>
                <a:cs typeface="Arial" pitchFamily="34" charset="-120"/>
              </a:rPr>
              <a:t>能力收束</a:t>
            </a:r>
            <a:endParaRPr lang="en-US" sz="1350" dirty="0"/>
          </a:p>
        </p:txBody>
      </p:sp>
      <p:sp>
        <p:nvSpPr>
          <p:cNvPr id="12" name="Text 10"/>
          <p:cNvSpPr/>
          <p:nvPr/>
        </p:nvSpPr>
        <p:spPr>
          <a:xfrm>
            <a:off x="2331720" y="2990088"/>
            <a:ext cx="5440680" cy="182880"/>
          </a:xfrm>
          <a:prstGeom prst="rect">
            <a:avLst/>
          </a:prstGeom>
          <a:noFill/>
          <a:ln/>
        </p:spPr>
        <p:txBody>
          <a:bodyPr wrap="square" lIns="0" tIns="0" rIns="0" bIns="0" rtlCol="0" anchor="ctr"/>
          <a:lstStyle/>
          <a:p>
            <a:pPr algn="l" indent="0" marL="0">
              <a:buNone/>
            </a:pPr>
            <a:r>
              <a:rPr lang="en-US" sz="1100" dirty="0">
                <a:solidFill>
                  <a:srgbClr val="E1F0EB"/>
                </a:solidFill>
                <a:latin typeface="Arial" pitchFamily="34" charset="0"/>
                <a:ea typeface="Arial" pitchFamily="34" charset="-122"/>
                <a:cs typeface="Arial" pitchFamily="34" charset="-120"/>
              </a:rPr>
              <a:t>从多人共创到结构化整理，从权限控制到流程承接，它覆盖了内容生产与协同推进的关键环节，使文档不再停留于记录结果，而是直接参与工作过程。</a:t>
            </a:r>
            <a:endParaRPr lang="en-US" sz="1100" dirty="0"/>
          </a:p>
        </p:txBody>
      </p:sp>
      <p:sp>
        <p:nvSpPr>
          <p:cNvPr id="13" name="Shape 11"/>
          <p:cNvSpPr/>
          <p:nvPr/>
        </p:nvSpPr>
        <p:spPr>
          <a:xfrm>
            <a:off x="1051560" y="3474720"/>
            <a:ext cx="7040880" cy="621792"/>
          </a:xfrm>
          <a:prstGeom prst="roundRect">
            <a:avLst>
              <a:gd name="adj" fmla="val 17647"/>
            </a:avLst>
          </a:prstGeom>
          <a:solidFill>
            <a:srgbClr val="1E333B"/>
          </a:solidFill>
          <a:ln/>
        </p:spPr>
      </p:sp>
      <p:sp>
        <p:nvSpPr>
          <p:cNvPr id="14" name="Text 12"/>
          <p:cNvSpPr/>
          <p:nvPr/>
        </p:nvSpPr>
        <p:spPr>
          <a:xfrm>
            <a:off x="1325880" y="3602736"/>
            <a:ext cx="1371600" cy="164592"/>
          </a:xfrm>
          <a:prstGeom prst="rect">
            <a:avLst/>
          </a:prstGeom>
          <a:noFill/>
          <a:ln/>
        </p:spPr>
        <p:txBody>
          <a:bodyPr wrap="square" lIns="0" tIns="0" rIns="0" bIns="0" rtlCol="0" anchor="ctr"/>
          <a:lstStyle/>
          <a:p>
            <a:pPr indent="0" marL="0">
              <a:buNone/>
            </a:pPr>
            <a:r>
              <a:rPr lang="en-US" sz="1350" b="1" dirty="0">
                <a:solidFill>
                  <a:srgbClr val="35C58B"/>
                </a:solidFill>
                <a:latin typeface="Arial" pitchFamily="34" charset="0"/>
                <a:ea typeface="Arial" pitchFamily="34" charset="-122"/>
                <a:cs typeface="Arial" pitchFamily="34" charset="-120"/>
              </a:rPr>
              <a:t>价值落点</a:t>
            </a:r>
            <a:endParaRPr lang="en-US" sz="1350" dirty="0"/>
          </a:p>
        </p:txBody>
      </p:sp>
      <p:sp>
        <p:nvSpPr>
          <p:cNvPr id="15" name="Text 13"/>
          <p:cNvSpPr/>
          <p:nvPr/>
        </p:nvSpPr>
        <p:spPr>
          <a:xfrm>
            <a:off x="2331720" y="3813048"/>
            <a:ext cx="5440680" cy="182880"/>
          </a:xfrm>
          <a:prstGeom prst="rect">
            <a:avLst/>
          </a:prstGeom>
          <a:noFill/>
          <a:ln/>
        </p:spPr>
        <p:txBody>
          <a:bodyPr wrap="square" lIns="0" tIns="0" rIns="0" bIns="0" rtlCol="0" anchor="ctr"/>
          <a:lstStyle/>
          <a:p>
            <a:pPr algn="l" indent="0" marL="0">
              <a:buNone/>
            </a:pPr>
            <a:r>
              <a:rPr lang="en-US" sz="1100" dirty="0">
                <a:solidFill>
                  <a:srgbClr val="E1F0EB"/>
                </a:solidFill>
                <a:latin typeface="Arial" pitchFamily="34" charset="0"/>
                <a:ea typeface="Arial" pitchFamily="34" charset="-122"/>
                <a:cs typeface="Arial" pitchFamily="34" charset="-120"/>
              </a:rPr>
              <a:t>当团队能够围绕同一空间统一写作、讨论、追踪和沉淀时，协作效率会持续提升，沟通成本会明显下降，组织也更容易形成稳定的知识底座与工作方法。</a:t>
            </a:r>
            <a:endParaRPr lang="en-US" sz="1100" dirty="0"/>
          </a:p>
        </p:txBody>
      </p:sp>
      <p:sp>
        <p:nvSpPr>
          <p:cNvPr id="16" name="Text 14"/>
          <p:cNvSpPr/>
          <p:nvPr/>
        </p:nvSpPr>
        <p:spPr>
          <a:xfrm>
            <a:off x="1828800" y="4407408"/>
            <a:ext cx="5486400" cy="146304"/>
          </a:xfrm>
          <a:prstGeom prst="rect">
            <a:avLst/>
          </a:prstGeom>
          <a:noFill/>
          <a:ln/>
        </p:spPr>
        <p:txBody>
          <a:bodyPr wrap="square" lIns="0" tIns="0" rIns="0" bIns="0" rtlCol="0" anchor="ctr"/>
          <a:lstStyle/>
          <a:p>
            <a:pPr algn="ctr" indent="0" marL="0">
              <a:buNone/>
            </a:pPr>
            <a:r>
              <a:rPr lang="en-US" sz="1050" dirty="0">
                <a:solidFill>
                  <a:srgbClr val="AAC5BD"/>
                </a:solidFill>
                <a:latin typeface="Arial" pitchFamily="34" charset="0"/>
                <a:ea typeface="Arial" pitchFamily="34" charset="-122"/>
                <a:cs typeface="Arial" pitchFamily="34" charset="-120"/>
              </a:rPr>
              <a:t>让团队围绕同一空间写作、讨论、追踪并沉淀知识。</a:t>
            </a:r>
            <a:endParaRPr lang="en-US" sz="1050" dirty="0"/>
          </a:p>
        </p:txBody>
      </p:sp>
      <p:sp>
        <p:nvSpPr>
          <p:cNvPr id="17" name="Text 15"/>
          <p:cNvSpPr/>
          <p:nvPr/>
        </p:nvSpPr>
        <p:spPr>
          <a:xfrm>
            <a:off x="7973568" y="4590288"/>
            <a:ext cx="658368" cy="182880"/>
          </a:xfrm>
          <a:prstGeom prst="rect">
            <a:avLst/>
          </a:prstGeom>
          <a:noFill/>
          <a:ln/>
        </p:spPr>
        <p:txBody>
          <a:bodyPr wrap="square" lIns="0" tIns="0" rIns="0" bIns="0" rtlCol="0" anchor="ctr"/>
          <a:lstStyle/>
          <a:p>
            <a:pPr algn="r" indent="0" marL="0">
              <a:buNone/>
            </a:pPr>
            <a:r>
              <a:rPr lang="en-US" sz="1000" dirty="0">
                <a:solidFill>
                  <a:srgbClr val="D5E5DF"/>
                </a:solidFill>
                <a:latin typeface="Arial" pitchFamily="34" charset="0"/>
                <a:ea typeface="Arial" pitchFamily="34" charset="-122"/>
                <a:cs typeface="Arial" pitchFamily="34" charset="-120"/>
              </a:rPr>
              <a:t>10/10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介绍石墨文档, 10页</dc:title>
  <dc:subject>介绍石墨文档, 10页</dc:subject>
  <dc:creator>OfficeCLI</dc:creator>
  <cp:lastModifiedBy>OfficeCLI</cp:lastModifiedBy>
  <cp:revision>1</cp:revision>
  <dcterms:created xsi:type="dcterms:W3CDTF">2026-06-29T07:57:59Z</dcterms:created>
  <dcterms:modified xsi:type="dcterms:W3CDTF">2026-06-29T07:57:59Z</dcterms:modified>
</cp:coreProperties>
</file>
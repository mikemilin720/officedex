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  <Relationship Id="rId1" Type="http://schemas.openxmlformats.org/officeDocument/2006/relationships/officeDocument" Target="ppt/presentation.xml"/>
    <Relationship Id="rId2" Type="http://schemas.openxmlformats.org/package/2006/relationships/metadata/core-properties" Target="docProps/core.xml"/>
  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zh-CN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4" d="100"/>
          <a:sy n="104" d="100"/>
        </p:scale>
        <p:origin x="-1236" y="-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</p:viewPr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slide" Target="slides/slide1.xml"/>
    <Relationship Id="rId3" Type="http://schemas.openxmlformats.org/officeDocument/2006/relationships/slide" Target="slides/slide2.xml"/>
    <Relationship Id="rId4" Type="http://schemas.openxmlformats.org/officeDocument/2006/relationships/slide" Target="slides/slide3.xml"/>
    <Relationship Id="rId5" Type="http://schemas.openxmlformats.org/officeDocument/2006/relationships/slide" Target="slides/slide4.xml"/>
    <Relationship Id="rId6" Type="http://schemas.openxmlformats.org/officeDocument/2006/relationships/slide" Target="slides/slide5.xml"/>
    <Relationship Id="rId7" Type="http://schemas.openxmlformats.org/officeDocument/2006/relationships/slide" Target="slides/slide6.xml"/>
    <Relationship Id="rId8" Type="http://schemas.openxmlformats.org/officeDocument/2006/relationships/slide" Target="slides/slide7.xml"/>
    <Relationship Id="rId9" Type="http://schemas.openxmlformats.org/officeDocument/2006/relationships/slide" Target="slides/slide8.xml"/>
    <Relationship Id="rId10" Type="http://schemas.openxmlformats.org/officeDocument/2006/relationships/slide" Target="slides/slide9.xml"/>
    <Relationship Id="rId11" Type="http://schemas.openxmlformats.org/officeDocument/2006/relationships/slide" Target="slides/slide10.xml"/>
    <Relationship Id="rId12" Type="http://schemas.openxmlformats.org/officeDocument/2006/relationships/theme" Target="theme/theme1.xml"/>
    <Relationship Id="rId13" Type="http://schemas.openxmlformats.org/officeDocument/2006/relationships/presProps" Target="presProps.xml"/>
    <Relationship Id="rId14" Type="http://schemas.openxmlformats.org/officeDocument/2006/relationships/viewProps" Target="viewProps.xml"/>
    <Relationship Id="rId15" Type="http://schemas.openxmlformats.org/officeDocument/2006/relationships/tableStyles" Target="tableStyles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  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itlePanel"/>
          <p:cNvSpPr/>
          <p:nvPr/>
        </p:nvSpPr>
        <p:spPr>
          <a:xfrm>
            <a:off x="750000" y="1400000"/>
            <a:ext cx="5500000" cy="2500000"/>
          </a:xfrm>
          <a:prstGeom prst="roundRect">
            <a:avLst>
              <a:gd name="adj" fmla="val 4000"/>
            </a:avLst>
          </a:prstGeom>
          <a:solidFill>
            <a:srgbClr val="111827">
              <a:alpha val="18000"/>
            </a:srgbClr>
          </a:solidFill>
          <a:ln w="12700">
            <a:solidFill>
              <a:srgbClr val="F97316">
                <a:alpha val="18000"/>
              </a:srgbClr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" name="Title"/>
          <p:cNvSpPr/>
          <p:nvPr/>
        </p:nvSpPr>
        <p:spPr>
          <a:xfrm>
            <a:off x="1000000" y="1850000"/>
            <a:ext cx="5000000" cy="145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l"/>
            <a:r>
              <a:rPr lang="zh-CN" sz="4400" b="1">
                <a:solidFill>
                  <a:srgbClr val="FFFFFF"/>
                </a:solidFill>
                <a:latin typeface="Aptos"/>
                <a:ea typeface="Microsoft YaHei"/>
              </a:rPr>
              <a:t>OfficeDex Launch Strategy</a:t>
            </a:r>
          </a:p>
        </p:txBody>
      </p:sp>
      <p:sp>
        <p:nvSpPr>
          <p:cNvPr id="3" name="Subtitle"/>
          <p:cNvSpPr/>
          <p:nvPr/>
        </p:nvSpPr>
        <p:spPr>
          <a:xfrm>
            <a:off x="1000000" y="3550000"/>
            <a:ext cx="5000000" cy="8500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r>
              <a:rPr lang="zh-CN" sz="2000">
                <a:solidFill>
                  <a:srgbClr val="E5E7EB"/>
                </a:solidFill>
                <a:latin typeface="Aptos"/>
                <a:ea typeface="Microsoft YaHei"/>
              </a:rPr>
              <a:t>OfficeDex can win by turning fragmented daily office work into one AI-assisted workflow with measurable time savings and enterprise-ready control</a:t>
            </a:r>
          </a:p>
        </p:txBody>
      </p:sp>
      <p:sp>
        <p:nvSpPr>
          <p:cNvPr id="10" name="FooterRule"/>
          <p:cNvSpPr/>
          <p:nvPr/>
        </p:nvSpPr>
        <p:spPr>
          <a:xfrm>
            <a:off x="500000" y="6200000"/>
            <a:ext cx="11100000" cy="0"/>
          </a:xfrm>
          <a:prstGeom prst="line">
            <a:avLst/>
          </a:prstGeom>
          <a:ln w="12700">
            <a:solidFill>
              <a:srgbClr val="F97316">
                <a:alpha val="34000"/>
              </a:srgbClr>
            </a:solidFill>
          </a:ln>
        </p:spPr>
      </p:sp>
      <p:sp>
        <p:nvSpPr>
          <p:cNvPr id="12" name="PageNumber"/>
          <p:cNvSpPr/>
          <p:nvPr/>
        </p:nvSpPr>
        <p:spPr>
          <a:xfrm>
            <a:off x="10300000" y="6300000"/>
            <a:ext cx="1200000" cy="26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r"/>
            <a:r>
              <a:rPr lang="zh-CN" sz="900">
                <a:solidFill>
                  <a:srgbClr val="E5E7EB">
                    <a:alpha val="56000"/>
                  </a:srgbClr>
                </a:solidFill>
              </a:rPr>
              <a:t>01/10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Deco"/>
          <p:cNvSpPr/>
          <p:nvPr/>
        </p:nvSpPr>
        <p:spPr>
          <a:xfrm>
            <a:off x="500000" y="350000"/>
            <a:ext cx="80000" cy="420000"/>
          </a:xfrm>
          <a:prstGeom prst="rect">
            <a:avLst/>
          </a:prstGeom>
          <a:solidFill>
            <a:srgbClr val="F97316"/>
          </a:solidFill>
          <a:ln>
            <a:noFill/>
          </a:ln>
        </p:spPr>
      </p:sp>
      <p:sp>
        <p:nvSpPr>
          <p:cNvPr id="2" name="Title"/>
          <p:cNvSpPr/>
          <p:nvPr/>
        </p:nvSpPr>
        <p:spPr>
          <a:xfrm>
            <a:off x="700000" y="300000"/>
            <a:ext cx="10800000" cy="62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l"/>
            <a:r>
              <a:rPr lang="zh-CN" sz="3200" b="1">
                <a:solidFill>
                  <a:srgbClr val="FFFFFF"/>
                </a:solidFill>
                <a:latin typeface="Aptos"/>
                <a:ea typeface="Microsoft YaHei"/>
              </a:rPr>
              <a:t>Executive Summary</a:t>
            </a:r>
          </a:p>
        </p:txBody>
      </p:sp>
      <p:sp>
        <p:nvSpPr>
          <p:cNvPr id="5" name="Subtitle"/>
          <p:cNvSpPr/>
          <p:nvPr/>
        </p:nvSpPr>
        <p:spPr>
          <a:xfrm>
            <a:off x="700000" y="980000"/>
            <a:ext cx="10800000" cy="8400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r>
              <a:rPr lang="zh-CN" sz="2000">
                <a:solidFill>
                  <a:srgbClr val="E5E7EB">
                    <a:alpha val="80000"/>
                  </a:srgbClr>
                </a:solidFill>
                <a:latin typeface="Aptos"/>
                <a:ea typeface="Microsoft YaHei"/>
              </a:rPr>
              <a:t>The launch case is strongest where teams lose time across repetitive writing.</a:t>
            </a:r>
          </a:p>
        </p:txBody>
      </p:sp>
      <p:sp>
        <p:nvSpPr>
          <p:cNvPr id="40" name="SectionCard1"/>
          <p:cNvSpPr/>
          <p:nvPr/>
        </p:nvSpPr>
        <p:spPr>
          <a:xfrm>
            <a:off x="700000" y="2250000"/>
            <a:ext cx="5290000" cy="3600000"/>
          </a:xfrm>
          <a:prstGeom prst="roundRect">
            <a:avLst>
              <a:gd name="adj" fmla="val 4000"/>
            </a:avLst>
          </a:prstGeom>
          <a:solidFill>
            <a:srgbClr val="312424">
              <a:alpha val="9000"/>
            </a:srgbClr>
          </a:solidFill>
          <a:ln w="12700">
            <a:solidFill>
              <a:srgbClr val="F97316">
                <a:alpha val="18000"/>
              </a:srgbClr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2" name="SectionBody1"/>
          <p:cNvSpPr/>
          <p:nvPr/>
        </p:nvSpPr>
        <p:spPr>
          <a:xfrm>
            <a:off x="700000" y="2470000"/>
            <a:ext cx="5290000" cy="3340000"/>
          </a:xfrm>
          <a:prstGeom prst="rect">
            <a:avLst/>
          </a:prstGeom>
        </p:spPr>
        <p:txBody>
          <a:bodyPr lIns="220000" tIns="200000" rIns="220000" bIns="150000" anchor="t">
            <a:normAutofit/>
          </a:bodyPr>
          <a:lstStyle/>
          <a:p>
            <a:pPr algn="l"/>
            <a:r>
              <a:rPr lang="zh-CN" sz="1650" b="1">
                <a:solidFill>
                  <a:srgbClr val="E5E7EB"/>
                </a:solidFill>
                <a:latin typeface="Aptos"/>
                <a:ea typeface="Microsoft YaHei"/>
              </a:rPr>
              <a:t>🧩 Tool Fragmentation</a:t>
            </a:r>
          </a:p>
          <a:p>
            <a:pPr algn="l">
              <a:spcBef>
                <a:spcPts val="300"/>
              </a:spcBef>
            </a:pPr>
            <a:r>
              <a:rPr lang="zh-CN" sz="1380">
                <a:solidFill>
                  <a:srgbClr val="E5E7EB"/>
                </a:solidFill>
                <a:latin typeface="Aptos"/>
                <a:ea typeface="Microsoft YaHei"/>
              </a:rPr>
              <a:t>Knowledge workers switch across 6 to 9 apps each day.</a:t>
            </a:r>
          </a:p>
        </p:txBody>
      </p:sp>
      <p:sp>
        <p:nvSpPr>
          <p:cNvPr id="43" name="SectionCard2"/>
          <p:cNvSpPr/>
          <p:nvPr/>
        </p:nvSpPr>
        <p:spPr>
          <a:xfrm>
            <a:off x="6210000" y="2250000"/>
            <a:ext cx="5290000" cy="3600000"/>
          </a:xfrm>
          <a:prstGeom prst="roundRect">
            <a:avLst>
              <a:gd name="adj" fmla="val 4000"/>
            </a:avLst>
          </a:prstGeom>
          <a:solidFill>
            <a:srgbClr val="1E1744">
              <a:alpha val="9000"/>
            </a:srgbClr>
          </a:solidFill>
          <a:ln w="12700">
            <a:solidFill>
              <a:srgbClr val="F97316">
                <a:alpha val="18000"/>
              </a:srgbClr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5" name="SectionBody2"/>
          <p:cNvSpPr/>
          <p:nvPr/>
        </p:nvSpPr>
        <p:spPr>
          <a:xfrm>
            <a:off x="6210000" y="2470000"/>
            <a:ext cx="5290000" cy="3340000"/>
          </a:xfrm>
          <a:prstGeom prst="rect">
            <a:avLst/>
          </a:prstGeom>
        </p:spPr>
        <p:txBody>
          <a:bodyPr lIns="220000" tIns="200000" rIns="220000" bIns="150000" anchor="t">
            <a:normAutofit/>
          </a:bodyPr>
          <a:lstStyle/>
          <a:p>
            <a:pPr algn="l"/>
            <a:r>
              <a:rPr lang="zh-CN" sz="1650" b="1">
                <a:solidFill>
                  <a:srgbClr val="E5E7EB"/>
                </a:solidFill>
                <a:latin typeface="Aptos"/>
                <a:ea typeface="Microsoft YaHei"/>
              </a:rPr>
              <a:t>⏱️ Manual Work Overload</a:t>
            </a:r>
          </a:p>
          <a:p>
            <a:pPr algn="l">
              <a:spcBef>
                <a:spcPts val="300"/>
              </a:spcBef>
            </a:pPr>
            <a:r>
              <a:rPr lang="zh-CN" sz="1380">
                <a:solidFill>
                  <a:srgbClr val="E5E7EB"/>
                </a:solidFill>
                <a:latin typeface="Aptos"/>
                <a:ea typeface="Microsoft YaHei"/>
              </a:rPr>
              <a:t>Professionals still spend 2 to 3 hours per day on notes.</a:t>
            </a:r>
          </a:p>
        </p:txBody>
      </p:sp>
      <p:sp>
        <p:nvSpPr>
          <p:cNvPr id="10" name="FooterRule"/>
          <p:cNvSpPr/>
          <p:nvPr/>
        </p:nvSpPr>
        <p:spPr>
          <a:xfrm>
            <a:off x="500000" y="6200000"/>
            <a:ext cx="11100000" cy="0"/>
          </a:xfrm>
          <a:prstGeom prst="line">
            <a:avLst/>
          </a:prstGeom>
          <a:ln w="12700">
            <a:solidFill>
              <a:srgbClr val="F97316">
                <a:alpha val="34000"/>
              </a:srgbClr>
            </a:solidFill>
          </a:ln>
        </p:spPr>
      </p:sp>
      <p:sp>
        <p:nvSpPr>
          <p:cNvPr id="12" name="PageNumber"/>
          <p:cNvSpPr/>
          <p:nvPr/>
        </p:nvSpPr>
        <p:spPr>
          <a:xfrm>
            <a:off x="10300000" y="6300000"/>
            <a:ext cx="1200000" cy="26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r"/>
            <a:r>
              <a:rPr lang="zh-CN" sz="900">
                <a:solidFill>
                  <a:srgbClr val="E5E7EB">
                    <a:alpha val="56000"/>
                  </a:srgbClr>
                </a:solidFill>
              </a:rPr>
              <a:t>02/10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Deco"/>
          <p:cNvSpPr/>
          <p:nvPr/>
        </p:nvSpPr>
        <p:spPr>
          <a:xfrm>
            <a:off x="500000" y="350000"/>
            <a:ext cx="80000" cy="960000"/>
          </a:xfrm>
          <a:prstGeom prst="rect">
            <a:avLst/>
          </a:prstGeom>
          <a:solidFill>
            <a:srgbClr val="F97316"/>
          </a:solidFill>
          <a:ln>
            <a:noFill/>
          </a:ln>
        </p:spPr>
      </p:sp>
      <p:sp>
        <p:nvSpPr>
          <p:cNvPr id="2" name="Title"/>
          <p:cNvSpPr/>
          <p:nvPr/>
        </p:nvSpPr>
        <p:spPr>
          <a:xfrm>
            <a:off x="700000" y="300000"/>
            <a:ext cx="10800000" cy="116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l"/>
            <a:r>
              <a:rPr lang="zh-CN" sz="2500" b="1">
                <a:solidFill>
                  <a:srgbClr val="FFFFFF"/>
                </a:solidFill>
                <a:latin typeface="Aptos"/>
                <a:ea typeface="Microsoft YaHei"/>
              </a:rPr>
              <a:t>The Productivity Problem Is Large and Immediate (cont.)</a:t>
            </a:r>
          </a:p>
        </p:txBody>
      </p:sp>
      <p:sp>
        <p:nvSpPr>
          <p:cNvPr id="5" name="Subtitle"/>
          <p:cNvSpPr/>
          <p:nvPr/>
        </p:nvSpPr>
        <p:spPr>
          <a:xfrm>
            <a:off x="700000" y="1520000"/>
            <a:ext cx="10800000" cy="8400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r>
              <a:rPr lang="zh-CN" sz="2000">
                <a:solidFill>
                  <a:srgbClr val="E5E7EB">
                    <a:alpha val="80000"/>
                  </a:srgbClr>
                </a:solidFill>
                <a:latin typeface="Aptos"/>
                <a:ea typeface="Microsoft YaHei"/>
              </a:rPr>
              <a:t>The launch case is strongest where teams lose time across repetitive writing.</a:t>
            </a:r>
          </a:p>
        </p:txBody>
      </p:sp>
      <p:sp>
        <p:nvSpPr>
          <p:cNvPr id="40" name="Grid2x2Card1"/>
          <p:cNvSpPr/>
          <p:nvPr/>
        </p:nvSpPr>
        <p:spPr>
          <a:xfrm>
            <a:off x="700000" y="3120000"/>
            <a:ext cx="5290000" cy="2400000"/>
          </a:xfrm>
          <a:prstGeom prst="roundRect">
            <a:avLst>
              <a:gd name="adj" fmla="val 4000"/>
            </a:avLst>
          </a:prstGeom>
          <a:solidFill>
            <a:srgbClr val="111827">
              <a:alpha val="9000"/>
            </a:srgbClr>
          </a:solidFill>
          <a:ln w="12700">
            <a:solidFill>
              <a:srgbClr val="F97316">
                <a:alpha val="18000"/>
              </a:srgbClr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Grid2x2Badge1"/>
          <p:cNvSpPr/>
          <p:nvPr/>
        </p:nvSpPr>
        <p:spPr>
          <a:xfrm>
            <a:off x="900000" y="3320000"/>
            <a:ext cx="380000" cy="3800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 anchor="ctr" lIns="0" tIns="0" rIns="0" bIns="0">
            <a:normAutofit/>
          </a:bodyPr>
          <a:lstStyle/>
          <a:p>
            <a:pPr algn="ctr"/>
            <a:r>
              <a:rPr lang="zh-CN" sz="1800" b="1">
                <a:solidFill>
                  <a:srgbClr val="FFFFFF"/>
                </a:solidFill>
                <a:latin typeface="Aptos"/>
                <a:ea typeface="Microsoft YaHei"/>
              </a:rPr>
              <a:t>🔎</a:t>
            </a:r>
          </a:p>
        </p:txBody>
      </p:sp>
      <p:sp>
        <p:nvSpPr>
          <p:cNvPr id="42" name="Grid2x2Head1"/>
          <p:cNvSpPr/>
          <p:nvPr/>
        </p:nvSpPr>
        <p:spPr>
          <a:xfrm>
            <a:off x="1360000" y="3320000"/>
            <a:ext cx="4430000" cy="400000"/>
          </a:xfrm>
          <a:prstGeom prst="rect">
            <a:avLst/>
          </a:prstGeom>
        </p:spPr>
        <p:txBody>
          <a:bodyPr anchor="b" lIns="200000" rIns="200000">
            <a:normAutofit/>
          </a:bodyPr>
          <a:lstStyle/>
          <a:p>
            <a:pPr algn="l"/>
            <a:r>
              <a:rPr lang="zh-CN" sz="1600" b="1">
                <a:solidFill>
                  <a:srgbClr val="F97316"/>
                </a:solidFill>
                <a:latin typeface="Aptos"/>
                <a:ea typeface="Microsoft YaHei"/>
              </a:rPr>
              <a:t>Search Friction</a:t>
            </a:r>
          </a:p>
        </p:txBody>
      </p:sp>
      <p:sp>
        <p:nvSpPr>
          <p:cNvPr id="43" name="Grid2x2Detail1"/>
          <p:cNvSpPr/>
          <p:nvPr/>
        </p:nvSpPr>
        <p:spPr>
          <a:xfrm>
            <a:off x="900000" y="3800000"/>
            <a:ext cx="4890000" cy="1520000"/>
          </a:xfrm>
          <a:prstGeom prst="rect">
            <a:avLst/>
          </a:prstGeom>
        </p:spPr>
        <p:txBody>
          <a:bodyPr anchor="t" lIns="200000" rIns="200000">
            <a:normAutofit/>
          </a:bodyPr>
          <a:lstStyle/>
          <a:p>
            <a:pPr algn="l"/>
            <a:r>
              <a:rPr lang="zh-CN" sz="1350">
                <a:solidFill>
                  <a:srgbClr val="E5E7EB"/>
                </a:solidFill>
                <a:latin typeface="Aptos"/>
                <a:ea typeface="Microsoft YaHei"/>
              </a:rPr>
              <a:t>Employees often need 10 to 15 minutes to locate the right version of a file, decision note, or customer update, delaying decisions and execution</a:t>
            </a:r>
          </a:p>
        </p:txBody>
      </p:sp>
      <p:sp>
        <p:nvSpPr>
          <p:cNvPr id="10" name="FooterRule"/>
          <p:cNvSpPr/>
          <p:nvPr/>
        </p:nvSpPr>
        <p:spPr>
          <a:xfrm>
            <a:off x="500000" y="6200000"/>
            <a:ext cx="11100000" cy="0"/>
          </a:xfrm>
          <a:prstGeom prst="line">
            <a:avLst/>
          </a:prstGeom>
          <a:ln w="12700">
            <a:solidFill>
              <a:srgbClr val="F97316">
                <a:alpha val="34000"/>
              </a:srgbClr>
            </a:solidFill>
          </a:ln>
        </p:spPr>
      </p:sp>
      <p:sp>
        <p:nvSpPr>
          <p:cNvPr id="12" name="PageNumber"/>
          <p:cNvSpPr/>
          <p:nvPr/>
        </p:nvSpPr>
        <p:spPr>
          <a:xfrm>
            <a:off x="10300000" y="6300000"/>
            <a:ext cx="1200000" cy="26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r"/>
            <a:r>
              <a:rPr lang="zh-CN" sz="900">
                <a:solidFill>
                  <a:srgbClr val="E5E7EB">
                    <a:alpha val="56000"/>
                  </a:srgbClr>
                </a:solidFill>
              </a:rPr>
              <a:t>03/10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Deco"/>
          <p:cNvSpPr/>
          <p:nvPr/>
        </p:nvSpPr>
        <p:spPr>
          <a:xfrm>
            <a:off x="500000" y="350000"/>
            <a:ext cx="80000" cy="660000"/>
          </a:xfrm>
          <a:prstGeom prst="rect">
            <a:avLst/>
          </a:prstGeom>
          <a:solidFill>
            <a:srgbClr val="F97316"/>
          </a:solidFill>
          <a:ln>
            <a:noFill/>
          </a:ln>
        </p:spPr>
      </p:sp>
      <p:sp>
        <p:nvSpPr>
          <p:cNvPr id="2" name="Title"/>
          <p:cNvSpPr/>
          <p:nvPr/>
        </p:nvSpPr>
        <p:spPr>
          <a:xfrm>
            <a:off x="700000" y="300000"/>
            <a:ext cx="10800000" cy="86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l"/>
            <a:r>
              <a:rPr lang="zh-CN" sz="2800" b="1">
                <a:solidFill>
                  <a:srgbClr val="FFFFFF"/>
                </a:solidFill>
                <a:latin typeface="Aptos"/>
                <a:ea typeface="Microsoft YaHei"/>
              </a:rPr>
              <a:t>Primary Audience Segments</a:t>
            </a:r>
          </a:p>
        </p:txBody>
      </p:sp>
      <p:sp>
        <p:nvSpPr>
          <p:cNvPr id="5" name="Subtitle"/>
          <p:cNvSpPr/>
          <p:nvPr/>
        </p:nvSpPr>
        <p:spPr>
          <a:xfrm>
            <a:off x="700000" y="1220000"/>
            <a:ext cx="10800000" cy="8400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r>
              <a:rPr lang="zh-CN" sz="2000">
                <a:solidFill>
                  <a:srgbClr val="E5E7EB">
                    <a:alpha val="80000"/>
                  </a:srgbClr>
                </a:solidFill>
                <a:latin typeface="Aptos"/>
                <a:ea typeface="Microsoft YaHei"/>
              </a:rPr>
              <a:t>The best initial users are cross-functional teams with high communication volume.</a:t>
            </a:r>
          </a:p>
        </p:txBody>
      </p:sp>
      <p:sp>
        <p:nvSpPr>
          <p:cNvPr id="30" name="BulletsBandPanel"/>
          <p:cNvSpPr/>
          <p:nvPr/>
        </p:nvSpPr>
        <p:spPr>
          <a:xfrm>
            <a:off x="700000" y="2240000"/>
            <a:ext cx="10800000" cy="760000"/>
          </a:xfrm>
          <a:prstGeom prst="roundRect">
            <a:avLst>
              <a:gd name="adj" fmla="val 4000"/>
            </a:avLst>
          </a:prstGeom>
          <a:solidFill>
            <a:srgbClr val="111827">
              <a:alpha val="9000"/>
            </a:srgbClr>
          </a:solidFill>
          <a:ln w="12700">
            <a:solidFill>
              <a:srgbClr val="F97316">
                <a:alpha val="12000"/>
              </a:srgbClr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BulletsBandText"/>
          <p:cNvSpPr/>
          <p:nvPr/>
        </p:nvSpPr>
        <p:spPr>
          <a:xfrm>
            <a:off x="920000" y="2410000"/>
            <a:ext cx="10360000" cy="420000"/>
          </a:xfrm>
          <a:prstGeom prst="rect">
            <a:avLst/>
          </a:prstGeom>
        </p:spPr>
        <p:txBody>
          <a:bodyPr anchor="ctr" lIns="40000" rIns="40000">
            <a:normAutofit/>
          </a:bodyPr>
          <a:lstStyle/>
          <a:p>
            <a:pPr algn="l"/>
            <a:r>
              <a:rPr lang="zh-CN" sz="2200" b="1">
                <a:solidFill>
                  <a:srgbClr val="E5E7EB"/>
                </a:solidFill>
                <a:latin typeface="Aptos"/>
                <a:ea typeface="Microsoft YaHei"/>
              </a:rPr>
              <a:t>Managers and Team Leads：They need faster meeting summaries.</a:t>
            </a:r>
          </a:p>
        </p:txBody>
      </p:sp>
      <p:sp>
        <p:nvSpPr>
          <p:cNvPr id="3" name="Content"/>
          <p:cNvSpPr/>
          <p:nvPr/>
        </p:nvSpPr>
        <p:spPr>
          <a:xfrm>
            <a:off x="700000" y="3220000"/>
            <a:ext cx="10800000" cy="2880000"/>
          </a:xfrm>
          <a:prstGeom prst="rect">
            <a:avLst/>
          </a:prstGeom>
        </p:spPr>
        <p:txBody>
          <a:bodyPr anchor="t" lIns="40000" rIns="40000">
            <a:normAutofit/>
          </a:bodyPr>
          <a:lstStyle/>
          <a:p>
            <a:pPr marL="342900" indent="-342900" algn="l">
              <a:spcBef>
                <a:spcPts val="1100"/>
              </a:spcBef>
              <a:buFont typeface="Arial"/>
              <a:buChar char="●"/>
            </a:pPr>
            <a:r>
              <a:rPr lang="zh-CN" sz="2200">
                <a:solidFill>
                  <a:srgbClr val="E5E7EB"/>
                </a:solidFill>
                <a:latin typeface="Aptos"/>
                <a:ea typeface="Microsoft YaHei"/>
              </a:rPr>
              <a:t>Sales and Customer Success：They benefit from account briefs.</a:t>
            </a:r>
          </a:p>
        </p:txBody>
      </p:sp>
      <p:sp>
        <p:nvSpPr>
          <p:cNvPr id="10" name="FooterRule"/>
          <p:cNvSpPr/>
          <p:nvPr/>
        </p:nvSpPr>
        <p:spPr>
          <a:xfrm>
            <a:off x="500000" y="6200000"/>
            <a:ext cx="11100000" cy="0"/>
          </a:xfrm>
          <a:prstGeom prst="line">
            <a:avLst/>
          </a:prstGeom>
          <a:ln w="12700">
            <a:solidFill>
              <a:srgbClr val="F97316">
                <a:alpha val="34000"/>
              </a:srgbClr>
            </a:solidFill>
          </a:ln>
        </p:spPr>
      </p:sp>
      <p:sp>
        <p:nvSpPr>
          <p:cNvPr id="12" name="PageNumber"/>
          <p:cNvSpPr/>
          <p:nvPr/>
        </p:nvSpPr>
        <p:spPr>
          <a:xfrm>
            <a:off x="10300000" y="6300000"/>
            <a:ext cx="1200000" cy="26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r"/>
            <a:r>
              <a:rPr lang="zh-CN" sz="900">
                <a:solidFill>
                  <a:srgbClr val="E5E7EB">
                    <a:alpha val="56000"/>
                  </a:srgbClr>
                </a:solidFill>
              </a:rPr>
              <a:t>04/10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Deco"/>
          <p:cNvSpPr/>
          <p:nvPr/>
        </p:nvSpPr>
        <p:spPr>
          <a:xfrm>
            <a:off x="500000" y="350000"/>
            <a:ext cx="80000" cy="660000"/>
          </a:xfrm>
          <a:prstGeom prst="rect">
            <a:avLst/>
          </a:prstGeom>
          <a:solidFill>
            <a:srgbClr val="F97316"/>
          </a:solidFill>
          <a:ln>
            <a:noFill/>
          </a:ln>
        </p:spPr>
      </p:sp>
      <p:sp>
        <p:nvSpPr>
          <p:cNvPr id="2" name="Title"/>
          <p:cNvSpPr/>
          <p:nvPr/>
        </p:nvSpPr>
        <p:spPr>
          <a:xfrm>
            <a:off x="700000" y="300000"/>
            <a:ext cx="10800000" cy="86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l"/>
            <a:r>
              <a:rPr lang="zh-CN" sz="2800" b="1">
                <a:solidFill>
                  <a:srgbClr val="FFFFFF"/>
                </a:solidFill>
                <a:latin typeface="Aptos"/>
                <a:ea typeface="Microsoft YaHei"/>
              </a:rPr>
              <a:t>Primary Audience Segments (cont.)</a:t>
            </a:r>
          </a:p>
        </p:txBody>
      </p:sp>
      <p:sp>
        <p:nvSpPr>
          <p:cNvPr id="5" name="Subtitle"/>
          <p:cNvSpPr/>
          <p:nvPr/>
        </p:nvSpPr>
        <p:spPr>
          <a:xfrm>
            <a:off x="700000" y="1220000"/>
            <a:ext cx="10800000" cy="8400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r>
              <a:rPr lang="zh-CN" sz="2000">
                <a:solidFill>
                  <a:srgbClr val="E5E7EB">
                    <a:alpha val="80000"/>
                  </a:srgbClr>
                </a:solidFill>
                <a:latin typeface="Aptos"/>
                <a:ea typeface="Microsoft YaHei"/>
              </a:rPr>
              <a:t>The best initial users are cross-functional teams with high communication volume.</a:t>
            </a:r>
          </a:p>
        </p:txBody>
      </p:sp>
      <p:sp>
        <p:nvSpPr>
          <p:cNvPr id="20" name="PointCard1"/>
          <p:cNvSpPr/>
          <p:nvPr/>
        </p:nvSpPr>
        <p:spPr>
          <a:xfrm>
            <a:off x="700000" y="2240000"/>
            <a:ext cx="10800000" cy="1140000"/>
          </a:xfrm>
          <a:prstGeom prst="roundRect">
            <a:avLst>
              <a:gd name="adj" fmla="val 4000"/>
            </a:avLst>
          </a:prstGeom>
          <a:solidFill>
            <a:srgbClr val="312424">
              <a:alpha val="9000"/>
            </a:srgbClr>
          </a:solidFill>
          <a:ln w="12700">
            <a:solidFill>
              <a:srgbClr val="F97316">
                <a:alpha val="16000"/>
              </a:srgbClr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 lIns="260000" tIns="240000" rIns="240000" bIns="180000" anchor="ctr">
            <a:normAutofit/>
          </a:bodyPr>
          <a:lstStyle/>
          <a:p>
            <a:pPr algn="l"/>
            <a:r>
              <a:rPr lang="zh-CN" sz="2100">
                <a:solidFill>
                  <a:srgbClr val="E5E7EB"/>
                </a:solidFill>
                <a:latin typeface="Aptos"/>
                <a:ea typeface="Microsoft YaHei"/>
              </a:rPr>
              <a:t>Generic AI Assistants.</a:t>
            </a:r>
          </a:p>
        </p:txBody>
      </p:sp>
      <p:sp>
        <p:nvSpPr>
          <p:cNvPr id="22" name="PointCard2"/>
          <p:cNvSpPr/>
          <p:nvPr/>
        </p:nvSpPr>
        <p:spPr>
          <a:xfrm>
            <a:off x="700000" y="3600000"/>
            <a:ext cx="10800000" cy="1140000"/>
          </a:xfrm>
          <a:prstGeom prst="roundRect">
            <a:avLst>
              <a:gd name="adj" fmla="val 4000"/>
            </a:avLst>
          </a:prstGeom>
          <a:solidFill>
            <a:srgbClr val="1E1744">
              <a:alpha val="9000"/>
            </a:srgbClr>
          </a:solidFill>
          <a:ln w="12700">
            <a:solidFill>
              <a:srgbClr val="F97316">
                <a:alpha val="16000"/>
              </a:srgbClr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 lIns="260000" tIns="240000" rIns="240000" bIns="180000" anchor="ctr">
            <a:normAutofit/>
          </a:bodyPr>
          <a:lstStyle/>
          <a:p>
            <a:pPr algn="l"/>
            <a:r>
              <a:rPr lang="zh-CN" sz="2100">
                <a:solidFill>
                  <a:srgbClr val="E5E7EB"/>
                </a:solidFill>
                <a:latin typeface="Aptos"/>
                <a:ea typeface="Microsoft YaHei"/>
              </a:rPr>
              <a:t>Traditional Productivity Suites.</a:t>
            </a:r>
          </a:p>
        </p:txBody>
      </p:sp>
      <p:sp>
        <p:nvSpPr>
          <p:cNvPr id="24" name="PointCard3"/>
          <p:cNvSpPr/>
          <p:nvPr/>
        </p:nvSpPr>
        <p:spPr>
          <a:xfrm>
            <a:off x="700000" y="4960000"/>
            <a:ext cx="10800000" cy="1140000"/>
          </a:xfrm>
          <a:prstGeom prst="roundRect">
            <a:avLst>
              <a:gd name="adj" fmla="val 4000"/>
            </a:avLst>
          </a:prstGeom>
          <a:solidFill>
            <a:srgbClr val="113731">
              <a:alpha val="9000"/>
            </a:srgbClr>
          </a:solidFill>
          <a:ln w="12700">
            <a:solidFill>
              <a:srgbClr val="F97316">
                <a:alpha val="16000"/>
              </a:srgbClr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 lIns="260000" tIns="240000" rIns="240000" bIns="180000" anchor="ctr">
            <a:normAutofit/>
          </a:bodyPr>
          <a:lstStyle/>
          <a:p>
            <a:pPr algn="l"/>
            <a:r>
              <a:rPr lang="zh-CN" sz="2100">
                <a:solidFill>
                  <a:srgbClr val="E5E7EB"/>
                </a:solidFill>
                <a:latin typeface="Aptos"/>
                <a:ea typeface="Microsoft YaHei"/>
              </a:rPr>
              <a:t>OfficeDex Advantage: Combines AI drafting, meeting intelligence, file search, and team workflows in one workspace designed to save 20% to 30% of weekly admin time</a:t>
            </a:r>
          </a:p>
        </p:txBody>
      </p:sp>
      <p:sp>
        <p:nvSpPr>
          <p:cNvPr id="10" name="FooterRule"/>
          <p:cNvSpPr/>
          <p:nvPr/>
        </p:nvSpPr>
        <p:spPr>
          <a:xfrm>
            <a:off x="500000" y="6200000"/>
            <a:ext cx="11100000" cy="0"/>
          </a:xfrm>
          <a:prstGeom prst="line">
            <a:avLst/>
          </a:prstGeom>
          <a:ln w="12700">
            <a:solidFill>
              <a:srgbClr val="F97316">
                <a:alpha val="34000"/>
              </a:srgbClr>
            </a:solidFill>
          </a:ln>
        </p:spPr>
      </p:sp>
      <p:sp>
        <p:nvSpPr>
          <p:cNvPr id="12" name="PageNumber"/>
          <p:cNvSpPr/>
          <p:nvPr/>
        </p:nvSpPr>
        <p:spPr>
          <a:xfrm>
            <a:off x="10300000" y="6300000"/>
            <a:ext cx="1200000" cy="26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r"/>
            <a:r>
              <a:rPr lang="zh-CN" sz="900">
                <a:solidFill>
                  <a:srgbClr val="E5E7EB">
                    <a:alpha val="56000"/>
                  </a:srgbClr>
                </a:solidFill>
              </a:rPr>
              <a:t>05/10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00000" y="250000"/>
            <a:ext cx="10800000" cy="65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l"/>
            <a:r>
              <a:rPr lang="zh-CN" sz="3200" b="1">
                <a:solidFill>
                  <a:srgbClr val="FFFFFF"/>
                </a:solidFill>
                <a:latin typeface="Aptos"/>
                <a:ea typeface="Microsoft YaHei"/>
              </a:rPr>
              <a:t>OfficeDex Positioning in the Market</a:t>
            </a:r>
          </a:p>
        </p:txBody>
      </p:sp>
      <p:sp>
        <p:nvSpPr>
          <p:cNvPr id="6" name="Subtitle"/>
          <p:cNvSpPr/>
          <p:nvPr/>
        </p:nvSpPr>
        <p:spPr>
          <a:xfrm>
            <a:off x="700000" y="900000"/>
            <a:ext cx="10800000" cy="8400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r>
              <a:rPr lang="zh-CN" sz="2000">
                <a:solidFill>
                  <a:srgbClr val="E5E7EB">
                    <a:alpha val="80000"/>
                  </a:srgbClr>
                </a:solidFill>
                <a:latin typeface="Aptos"/>
                <a:ea typeface="Microsoft YaHei"/>
              </a:rPr>
              <a:t>OfficeDex should be positioned as an execution layer for daily work.</a:t>
            </a:r>
          </a:p>
        </p:txBody>
      </p:sp>
      <p:sp>
        <p:nvSpPr>
          <p:cNvPr id="40" name="ComparePanel1"/>
          <p:cNvSpPr/>
          <p:nvPr/>
        </p:nvSpPr>
        <p:spPr>
          <a:xfrm>
            <a:off x="700000" y="1700000"/>
            <a:ext cx="3200000" cy="3000000"/>
          </a:xfrm>
          <a:prstGeom prst="roundRect">
            <a:avLst>
              <a:gd name="adj" fmla="val 4000"/>
            </a:avLst>
          </a:prstGeom>
          <a:solidFill>
            <a:srgbClr val="111827">
              <a:alpha val="9000"/>
            </a:srgbClr>
          </a:solidFill>
          <a:ln w="12700">
            <a:solidFill>
              <a:srgbClr val="F97316">
                <a:alpha val="12000"/>
              </a:srgbClr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CompareHeader1"/>
          <p:cNvSpPr/>
          <p:nvPr/>
        </p:nvSpPr>
        <p:spPr>
          <a:xfrm>
            <a:off x="880000" y="1960000"/>
            <a:ext cx="2840000" cy="460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zh-CN" sz="1800" b="1">
                <a:solidFill>
                  <a:srgbClr val="F97316"/>
                </a:solidFill>
                <a:latin typeface="Aptos"/>
                <a:ea typeface="Microsoft YaHei"/>
              </a:rPr>
              <a:t>01</a:t>
            </a:r>
          </a:p>
        </p:txBody>
      </p:sp>
      <p:sp>
        <p:nvSpPr>
          <p:cNvPr id="42" name="CompareDetail1"/>
          <p:cNvSpPr/>
          <p:nvPr/>
        </p:nvSpPr>
        <p:spPr>
          <a:xfrm>
            <a:off x="880000" y="2580000"/>
            <a:ext cx="2840000" cy="1500000"/>
          </a:xfrm>
          <a:prstGeom prst="rect">
            <a:avLst/>
          </a:prstGeom>
        </p:spPr>
        <p:txBody>
          <a:bodyPr anchor="t" lIns="180000" rIns="180000">
            <a:normAutofit/>
          </a:bodyPr>
          <a:lstStyle/>
          <a:p>
            <a:pPr algn="l"/>
            <a:r>
              <a:rPr lang="zh-CN" sz="1600">
                <a:solidFill>
                  <a:srgbClr val="E5E7EB"/>
                </a:solidFill>
                <a:latin typeface="Aptos"/>
                <a:ea typeface="Microsoft YaHei"/>
              </a:rPr>
              <a:t>Generic AI Assistants.</a:t>
            </a:r>
          </a:p>
        </p:txBody>
      </p:sp>
      <p:sp>
        <p:nvSpPr>
          <p:cNvPr id="43" name="ComparePanel2"/>
          <p:cNvSpPr/>
          <p:nvPr/>
        </p:nvSpPr>
        <p:spPr>
          <a:xfrm>
            <a:off x="4450000" y="1700000"/>
            <a:ext cx="3200000" cy="3000000"/>
          </a:xfrm>
          <a:prstGeom prst="roundRect">
            <a:avLst>
              <a:gd name="adj" fmla="val 4000"/>
            </a:avLst>
          </a:prstGeom>
          <a:solidFill>
            <a:srgbClr val="111827">
              <a:alpha val="9000"/>
            </a:srgbClr>
          </a:solidFill>
          <a:ln w="12700">
            <a:solidFill>
              <a:srgbClr val="F97316">
                <a:alpha val="12000"/>
              </a:srgbClr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4" name="CompareHeader2"/>
          <p:cNvSpPr/>
          <p:nvPr/>
        </p:nvSpPr>
        <p:spPr>
          <a:xfrm>
            <a:off x="4630000" y="1960000"/>
            <a:ext cx="2840000" cy="460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zh-CN" sz="1800" b="1">
                <a:solidFill>
                  <a:srgbClr val="F97316"/>
                </a:solidFill>
                <a:latin typeface="Aptos"/>
                <a:ea typeface="Microsoft YaHei"/>
              </a:rPr>
              <a:t>02</a:t>
            </a:r>
          </a:p>
        </p:txBody>
      </p:sp>
      <p:sp>
        <p:nvSpPr>
          <p:cNvPr id="45" name="CompareDetail2"/>
          <p:cNvSpPr/>
          <p:nvPr/>
        </p:nvSpPr>
        <p:spPr>
          <a:xfrm>
            <a:off x="4630000" y="2580000"/>
            <a:ext cx="2840000" cy="1500000"/>
          </a:xfrm>
          <a:prstGeom prst="rect">
            <a:avLst/>
          </a:prstGeom>
        </p:spPr>
        <p:txBody>
          <a:bodyPr anchor="t" lIns="180000" rIns="180000">
            <a:normAutofit/>
          </a:bodyPr>
          <a:lstStyle/>
          <a:p>
            <a:pPr algn="l"/>
            <a:r>
              <a:rPr lang="zh-CN" sz="1600">
                <a:solidFill>
                  <a:srgbClr val="E5E7EB"/>
                </a:solidFill>
                <a:latin typeface="Aptos"/>
                <a:ea typeface="Microsoft YaHei"/>
              </a:rPr>
              <a:t>Traditional Productivity Suites.</a:t>
            </a:r>
          </a:p>
        </p:txBody>
      </p:sp>
      <p:sp>
        <p:nvSpPr>
          <p:cNvPr id="46" name="ComparePanel3"/>
          <p:cNvSpPr/>
          <p:nvPr/>
        </p:nvSpPr>
        <p:spPr>
          <a:xfrm>
            <a:off x="8200000" y="1700000"/>
            <a:ext cx="3200000" cy="3000000"/>
          </a:xfrm>
          <a:prstGeom prst="roundRect">
            <a:avLst>
              <a:gd name="adj" fmla="val 4000"/>
            </a:avLst>
          </a:prstGeom>
          <a:solidFill>
            <a:srgbClr val="111827">
              <a:alpha val="9000"/>
            </a:srgbClr>
          </a:solidFill>
          <a:ln w="12700">
            <a:solidFill>
              <a:srgbClr val="F97316">
                <a:alpha val="12000"/>
              </a:srgbClr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7" name="CompareHeader3"/>
          <p:cNvSpPr/>
          <p:nvPr/>
        </p:nvSpPr>
        <p:spPr>
          <a:xfrm>
            <a:off x="8380000" y="1960000"/>
            <a:ext cx="2840000" cy="460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zh-CN" sz="1800" b="1">
                <a:solidFill>
                  <a:srgbClr val="F97316"/>
                </a:solidFill>
                <a:latin typeface="Aptos"/>
                <a:ea typeface="Microsoft YaHei"/>
              </a:rPr>
              <a:t>03</a:t>
            </a:r>
          </a:p>
        </p:txBody>
      </p:sp>
      <p:sp>
        <p:nvSpPr>
          <p:cNvPr id="48" name="CompareDetail3"/>
          <p:cNvSpPr/>
          <p:nvPr/>
        </p:nvSpPr>
        <p:spPr>
          <a:xfrm>
            <a:off x="8380000" y="2580000"/>
            <a:ext cx="2840000" cy="1500000"/>
          </a:xfrm>
          <a:prstGeom prst="rect">
            <a:avLst/>
          </a:prstGeom>
        </p:spPr>
        <p:txBody>
          <a:bodyPr anchor="t" lIns="180000" rIns="180000">
            <a:normAutofit/>
          </a:bodyPr>
          <a:lstStyle/>
          <a:p>
            <a:pPr algn="l"/>
            <a:r>
              <a:rPr lang="zh-CN" sz="1600">
                <a:solidFill>
                  <a:srgbClr val="E5E7EB"/>
                </a:solidFill>
                <a:latin typeface="Aptos"/>
                <a:ea typeface="Microsoft YaHei"/>
              </a:rPr>
              <a:t>OfficeDex Advantage: Combines AI drafting, meeting intelligence, file search, and team workflows in one workspace designed to save 20% to 30% of weekly admin time</a:t>
            </a:r>
          </a:p>
        </p:txBody>
      </p:sp>
      <p:sp>
        <p:nvSpPr>
          <p:cNvPr id="120" name="FooterRule"/>
          <p:cNvSpPr/>
          <p:nvPr/>
        </p:nvSpPr>
        <p:spPr>
          <a:xfrm>
            <a:off x="500000" y="6200000"/>
            <a:ext cx="11100000" cy="0"/>
          </a:xfrm>
          <a:prstGeom prst="line">
            <a:avLst/>
          </a:prstGeom>
          <a:ln w="12700">
            <a:solidFill>
              <a:srgbClr val="F97316">
                <a:alpha val="34000"/>
              </a:srgbClr>
            </a:solidFill>
          </a:ln>
        </p:spPr>
      </p:sp>
      <p:sp>
        <p:nvSpPr>
          <p:cNvPr id="122" name="PageNumber"/>
          <p:cNvSpPr/>
          <p:nvPr/>
        </p:nvSpPr>
        <p:spPr>
          <a:xfrm>
            <a:off x="10300000" y="6300000"/>
            <a:ext cx="1200000" cy="26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r"/>
            <a:r>
              <a:rPr lang="zh-CN" sz="900">
                <a:solidFill>
                  <a:srgbClr val="E5E7EB">
                    <a:alpha val="56000"/>
                  </a:srgbClr>
                </a:solidFill>
              </a:rPr>
              <a:t>06/10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Deco"/>
          <p:cNvSpPr/>
          <p:nvPr/>
        </p:nvSpPr>
        <p:spPr>
          <a:xfrm>
            <a:off x="500000" y="350000"/>
            <a:ext cx="80000" cy="660000"/>
          </a:xfrm>
          <a:prstGeom prst="rect">
            <a:avLst/>
          </a:prstGeom>
          <a:solidFill>
            <a:srgbClr val="F97316"/>
          </a:solidFill>
          <a:ln>
            <a:noFill/>
          </a:ln>
        </p:spPr>
      </p:sp>
      <p:sp>
        <p:nvSpPr>
          <p:cNvPr id="2" name="Title"/>
          <p:cNvSpPr/>
          <p:nvPr/>
        </p:nvSpPr>
        <p:spPr>
          <a:xfrm>
            <a:off x="700000" y="300000"/>
            <a:ext cx="10800000" cy="86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l"/>
            <a:r>
              <a:rPr lang="zh-CN" sz="2800" b="1">
                <a:solidFill>
                  <a:srgbClr val="FFFFFF"/>
                </a:solidFill>
                <a:latin typeface="Aptos"/>
                <a:ea typeface="Microsoft YaHei"/>
              </a:rPr>
              <a:t>Launch Channels and Demand Engine</a:t>
            </a:r>
          </a:p>
        </p:txBody>
      </p:sp>
      <p:sp>
        <p:nvSpPr>
          <p:cNvPr id="5" name="Subtitle"/>
          <p:cNvSpPr/>
          <p:nvPr/>
        </p:nvSpPr>
        <p:spPr>
          <a:xfrm>
            <a:off x="700000" y="1220000"/>
            <a:ext cx="10800000" cy="9000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r>
              <a:rPr lang="zh-CN" sz="2000">
                <a:solidFill>
                  <a:srgbClr val="E5E7EB">
                    <a:alpha val="80000"/>
                  </a:srgbClr>
                </a:solidFill>
                <a:latin typeface="Aptos"/>
                <a:ea typeface="Microsoft YaHei"/>
              </a:rPr>
              <a:t>A focused mix of product-led trial, expert content, and partner credibility will generate faster trust than broad paid awareness alone</a:t>
            </a:r>
          </a:p>
        </p:txBody>
      </p:sp>
      <p:sp>
        <p:nvSpPr>
          <p:cNvPr id="30" name="BulletsCalloutPanel"/>
          <p:cNvSpPr/>
          <p:nvPr/>
        </p:nvSpPr>
        <p:spPr>
          <a:xfrm>
            <a:off x="700000" y="2300000"/>
            <a:ext cx="4320000" cy="3800000"/>
          </a:xfrm>
          <a:prstGeom prst="roundRect">
            <a:avLst>
              <a:gd name="adj" fmla="val 4000"/>
            </a:avLst>
          </a:prstGeom>
          <a:solidFill>
            <a:srgbClr val="111827">
              <a:alpha val="9000"/>
            </a:srgbClr>
          </a:solidFill>
          <a:ln w="12700">
            <a:solidFill>
              <a:srgbClr val="F97316">
                <a:alpha val="12000"/>
              </a:srgbClr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BulletsCalloutText"/>
          <p:cNvSpPr/>
          <p:nvPr/>
        </p:nvSpPr>
        <p:spPr>
          <a:xfrm>
            <a:off x="820000" y="2560000"/>
            <a:ext cx="4080000" cy="3280000"/>
          </a:xfrm>
          <a:prstGeom prst="rect">
            <a:avLst/>
          </a:prstGeom>
        </p:spPr>
        <p:txBody>
          <a:bodyPr anchor="ctr" lIns="180000" rIns="180000">
            <a:normAutofit/>
          </a:bodyPr>
          <a:lstStyle/>
          <a:p>
            <a:pPr algn="l"/>
            <a:r>
              <a:rPr lang="zh-CN" sz="2400" b="1">
                <a:solidFill>
                  <a:srgbClr val="E5E7EB"/>
                </a:solidFill>
                <a:latin typeface="Aptos"/>
                <a:ea typeface="Microsoft YaHei"/>
              </a:rPr>
              <a:t>Product-led acquisition.</a:t>
            </a:r>
          </a:p>
        </p:txBody>
      </p:sp>
      <p:sp>
        <p:nvSpPr>
          <p:cNvPr id="3" name="Content"/>
          <p:cNvSpPr/>
          <p:nvPr/>
        </p:nvSpPr>
        <p:spPr>
          <a:xfrm>
            <a:off x="5240000" y="2300000"/>
            <a:ext cx="6260000" cy="3800000"/>
          </a:xfrm>
          <a:prstGeom prst="rect">
            <a:avLst/>
          </a:prstGeom>
        </p:spPr>
        <p:txBody>
          <a:bodyPr anchor="t" lIns="40000" rIns="40000">
            <a:normAutofit/>
          </a:bodyPr>
          <a:lstStyle/>
          <a:p>
            <a:pPr marL="342900" indent="-342900" algn="l">
              <a:spcBef>
                <a:spcPts val="1100"/>
              </a:spcBef>
              <a:buFont typeface="Arial"/>
              <a:buChar char="●"/>
            </a:pPr>
            <a:r>
              <a:rPr lang="zh-CN" sz="2200">
                <a:solidFill>
                  <a:srgbClr val="E5E7EB"/>
                </a:solidFill>
                <a:latin typeface="Aptos"/>
                <a:ea typeface="Microsoft YaHei"/>
              </a:rPr>
              <a:t>Content and thought leadership.</a:t>
            </a:r>
          </a:p>
          <a:p>
            <a:pPr marL="342900" indent="-342900" algn="l">
              <a:spcBef>
                <a:spcPts val="1100"/>
              </a:spcBef>
              <a:buFont typeface="Arial"/>
              <a:buChar char="●"/>
            </a:pPr>
            <a:r>
              <a:rPr lang="zh-CN" sz="2200">
                <a:solidFill>
                  <a:srgbClr val="E5E7EB"/>
                </a:solidFill>
                <a:latin typeface="Aptos"/>
                <a:ea typeface="Microsoft YaHei"/>
              </a:rPr>
              <a:t>Executive and enterprise outreach: run account-based campaigns for operations, sales enablement, and mid-market IT leaders with ROI calculators and security briefs</a:t>
            </a:r>
          </a:p>
        </p:txBody>
      </p:sp>
      <p:sp>
        <p:nvSpPr>
          <p:cNvPr id="10" name="FooterRule"/>
          <p:cNvSpPr/>
          <p:nvPr/>
        </p:nvSpPr>
        <p:spPr>
          <a:xfrm>
            <a:off x="500000" y="6200000"/>
            <a:ext cx="11100000" cy="0"/>
          </a:xfrm>
          <a:prstGeom prst="line">
            <a:avLst/>
          </a:prstGeom>
          <a:ln w="12700">
            <a:solidFill>
              <a:srgbClr val="F97316">
                <a:alpha val="34000"/>
              </a:srgbClr>
            </a:solidFill>
          </a:ln>
        </p:spPr>
      </p:sp>
      <p:sp>
        <p:nvSpPr>
          <p:cNvPr id="12" name="PageNumber"/>
          <p:cNvSpPr/>
          <p:nvPr/>
        </p:nvSpPr>
        <p:spPr>
          <a:xfrm>
            <a:off x="10300000" y="6300000"/>
            <a:ext cx="1200000" cy="26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r"/>
            <a:r>
              <a:rPr lang="zh-CN" sz="900">
                <a:solidFill>
                  <a:srgbClr val="E5E7EB">
                    <a:alpha val="56000"/>
                  </a:srgbClr>
                </a:solidFill>
              </a:rPr>
              <a:t>07/10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00000" y="250000"/>
            <a:ext cx="10800000" cy="65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l"/>
            <a:r>
              <a:rPr lang="zh-CN" sz="3200" b="1">
                <a:solidFill>
                  <a:srgbClr val="FFFFFF"/>
                </a:solidFill>
                <a:latin typeface="Aptos"/>
                <a:ea typeface="Microsoft YaHei"/>
              </a:rPr>
              <a:t>Launch Channels and Demand Engine (cont.)</a:t>
            </a:r>
          </a:p>
        </p:txBody>
      </p:sp>
      <p:sp>
        <p:nvSpPr>
          <p:cNvPr id="6" name="Subtitle"/>
          <p:cNvSpPr/>
          <p:nvPr/>
        </p:nvSpPr>
        <p:spPr>
          <a:xfrm>
            <a:off x="700000" y="900000"/>
            <a:ext cx="10800000" cy="9000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r>
              <a:rPr lang="zh-CN" sz="2000">
                <a:solidFill>
                  <a:srgbClr val="E5E7EB">
                    <a:alpha val="80000"/>
                  </a:srgbClr>
                </a:solidFill>
                <a:latin typeface="Aptos"/>
                <a:ea typeface="Microsoft YaHei"/>
              </a:rPr>
              <a:t>A focused mix of product-led trial, expert content, and partner credibility will generate faster trust than broad paid awareness alone</a:t>
            </a:r>
          </a:p>
        </p:txBody>
      </p:sp>
      <p:sp>
        <p:nvSpPr>
          <p:cNvPr id="40" name="CompareSpotlightPanel1"/>
          <p:cNvSpPr/>
          <p:nvPr/>
        </p:nvSpPr>
        <p:spPr>
          <a:xfrm>
            <a:off x="900000" y="1700000"/>
            <a:ext cx="5600000" cy="3100000"/>
          </a:xfrm>
          <a:prstGeom prst="roundRect">
            <a:avLst>
              <a:gd name="adj" fmla="val 4000"/>
            </a:avLst>
          </a:prstGeom>
          <a:solidFill>
            <a:srgbClr val="111827">
              <a:alpha val="9000"/>
            </a:srgbClr>
          </a:solidFill>
          <a:ln w="12700">
            <a:solidFill>
              <a:srgbClr val="F97316">
                <a:alpha val="12000"/>
              </a:srgbClr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CompareSpotlightHeader1"/>
          <p:cNvSpPr/>
          <p:nvPr/>
        </p:nvSpPr>
        <p:spPr>
          <a:xfrm>
            <a:off x="1080000" y="1880000"/>
            <a:ext cx="5240000" cy="420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/>
            <a:r>
              <a:rPr lang="zh-CN" sz="2200" b="1">
                <a:solidFill>
                  <a:srgbClr val="F97316"/>
                </a:solidFill>
                <a:latin typeface="Aptos"/>
                <a:ea typeface="Microsoft YaHei"/>
              </a:rPr>
              <a:t>Days 1-30: Validate</a:t>
            </a:r>
          </a:p>
        </p:txBody>
      </p:sp>
      <p:sp>
        <p:nvSpPr>
          <p:cNvPr id="42" name="CompareSpotlightDetail1"/>
          <p:cNvSpPr/>
          <p:nvPr/>
        </p:nvSpPr>
        <p:spPr>
          <a:xfrm>
            <a:off x="1080000" y="2420000"/>
            <a:ext cx="5240000" cy="2200000"/>
          </a:xfrm>
          <a:prstGeom prst="rect">
            <a:avLst/>
          </a:prstGeom>
        </p:spPr>
        <p:txBody>
          <a:bodyPr anchor="t" lIns="180000" rIns="180000">
            <a:normAutofit/>
          </a:bodyPr>
          <a:lstStyle/>
          <a:p>
            <a:pPr algn="l"/>
            <a:r>
              <a:rPr lang="zh-CN" sz="1550">
                <a:solidFill>
                  <a:srgbClr val="E5E7EB"/>
                </a:solidFill>
                <a:latin typeface="Aptos"/>
                <a:ea typeface="Microsoft YaHei"/>
              </a:rPr>
              <a:t>Owner: Product and Growth. Launch beta onboarding</a:t>
            </a:r>
          </a:p>
        </p:txBody>
      </p:sp>
      <p:sp>
        <p:nvSpPr>
          <p:cNvPr id="43" name="CompareSpotlightPanel2"/>
          <p:cNvSpPr/>
          <p:nvPr/>
        </p:nvSpPr>
        <p:spPr>
          <a:xfrm>
            <a:off x="6900000" y="1700000"/>
            <a:ext cx="3400000" cy="1450000"/>
          </a:xfrm>
          <a:prstGeom prst="roundRect">
            <a:avLst>
              <a:gd name="adj" fmla="val 4000"/>
            </a:avLst>
          </a:prstGeom>
          <a:solidFill>
            <a:srgbClr val="111827">
              <a:alpha val="9000"/>
            </a:srgbClr>
          </a:solidFill>
          <a:ln w="12700">
            <a:solidFill>
              <a:srgbClr val="F97316">
                <a:alpha val="12000"/>
              </a:srgbClr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4" name="CompareSpotlightHeader2"/>
          <p:cNvSpPr/>
          <p:nvPr/>
        </p:nvSpPr>
        <p:spPr>
          <a:xfrm>
            <a:off x="7080000" y="1880000"/>
            <a:ext cx="3040000" cy="420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/>
            <a:r>
              <a:rPr lang="zh-CN" sz="1700" b="1">
                <a:solidFill>
                  <a:srgbClr val="F97316"/>
                </a:solidFill>
                <a:latin typeface="Aptos"/>
                <a:ea typeface="Microsoft YaHei"/>
              </a:rPr>
              <a:t>Days 31-60: Accelerate</a:t>
            </a:r>
          </a:p>
        </p:txBody>
      </p:sp>
      <p:sp>
        <p:nvSpPr>
          <p:cNvPr id="45" name="CompareSpotlightDetail2"/>
          <p:cNvSpPr/>
          <p:nvPr/>
        </p:nvSpPr>
        <p:spPr>
          <a:xfrm>
            <a:off x="7080000" y="2420000"/>
            <a:ext cx="3040000" cy="550000"/>
          </a:xfrm>
          <a:prstGeom prst="rect">
            <a:avLst/>
          </a:prstGeom>
        </p:spPr>
        <p:txBody>
          <a:bodyPr anchor="t" lIns="180000" rIns="180000">
            <a:normAutofit/>
          </a:bodyPr>
          <a:lstStyle/>
          <a:p>
            <a:pPr algn="l"/>
            <a:r>
              <a:rPr lang="zh-CN" sz="1350">
                <a:solidFill>
                  <a:srgbClr val="E5E7EB"/>
                </a:solidFill>
                <a:latin typeface="Aptos"/>
                <a:ea typeface="Microsoft YaHei"/>
              </a:rPr>
              <a:t>Owner: Marketing and Sales. Release public trial</a:t>
            </a:r>
          </a:p>
        </p:txBody>
      </p:sp>
      <p:sp>
        <p:nvSpPr>
          <p:cNvPr id="46" name="CompareSpotlightPanel3"/>
          <p:cNvSpPr/>
          <p:nvPr/>
        </p:nvSpPr>
        <p:spPr>
          <a:xfrm>
            <a:off x="6900000" y="3350000"/>
            <a:ext cx="3400000" cy="1450000"/>
          </a:xfrm>
          <a:prstGeom prst="roundRect">
            <a:avLst>
              <a:gd name="adj" fmla="val 4000"/>
            </a:avLst>
          </a:prstGeom>
          <a:solidFill>
            <a:srgbClr val="111827">
              <a:alpha val="9000"/>
            </a:srgbClr>
          </a:solidFill>
          <a:ln w="12700">
            <a:solidFill>
              <a:srgbClr val="F97316">
                <a:alpha val="12000"/>
              </a:srgbClr>
            </a:solidFill>
          </a:ln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7" name="CompareSpotlightHeader3"/>
          <p:cNvSpPr/>
          <p:nvPr/>
        </p:nvSpPr>
        <p:spPr>
          <a:xfrm>
            <a:off x="7080000" y="3530000"/>
            <a:ext cx="3040000" cy="420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/>
            <a:r>
              <a:rPr lang="zh-CN" sz="1700" b="1">
                <a:solidFill>
                  <a:srgbClr val="F97316"/>
                </a:solidFill>
                <a:latin typeface="Aptos"/>
                <a:ea typeface="Microsoft YaHei"/>
              </a:rPr>
              <a:t>Days 61-90: Scale</a:t>
            </a:r>
          </a:p>
        </p:txBody>
      </p:sp>
      <p:sp>
        <p:nvSpPr>
          <p:cNvPr id="48" name="CompareSpotlightDetail3"/>
          <p:cNvSpPr/>
          <p:nvPr/>
        </p:nvSpPr>
        <p:spPr>
          <a:xfrm>
            <a:off x="7080000" y="4070000"/>
            <a:ext cx="3040000" cy="550000"/>
          </a:xfrm>
          <a:prstGeom prst="rect">
            <a:avLst/>
          </a:prstGeom>
        </p:spPr>
        <p:txBody>
          <a:bodyPr anchor="t" lIns="180000" rIns="180000">
            <a:normAutofit/>
          </a:bodyPr>
          <a:lstStyle/>
          <a:p>
            <a:pPr algn="l"/>
            <a:r>
              <a:rPr lang="zh-CN" sz="1350">
                <a:solidFill>
                  <a:srgbClr val="E5E7EB"/>
                </a:solidFill>
                <a:latin typeface="Aptos"/>
                <a:ea typeface="Microsoft YaHei"/>
              </a:rPr>
              <a:t>Owner: Revenue and Customer Success.</a:t>
            </a:r>
          </a:p>
        </p:txBody>
      </p:sp>
      <p:sp>
        <p:nvSpPr>
          <p:cNvPr id="120" name="FooterRule"/>
          <p:cNvSpPr/>
          <p:nvPr/>
        </p:nvSpPr>
        <p:spPr>
          <a:xfrm>
            <a:off x="500000" y="6200000"/>
            <a:ext cx="11100000" cy="0"/>
          </a:xfrm>
          <a:prstGeom prst="line">
            <a:avLst/>
          </a:prstGeom>
          <a:ln w="12700">
            <a:solidFill>
              <a:srgbClr val="F97316">
                <a:alpha val="34000"/>
              </a:srgbClr>
            </a:solidFill>
          </a:ln>
        </p:spPr>
      </p:sp>
      <p:sp>
        <p:nvSpPr>
          <p:cNvPr id="122" name="PageNumber"/>
          <p:cNvSpPr/>
          <p:nvPr/>
        </p:nvSpPr>
        <p:spPr>
          <a:xfrm>
            <a:off x="10300000" y="6300000"/>
            <a:ext cx="1200000" cy="26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r"/>
            <a:r>
              <a:rPr lang="zh-CN" sz="900">
                <a:solidFill>
                  <a:srgbClr val="E5E7EB">
                    <a:alpha val="56000"/>
                  </a:srgbClr>
                </a:solidFill>
              </a:rPr>
              <a:t>08/10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00000" y="250000"/>
            <a:ext cx="10800000" cy="65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l"/>
            <a:r>
              <a:rPr lang="zh-CN" sz="3200" b="1">
                <a:solidFill>
                  <a:srgbClr val="FFFFFF"/>
                </a:solidFill>
                <a:latin typeface="Aptos"/>
                <a:ea typeface="Microsoft YaHei"/>
              </a:rPr>
              <a:t>90-Day Rollout Timeline</a:t>
            </a:r>
          </a:p>
        </p:txBody>
      </p:sp>
      <p:sp>
        <p:nvSpPr>
          <p:cNvPr id="6" name="Subtitle"/>
          <p:cNvSpPr/>
          <p:nvPr/>
        </p:nvSpPr>
        <p:spPr>
          <a:xfrm>
            <a:off x="700000" y="900000"/>
            <a:ext cx="10800000" cy="8400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r>
              <a:rPr lang="zh-CN" sz="2000">
                <a:solidFill>
                  <a:srgbClr val="E5E7EB">
                    <a:alpha val="80000"/>
                  </a:srgbClr>
                </a:solidFill>
                <a:latin typeface="Aptos"/>
                <a:ea typeface="Microsoft YaHei"/>
              </a:rPr>
              <a:t>The launch should sequence from proof and activation to scale.</a:t>
            </a:r>
          </a:p>
        </p:txBody>
      </p:sp>
      <p:sp>
        <p:nvSpPr>
          <p:cNvPr id="20" name="TimelineAxis"/>
          <p:cNvSpPr/>
          <p:nvPr/>
        </p:nvSpPr>
        <p:spPr>
          <a:xfrm>
            <a:off x="1300000" y="3700000"/>
            <a:ext cx="9600000" cy="0"/>
          </a:xfrm>
          <a:prstGeom prst="line">
            <a:avLst/>
          </a:prstGeom>
          <a:ln w="19050">
            <a:solidFill>
              <a:srgbClr val="F97316"/>
            </a:solidFill>
          </a:ln>
        </p:spPr>
      </p:sp>
      <p:sp>
        <p:nvSpPr>
          <p:cNvPr id="21" name="TimelineDot1"/>
          <p:cNvSpPr/>
          <p:nvPr/>
        </p:nvSpPr>
        <p:spPr>
          <a:xfrm>
            <a:off x="1140000" y="3540000"/>
            <a:ext cx="320000" cy="3200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</p:sp>
      <p:sp>
        <p:nvSpPr>
          <p:cNvPr id="22" name="TimelineHead1"/>
          <p:cNvSpPr/>
          <p:nvPr/>
        </p:nvSpPr>
        <p:spPr>
          <a:xfrm>
            <a:off x="100000" y="2700000"/>
            <a:ext cx="2400000" cy="420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zh-CN" sz="1500" b="1">
                <a:solidFill>
                  <a:srgbClr val="F97316"/>
                </a:solidFill>
                <a:latin typeface="Aptos"/>
                <a:ea typeface="Microsoft YaHei"/>
              </a:rPr>
              <a:t>Days 1-30: Validate</a:t>
            </a:r>
          </a:p>
        </p:txBody>
      </p:sp>
      <p:sp>
        <p:nvSpPr>
          <p:cNvPr id="23" name="TimelineDetail1"/>
          <p:cNvSpPr/>
          <p:nvPr/>
        </p:nvSpPr>
        <p:spPr>
          <a:xfrm>
            <a:off x="100000" y="4020000"/>
            <a:ext cx="2400000" cy="11000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r>
              <a:rPr lang="zh-CN" sz="1300">
                <a:solidFill>
                  <a:srgbClr val="E5E7EB"/>
                </a:solidFill>
                <a:latin typeface="Aptos"/>
                <a:ea typeface="Microsoft YaHei"/>
              </a:rPr>
              <a:t>Owner: Product and Growth. Launch beta onboarding</a:t>
            </a:r>
          </a:p>
        </p:txBody>
      </p:sp>
      <p:sp>
        <p:nvSpPr>
          <p:cNvPr id="24" name="TimelineDot2"/>
          <p:cNvSpPr/>
          <p:nvPr/>
        </p:nvSpPr>
        <p:spPr>
          <a:xfrm>
            <a:off x="5940000" y="3540000"/>
            <a:ext cx="320000" cy="3200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</p:sp>
      <p:sp>
        <p:nvSpPr>
          <p:cNvPr id="25" name="TimelineHead2"/>
          <p:cNvSpPr/>
          <p:nvPr/>
        </p:nvSpPr>
        <p:spPr>
          <a:xfrm>
            <a:off x="4900000" y="2700000"/>
            <a:ext cx="2400000" cy="420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zh-CN" sz="1500" b="1">
                <a:solidFill>
                  <a:srgbClr val="F97316"/>
                </a:solidFill>
                <a:latin typeface="Aptos"/>
                <a:ea typeface="Microsoft YaHei"/>
              </a:rPr>
              <a:t>Days 31-60: Accelerate</a:t>
            </a:r>
          </a:p>
        </p:txBody>
      </p:sp>
      <p:sp>
        <p:nvSpPr>
          <p:cNvPr id="26" name="TimelineDetail2"/>
          <p:cNvSpPr/>
          <p:nvPr/>
        </p:nvSpPr>
        <p:spPr>
          <a:xfrm>
            <a:off x="4900000" y="4020000"/>
            <a:ext cx="2400000" cy="11000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r>
              <a:rPr lang="zh-CN" sz="1300">
                <a:solidFill>
                  <a:srgbClr val="E5E7EB"/>
                </a:solidFill>
                <a:latin typeface="Aptos"/>
                <a:ea typeface="Microsoft YaHei"/>
              </a:rPr>
              <a:t>Owner: Marketing and Sales. Release public trial</a:t>
            </a:r>
          </a:p>
        </p:txBody>
      </p:sp>
      <p:sp>
        <p:nvSpPr>
          <p:cNvPr id="27" name="TimelineDot3"/>
          <p:cNvSpPr/>
          <p:nvPr/>
        </p:nvSpPr>
        <p:spPr>
          <a:xfrm>
            <a:off x="10740000" y="3540000"/>
            <a:ext cx="320000" cy="3200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</p:sp>
      <p:sp>
        <p:nvSpPr>
          <p:cNvPr id="28" name="TimelineHead3"/>
          <p:cNvSpPr/>
          <p:nvPr/>
        </p:nvSpPr>
        <p:spPr>
          <a:xfrm>
            <a:off x="9700000" y="2700000"/>
            <a:ext cx="2400000" cy="420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ctr"/>
            <a:r>
              <a:rPr lang="zh-CN" sz="1500" b="1">
                <a:solidFill>
                  <a:srgbClr val="F97316"/>
                </a:solidFill>
                <a:latin typeface="Aptos"/>
                <a:ea typeface="Microsoft YaHei"/>
              </a:rPr>
              <a:t>Days 61-90: Scale</a:t>
            </a:r>
          </a:p>
        </p:txBody>
      </p:sp>
      <p:sp>
        <p:nvSpPr>
          <p:cNvPr id="29" name="TimelineDetail3"/>
          <p:cNvSpPr/>
          <p:nvPr/>
        </p:nvSpPr>
        <p:spPr>
          <a:xfrm>
            <a:off x="9700000" y="4020000"/>
            <a:ext cx="2400000" cy="11000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r>
              <a:rPr lang="zh-CN" sz="1300">
                <a:solidFill>
                  <a:srgbClr val="E5E7EB"/>
                </a:solidFill>
                <a:latin typeface="Aptos"/>
                <a:ea typeface="Microsoft YaHei"/>
              </a:rPr>
              <a:t>Owner: Revenue and Customer Success.</a:t>
            </a:r>
          </a:p>
        </p:txBody>
      </p:sp>
      <p:sp>
        <p:nvSpPr>
          <p:cNvPr id="140" name="FooterRule"/>
          <p:cNvSpPr/>
          <p:nvPr/>
        </p:nvSpPr>
        <p:spPr>
          <a:xfrm>
            <a:off x="500000" y="6200000"/>
            <a:ext cx="11100000" cy="0"/>
          </a:xfrm>
          <a:prstGeom prst="line">
            <a:avLst/>
          </a:prstGeom>
          <a:ln w="12700">
            <a:solidFill>
              <a:srgbClr val="F97316">
                <a:alpha val="34000"/>
              </a:srgbClr>
            </a:solidFill>
          </a:ln>
        </p:spPr>
      </p:sp>
      <p:sp>
        <p:nvSpPr>
          <p:cNvPr id="142" name="PageNumber"/>
          <p:cNvSpPr/>
          <p:nvPr/>
        </p:nvSpPr>
        <p:spPr>
          <a:xfrm>
            <a:off x="10300000" y="6300000"/>
            <a:ext cx="1200000" cy="26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r"/>
            <a:r>
              <a:rPr lang="zh-CN" sz="900">
                <a:solidFill>
                  <a:srgbClr val="E5E7EB">
                    <a:alpha val="56000"/>
                  </a:srgbClr>
                </a:solidFill>
              </a:rPr>
              <a:t>09/10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900000" y="250000"/>
            <a:ext cx="10800000" cy="65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l"/>
            <a:r>
              <a:rPr lang="zh-CN" sz="3200" b="1">
                <a:solidFill>
                  <a:srgbClr val="FFFFFF"/>
                </a:solidFill>
                <a:latin typeface="Aptos"/>
                <a:ea typeface="Microsoft YaHei"/>
              </a:rPr>
              <a:t>Launch Success Metrics Dashboard</a:t>
            </a:r>
          </a:p>
        </p:txBody>
      </p:sp>
      <p:sp>
        <p:nvSpPr>
          <p:cNvPr id="6" name="Subtitle"/>
          <p:cNvSpPr/>
          <p:nvPr/>
        </p:nvSpPr>
        <p:spPr>
          <a:xfrm>
            <a:off x="700000" y="900000"/>
            <a:ext cx="10800000" cy="9000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r>
              <a:rPr lang="zh-CN" sz="2000">
                <a:solidFill>
                  <a:srgbClr val="E5E7EB">
                    <a:alpha val="80000"/>
                  </a:srgbClr>
                </a:solidFill>
                <a:latin typeface="Aptos"/>
                <a:ea typeface="Microsoft YaHei"/>
              </a:rPr>
              <a:t>The strongest launch signal is not raw sign-ups but sustained weekly usage paired with expansion-ready team adoption</a:t>
            </a:r>
          </a:p>
        </p:txBody>
      </p:sp>
      <p:sp>
        <p:nvSpPr>
          <p:cNvPr id="40" name="ClosingDecisionBanner"/>
          <p:cNvSpPr/>
          <p:nvPr/>
        </p:nvSpPr>
        <p:spPr>
          <a:xfrm>
            <a:off x="1200000" y="1950000"/>
            <a:ext cx="9800000" cy="1280000"/>
          </a:xfrm>
          <a:prstGeom prst="rect">
            <a:avLst/>
          </a:prstGeom>
          <a:solidFill>
            <a:srgbClr val="111827">
              <a:alpha val="96000"/>
            </a:srgbClr>
          </a:solidFill>
          <a:ln>
            <a:noFill/>
          </a:ln>
        </p:spPr>
      </p:sp>
      <p:sp>
        <p:nvSpPr>
          <p:cNvPr id="41" name="ClosingDecisionAccent"/>
          <p:cNvSpPr/>
          <p:nvPr/>
        </p:nvSpPr>
        <p:spPr>
          <a:xfrm>
            <a:off x="1200000" y="1950000"/>
            <a:ext cx="130000" cy="1280000"/>
          </a:xfrm>
          <a:prstGeom prst="rect">
            <a:avLst/>
          </a:prstGeom>
          <a:solidFill>
            <a:srgbClr val="F97316">
              <a:alpha val="100000"/>
            </a:srgbClr>
          </a:solidFill>
          <a:ln>
            <a:noFill/>
          </a:ln>
        </p:spPr>
      </p:sp>
      <p:sp>
        <p:nvSpPr>
          <p:cNvPr id="42" name="ClosingDecisionHeading"/>
          <p:cNvSpPr/>
          <p:nvPr/>
        </p:nvSpPr>
        <p:spPr>
          <a:xfrm>
            <a:off x="1500000" y="2180000"/>
            <a:ext cx="9200000" cy="360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/>
            <a:r>
              <a:rPr lang="zh-CN" sz="1700" b="1">
                <a:solidFill>
                  <a:srgbClr val="FFFFFF"/>
                </a:solidFill>
                <a:latin typeface="Aptos"/>
                <a:ea typeface="Microsoft YaHei"/>
              </a:rPr>
              <a:t>01</a:t>
            </a:r>
          </a:p>
        </p:txBody>
      </p:sp>
      <p:sp>
        <p:nvSpPr>
          <p:cNvPr id="43" name="ClosingDecisionText"/>
          <p:cNvSpPr/>
          <p:nvPr/>
        </p:nvSpPr>
        <p:spPr>
          <a:xfrm>
            <a:off x="1500000" y="2650000"/>
            <a:ext cx="9200000" cy="3800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r>
              <a:rPr lang="zh-CN" sz="1450">
                <a:solidFill>
                  <a:srgbClr val="E5E7EB"/>
                </a:solidFill>
                <a:latin typeface="Aptos"/>
                <a:ea typeface="Microsoft YaHei"/>
              </a:rPr>
              <a:t>Monitor time-to-value within.</a:t>
            </a:r>
          </a:p>
        </p:txBody>
      </p:sp>
      <p:sp>
        <p:nvSpPr>
          <p:cNvPr id="50" name="ClosingDecisionSupportHead1"/>
          <p:cNvSpPr/>
          <p:nvPr/>
        </p:nvSpPr>
        <p:spPr>
          <a:xfrm>
            <a:off x="1500000" y="3720000"/>
            <a:ext cx="3600000" cy="300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algn="l"/>
            <a:r>
              <a:rPr lang="zh-CN" sz="1350" b="1">
                <a:solidFill>
                  <a:srgbClr val="F97316"/>
                </a:solidFill>
                <a:latin typeface="Aptos"/>
                <a:ea typeface="Microsoft YaHei"/>
              </a:rPr>
              <a:t>02</a:t>
            </a:r>
          </a:p>
        </p:txBody>
      </p:sp>
      <p:sp>
        <p:nvSpPr>
          <p:cNvPr id="51" name="ClosingDecisionSupportText1"/>
          <p:cNvSpPr/>
          <p:nvPr/>
        </p:nvSpPr>
        <p:spPr>
          <a:xfrm>
            <a:off x="1500000" y="4130000"/>
            <a:ext cx="3600000" cy="4200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pPr algn="l"/>
            <a:r>
              <a:rPr lang="zh-CN" sz="1200">
                <a:solidFill>
                  <a:srgbClr val="E5E7EB"/>
                </a:solidFill>
                <a:latin typeface="Aptos"/>
                <a:ea typeface="Microsoft YaHei"/>
              </a:rPr>
              <a:t>Track team expansion separately.</a:t>
            </a:r>
          </a:p>
        </p:txBody>
      </p:sp>
      <p:sp>
        <p:nvSpPr>
          <p:cNvPr id="150" name="FooterRule"/>
          <p:cNvSpPr/>
          <p:nvPr/>
        </p:nvSpPr>
        <p:spPr>
          <a:xfrm>
            <a:off x="500000" y="6200000"/>
            <a:ext cx="11100000" cy="0"/>
          </a:xfrm>
          <a:prstGeom prst="line">
            <a:avLst/>
          </a:prstGeom>
          <a:ln w="12700">
            <a:solidFill>
              <a:srgbClr val="F97316">
                <a:alpha val="34000"/>
              </a:srgbClr>
            </a:solidFill>
          </a:ln>
        </p:spPr>
      </p:sp>
      <p:sp>
        <p:nvSpPr>
          <p:cNvPr id="152" name="PageNumber"/>
          <p:cNvSpPr/>
          <p:nvPr/>
        </p:nvSpPr>
        <p:spPr>
          <a:xfrm>
            <a:off x="10300000" y="6300000"/>
            <a:ext cx="1200000" cy="260000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algn="r"/>
            <a:r>
              <a:rPr lang="zh-CN" sz="900">
                <a:solidFill>
                  <a:srgbClr val="E5E7EB">
                    <a:alpha val="56000"/>
                  </a:srgbClr>
                </a:solidFill>
              </a:rPr>
              <a:t>10/10</a:t>
            </a:r>
          </a:p>
        </p:txBody>
      </p:sp>
    </p:spTree>
  </p:cSld>
</p:sld>
</file>

<file path=ppt/theme/theme1.xml><?xml version="1.0" encoding="utf-8"?>
<a:theme xmlns:a="http://schemas.openxmlformats.org/drawingml/2006/main" name="Graphi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F2937"/>
      </a:accent1>
      <a:accent2>
        <a:srgbClr val="F97316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pple-Style">
      <a:majorFont>
        <a:latin typeface="Aptos" panose="020B0604020202020204"/>
        <a:ea typeface="Microsoft YaHei"/>
        <a:cs typeface=""/>
      </a:majorFont>
      <a:minorFont>
        <a:latin typeface="Aptos" panose="020B0604020202020204"/>
        <a:ea typeface="Microsoft YaHei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officecli PPTX Generator</Application>
  <Slides>10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OfficeDex Launch Strategy</dc:title>
  <dc:creator>OfficeCLI</dc:creator>
  <dcterms:created xsi:type="dcterms:W3CDTF">2026-07-14T05:21:43Z</dcterms:created>
</cp:coreProperties>
</file>
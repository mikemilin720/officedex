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E02FF8C2-9E81-4F1A-B683-E5DCAA5FC815}"/>
              </a:ext>
            </a:extLst>
          </p:cNvPr>
          <p:cNvSpPr>
            <a:spLocks noGrp="1"/>
          </p:cNvSpPr>
          <p:nvPr/>
        </p:nvSpPr>
        <p:spPr>
          <a:xfrm>
            <a:off x="8191500" y="-1714500"/>
            <a:ext cx="4953000" cy="4953000"/>
          </a:xfrm>
          <a:prstGeom prst="ellipse">
            <a:avLst/>
          </a:prstGeom>
          <a:solidFill>
            <a:srgbClr val="2B1B86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0EE7A2-4B8B-4350-AC32-21F66D2951CA}"/>
              </a:ext>
            </a:extLst>
          </p:cNvPr>
          <p:cNvSpPr>
            <a:spLocks noGrp="1"/>
          </p:cNvSpPr>
          <p:nvPr/>
        </p:nvSpPr>
        <p:spPr>
          <a:xfrm>
            <a:off x="8953500" y="3600450"/>
            <a:ext cx="3429000" cy="3429000"/>
          </a:xfrm>
          <a:prstGeom prst="ellipse">
            <a:avLst/>
          </a:prstGeom>
          <a:solidFill>
            <a:srgbClr val="063F43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77150" y="1200150"/>
            <a:ext cx="2381250" cy="238125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83B01F7-AA78-45FE-80E6-5435B9491DE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571750" cy="323850"/>
          </a:xfrm>
          <a:prstGeom prst="roundRect">
            <a:avLst>
              <a:gd name="adj" fmla="val 50000"/>
            </a:avLst>
          </a:prstGeom>
          <a:solidFill>
            <a:srgbClr val="0B2B31"/>
          </a:solidFill>
          <a:ln w="11430">
            <a:solidFill>
              <a:srgbClr val="BEEFE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4C40BA-302F-44D3-BEDA-650AF66D8E0D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2266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BEEFE0"/>
                </a:solidFill>
              </a:defRPr>
            </a:pPr>
            <a:r>
              <a:rPr sz="900" b="1">
                <a:solidFill>
                  <a:srgbClr val="BEEFE0"/>
                </a:solidFill>
              </a:rPr>
              <a:t>NEW MULTI-STEP PPT GENERATION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8D1783-F210-4BD4-89F7-ACCFC52D6BEA}"/>
              </a:ext>
            </a:extLst>
          </p:cNvPr>
          <p:cNvSpPr>
            <a:spLocks noGrp="1"/>
          </p:cNvSpPr>
          <p:nvPr/>
        </p:nvSpPr>
        <p:spPr>
          <a:xfrm>
            <a:off x="685800" y="1314450"/>
            <a:ext cx="6572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OfficeDex turns prompts into editable launch decks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57CEB7-57B3-44AE-A3D8-A885F890D73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5810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D8EFE5"/>
                </a:solidFill>
              </a:defRPr>
            </a:pPr>
            <a:r>
              <a:rPr sz="1500" b="0">
                <a:solidFill>
                  <a:srgbClr val="D8EFE5"/>
                </a:solidFill>
              </a:rPr>
              <a:t>Plan, confirm, preview, and refine a real PPTX without leaving the product workflow.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ECA1CC-0247-428E-A3A9-EF3A5F77FA01}"/>
              </a:ext>
            </a:extLst>
          </p:cNvPr>
          <p:cNvSpPr>
            <a:spLocks noGrp="1"/>
          </p:cNvSpPr>
          <p:nvPr/>
        </p:nvSpPr>
        <p:spPr>
          <a:xfrm>
            <a:off x="723900" y="4324350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102833"/>
          </a:solidFill>
          <a:ln w="11430">
            <a:solidFill>
              <a:srgbClr val="BEEFE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E95CFA-8098-46B6-86AB-D8EEB9C095AE}"/>
              </a:ext>
            </a:extLst>
          </p:cNvPr>
          <p:cNvSpPr>
            <a:spLocks noGrp="1"/>
          </p:cNvSpPr>
          <p:nvPr/>
        </p:nvSpPr>
        <p:spPr>
          <a:xfrm>
            <a:off x="876300" y="4391025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BEEFE0"/>
                </a:solidFill>
              </a:defRPr>
            </a:pPr>
            <a:r>
              <a:rPr sz="900" b="1">
                <a:solidFill>
                  <a:srgbClr val="BEEFE0"/>
                </a:solidFill>
              </a:rPr>
              <a:t>Build variables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02C78BF-1438-469C-8CF7-A16562F60242}"/>
              </a:ext>
            </a:extLst>
          </p:cNvPr>
          <p:cNvSpPr>
            <a:spLocks noGrp="1"/>
          </p:cNvSpPr>
          <p:nvPr/>
        </p:nvSpPr>
        <p:spPr>
          <a:xfrm>
            <a:off x="2533650" y="4324350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102833"/>
          </a:solidFill>
          <a:ln w="11430">
            <a:solidFill>
              <a:srgbClr val="1AAE39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BB0C4B-1D6F-488F-8B9D-F757E1C6A368}"/>
              </a:ext>
            </a:extLst>
          </p:cNvPr>
          <p:cNvSpPr>
            <a:spLocks noGrp="1"/>
          </p:cNvSpPr>
          <p:nvPr/>
        </p:nvSpPr>
        <p:spPr>
          <a:xfrm>
            <a:off x="2686050" y="4391025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AAE39"/>
                </a:solidFill>
              </a:defRPr>
            </a:pPr>
            <a:r>
              <a:rPr sz="900" b="1">
                <a:solidFill>
                  <a:srgbClr val="1AAE39"/>
                </a:solidFill>
              </a:rPr>
              <a:t>Approve each step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7661FDA-A518-4444-80C9-A298565EFE02}"/>
              </a:ext>
            </a:extLst>
          </p:cNvPr>
          <p:cNvSpPr>
            <a:spLocks noGrp="1"/>
          </p:cNvSpPr>
          <p:nvPr/>
        </p:nvSpPr>
        <p:spPr>
          <a:xfrm>
            <a:off x="4343400" y="4324350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102833"/>
          </a:solidFill>
          <a:ln w="11430">
            <a:solidFill>
              <a:srgbClr val="BEEFE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EAEA0E-6960-498F-9E77-A7D1664EC6B0}"/>
              </a:ext>
            </a:extLst>
          </p:cNvPr>
          <p:cNvSpPr>
            <a:spLocks noGrp="1"/>
          </p:cNvSpPr>
          <p:nvPr/>
        </p:nvSpPr>
        <p:spPr>
          <a:xfrm>
            <a:off x="4495800" y="4391025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BEEFE0"/>
                </a:solidFill>
              </a:defRPr>
            </a:pPr>
            <a:r>
              <a:rPr sz="900" b="1">
                <a:solidFill>
                  <a:srgbClr val="BEEFE0"/>
                </a:solidFill>
              </a:rPr>
              <a:t>Edit the final slide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B26B6-38F6-452B-B61E-066D5196563A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9BB8B2"/>
                </a:solidFill>
              </a:defRPr>
            </a:pPr>
            <a:r>
              <a:rPr sz="825" b="0">
                <a:solidFill>
                  <a:srgbClr val="9BB8B2"/>
                </a:solidFill>
              </a:rPr>
              <a:t>OfficeDex launch demo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8B44EA-FDB1-4510-B389-B585FC5A6284}"/>
              </a:ext>
            </a:extLst>
          </p:cNvPr>
          <p:cNvSpPr>
            <a:spLocks noGrp="1"/>
          </p:cNvSpPr>
          <p:nvPr/>
        </p:nvSpPr>
        <p:spPr>
          <a:xfrm>
            <a:off x="10763250" y="6362700"/>
            <a:ext cx="76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BEEFE0"/>
                </a:solidFill>
              </a:defRPr>
            </a:pPr>
            <a:r>
              <a:rPr sz="825" b="1">
                <a:solidFill>
                  <a:srgbClr val="BEEFE0"/>
                </a:solidFill>
              </a:rPr>
              <a:t>01/09</a:t>
            </a:r>
          </a:p>
        </p:txBody>
      </p:sp>
    </p:spTree>
    <p:extLst>
      <p:ext uri="{BB962C8B-B14F-4D97-AF65-F5344CB8AC3E}">
        <p14:creationId xmlns:p14="http://schemas.microsoft.com/office/powerpoint/2010/main" val="708945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27B99E77-D4C5-4462-A476-38EFBE735CCE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MARKET PROBLEM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9AC03E-89E3-4133-9868-04C6BF241739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5247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Slide work breaks when AI stops at a draft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4DECA8-AC21-4074-A605-82943183C89C}"/>
              </a:ext>
            </a:extLst>
          </p:cNvPr>
          <p:cNvSpPr>
            <a:spLocks noGrp="1"/>
          </p:cNvSpPr>
          <p:nvPr/>
        </p:nvSpPr>
        <p:spPr>
          <a:xfrm>
            <a:off x="704850" y="1828800"/>
            <a:ext cx="685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Teams need the output to be visible, editable, and trustworthy before they use it.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56CB508-3AD3-4D8E-8B6B-CDEF872573ED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3143250" cy="20002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8FACC3-CC67-486F-8039-AC07CE9E4213}"/>
              </a:ext>
            </a:extLst>
          </p:cNvPr>
          <p:cNvSpPr>
            <a:spLocks noGrp="1"/>
          </p:cNvSpPr>
          <p:nvPr/>
        </p:nvSpPr>
        <p:spPr>
          <a:xfrm>
            <a:off x="990600" y="3067050"/>
            <a:ext cx="323850" cy="323850"/>
          </a:xfrm>
          <a:prstGeom prst="ellipse">
            <a:avLst/>
          </a:prstGeom>
          <a:solidFill>
            <a:srgbClr val="5645D4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76424C-ED03-42AA-B5BE-E50B25668AFE}"/>
              </a:ext>
            </a:extLst>
          </p:cNvPr>
          <p:cNvSpPr>
            <a:spLocks noGrp="1"/>
          </p:cNvSpPr>
          <p:nvPr/>
        </p:nvSpPr>
        <p:spPr>
          <a:xfrm>
            <a:off x="990600" y="31432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1E3199-DC5B-48BC-BAA8-18B9858EB523}"/>
              </a:ext>
            </a:extLst>
          </p:cNvPr>
          <p:cNvSpPr>
            <a:spLocks noGrp="1"/>
          </p:cNvSpPr>
          <p:nvPr/>
        </p:nvSpPr>
        <p:spPr>
          <a:xfrm>
            <a:off x="1428750" y="3067050"/>
            <a:ext cx="2247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Blank-canvas drag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24EAA6-8EEB-4441-A00F-9F74C4F82079}"/>
              </a:ext>
            </a:extLst>
          </p:cNvPr>
          <p:cNvSpPr>
            <a:spLocks noGrp="1"/>
          </p:cNvSpPr>
          <p:nvPr/>
        </p:nvSpPr>
        <p:spPr>
          <a:xfrm>
            <a:off x="1028700" y="3562350"/>
            <a:ext cx="26479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Users still spend time turning a rough outline into something presentable.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9534279-7C17-46E4-B4FE-4E79B76D5725}"/>
              </a:ext>
            </a:extLst>
          </p:cNvPr>
          <p:cNvSpPr>
            <a:spLocks noGrp="1"/>
          </p:cNvSpPr>
          <p:nvPr/>
        </p:nvSpPr>
        <p:spPr>
          <a:xfrm>
            <a:off x="4514850" y="2857500"/>
            <a:ext cx="3143250" cy="20002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13AFF49-9D66-4285-8281-96A46A80E36D}"/>
              </a:ext>
            </a:extLst>
          </p:cNvPr>
          <p:cNvSpPr>
            <a:spLocks noGrp="1"/>
          </p:cNvSpPr>
          <p:nvPr/>
        </p:nvSpPr>
        <p:spPr>
          <a:xfrm>
            <a:off x="4724400" y="3067050"/>
            <a:ext cx="323850" cy="323850"/>
          </a:xfrm>
          <a:prstGeom prst="ellipse">
            <a:avLst/>
          </a:prstGeom>
          <a:solidFill>
            <a:srgbClr val="006876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AD4D29-CEDF-4300-B7A7-704606F302D4}"/>
              </a:ext>
            </a:extLst>
          </p:cNvPr>
          <p:cNvSpPr>
            <a:spLocks noGrp="1"/>
          </p:cNvSpPr>
          <p:nvPr/>
        </p:nvSpPr>
        <p:spPr>
          <a:xfrm>
            <a:off x="4724400" y="31432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637516-E38B-4B78-AE5F-8C8EC0B0E567}"/>
              </a:ext>
            </a:extLst>
          </p:cNvPr>
          <p:cNvSpPr>
            <a:spLocks noGrp="1"/>
          </p:cNvSpPr>
          <p:nvPr/>
        </p:nvSpPr>
        <p:spPr>
          <a:xfrm>
            <a:off x="5162550" y="3067050"/>
            <a:ext cx="2247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Black-box generation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D64D02-F038-45FB-B3C4-5DF2869CCA47}"/>
              </a:ext>
            </a:extLst>
          </p:cNvPr>
          <p:cNvSpPr>
            <a:spLocks noGrp="1"/>
          </p:cNvSpPr>
          <p:nvPr/>
        </p:nvSpPr>
        <p:spPr>
          <a:xfrm>
            <a:off x="4762500" y="3562350"/>
            <a:ext cx="26479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One-shot prompts hide the logic, so mistakes are hard to catch early.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78B0F91-8EDA-4116-84F3-C338719A2C46}"/>
              </a:ext>
            </a:extLst>
          </p:cNvPr>
          <p:cNvSpPr>
            <a:spLocks noGrp="1"/>
          </p:cNvSpPr>
          <p:nvPr/>
        </p:nvSpPr>
        <p:spPr>
          <a:xfrm>
            <a:off x="8248650" y="2857500"/>
            <a:ext cx="3143250" cy="20002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CCF8A16-BEA2-44F9-8219-AE58725B29D4}"/>
              </a:ext>
            </a:extLst>
          </p:cNvPr>
          <p:cNvSpPr>
            <a:spLocks noGrp="1"/>
          </p:cNvSpPr>
          <p:nvPr/>
        </p:nvSpPr>
        <p:spPr>
          <a:xfrm>
            <a:off x="8458200" y="3067050"/>
            <a:ext cx="323850" cy="323850"/>
          </a:xfrm>
          <a:prstGeom prst="ellipse">
            <a:avLst/>
          </a:prstGeom>
          <a:solidFill>
            <a:srgbClr val="1AAE39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5D5599-2079-4FA7-A485-E8B0BCD137A4}"/>
              </a:ext>
            </a:extLst>
          </p:cNvPr>
          <p:cNvSpPr>
            <a:spLocks noGrp="1"/>
          </p:cNvSpPr>
          <p:nvPr/>
        </p:nvSpPr>
        <p:spPr>
          <a:xfrm>
            <a:off x="8458200" y="31432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3F21DC-2CFD-45DC-8F61-E75A2E2058DF}"/>
              </a:ext>
            </a:extLst>
          </p:cNvPr>
          <p:cNvSpPr>
            <a:spLocks noGrp="1"/>
          </p:cNvSpPr>
          <p:nvPr/>
        </p:nvSpPr>
        <p:spPr>
          <a:xfrm>
            <a:off x="8896350" y="3067050"/>
            <a:ext cx="2247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Manual cleanup loop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087F9E-C58B-469F-884C-7E8792FE4DA7}"/>
              </a:ext>
            </a:extLst>
          </p:cNvPr>
          <p:cNvSpPr>
            <a:spLocks noGrp="1"/>
          </p:cNvSpPr>
          <p:nvPr/>
        </p:nvSpPr>
        <p:spPr>
          <a:xfrm>
            <a:off x="8496300" y="3562350"/>
            <a:ext cx="26479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A generated file is only useful if the user can keep editing it immediately.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1B9255-5D7C-468C-AD48-A3A9829AA967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CA14E3F-5309-4248-8D0A-B54D7BD64B89}"/>
              </a:ext>
            </a:extLst>
          </p:cNvPr>
          <p:cNvSpPr>
            <a:spLocks noGrp="1"/>
          </p:cNvSpPr>
          <p:nvPr/>
        </p:nvSpPr>
        <p:spPr>
          <a:xfrm>
            <a:off x="10763250" y="6362700"/>
            <a:ext cx="76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02/09</a:t>
            </a:r>
          </a:p>
        </p:txBody>
      </p:sp>
    </p:spTree>
    <p:extLst>
      <p:ext uri="{BB962C8B-B14F-4D97-AF65-F5344CB8AC3E}">
        <p14:creationId xmlns:p14="http://schemas.microsoft.com/office/powerpoint/2010/main" val="1317563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0C69330-FA85-4A29-9B31-519BBD9A1B2B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TARGET USERS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1AFA99-B2C3-467C-8376-2D45F3E3C6A6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5247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Start with people who ship recurring business decks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9214E4-1D7E-4306-9D97-05217A740EFC}"/>
              </a:ext>
            </a:extLst>
          </p:cNvPr>
          <p:cNvSpPr>
            <a:spLocks noGrp="1"/>
          </p:cNvSpPr>
          <p:nvPr/>
        </p:nvSpPr>
        <p:spPr>
          <a:xfrm>
            <a:off x="704850" y="1828800"/>
            <a:ext cx="685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The launch message should focus on speed plus control, not generic AI novelty.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A985B45-4976-4F4B-AAD4-9B6349DFA118}"/>
              </a:ext>
            </a:extLst>
          </p:cNvPr>
          <p:cNvSpPr>
            <a:spLocks noGrp="1"/>
          </p:cNvSpPr>
          <p:nvPr/>
        </p:nvSpPr>
        <p:spPr>
          <a:xfrm>
            <a:off x="895350" y="2895600"/>
            <a:ext cx="2914650" cy="2076450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 w="9525">
            <a:solidFill>
              <a:srgbClr val="DED8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8EFB603-D95F-45D3-9C18-6AF0CE09C962}"/>
              </a:ext>
            </a:extLst>
          </p:cNvPr>
          <p:cNvSpPr>
            <a:spLocks noGrp="1"/>
          </p:cNvSpPr>
          <p:nvPr/>
        </p:nvSpPr>
        <p:spPr>
          <a:xfrm>
            <a:off x="1219200" y="3143250"/>
            <a:ext cx="514350" cy="514350"/>
          </a:xfrm>
          <a:prstGeom prst="ellipse">
            <a:avLst/>
          </a:prstGeom>
          <a:solidFill>
            <a:srgbClr val="5645D4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D42FC4-3DBC-4DEE-A4A4-C4CCF7B7BC4D}"/>
              </a:ext>
            </a:extLst>
          </p:cNvPr>
          <p:cNvSpPr>
            <a:spLocks noGrp="1"/>
          </p:cNvSpPr>
          <p:nvPr/>
        </p:nvSpPr>
        <p:spPr>
          <a:xfrm>
            <a:off x="1219200" y="3848100"/>
            <a:ext cx="2266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018"/>
                </a:solidFill>
              </a:defRPr>
            </a:pPr>
            <a:r>
              <a:rPr sz="1800" b="1">
                <a:solidFill>
                  <a:srgbClr val="132018"/>
                </a:solidFill>
              </a:rPr>
              <a:t>Operators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7161BA-7842-4240-9868-F0B2D8AC11AF}"/>
              </a:ext>
            </a:extLst>
          </p:cNvPr>
          <p:cNvSpPr>
            <a:spLocks noGrp="1"/>
          </p:cNvSpPr>
          <p:nvPr/>
        </p:nvSpPr>
        <p:spPr>
          <a:xfrm>
            <a:off x="1219200" y="4267200"/>
            <a:ext cx="22669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Weekly business reviews, project updates, customer reports.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A1CEEAB-B5A4-4688-BF7D-FA7ADA7352F4}"/>
              </a:ext>
            </a:extLst>
          </p:cNvPr>
          <p:cNvSpPr>
            <a:spLocks noGrp="1"/>
          </p:cNvSpPr>
          <p:nvPr/>
        </p:nvSpPr>
        <p:spPr>
          <a:xfrm>
            <a:off x="4476750" y="2895600"/>
            <a:ext cx="2914650" cy="2076450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 w="9525">
            <a:solidFill>
              <a:srgbClr val="DED8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0FC3A61-CE48-4027-9F4C-DEE488F67E4F}"/>
              </a:ext>
            </a:extLst>
          </p:cNvPr>
          <p:cNvSpPr>
            <a:spLocks noGrp="1"/>
          </p:cNvSpPr>
          <p:nvPr/>
        </p:nvSpPr>
        <p:spPr>
          <a:xfrm>
            <a:off x="4800600" y="3143250"/>
            <a:ext cx="514350" cy="514350"/>
          </a:xfrm>
          <a:prstGeom prst="ellipse">
            <a:avLst/>
          </a:prstGeom>
          <a:solidFill>
            <a:srgbClr val="006876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93C137-91CF-4FF4-8428-B063130751FB}"/>
              </a:ext>
            </a:extLst>
          </p:cNvPr>
          <p:cNvSpPr>
            <a:spLocks noGrp="1"/>
          </p:cNvSpPr>
          <p:nvPr/>
        </p:nvSpPr>
        <p:spPr>
          <a:xfrm>
            <a:off x="4800600" y="3848100"/>
            <a:ext cx="2266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018"/>
                </a:solidFill>
              </a:defRPr>
            </a:pPr>
            <a:r>
              <a:rPr sz="1800" b="1">
                <a:solidFill>
                  <a:srgbClr val="132018"/>
                </a:solidFill>
              </a:rPr>
              <a:t>Founders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A8FF83-CBA8-41B1-B698-0F66568BAFAF}"/>
              </a:ext>
            </a:extLst>
          </p:cNvPr>
          <p:cNvSpPr>
            <a:spLocks noGrp="1"/>
          </p:cNvSpPr>
          <p:nvPr/>
        </p:nvSpPr>
        <p:spPr>
          <a:xfrm>
            <a:off x="4800600" y="4267200"/>
            <a:ext cx="22669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Investor updates, launch narratives, sales enablement.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B2206C-89F2-4285-9FAB-04ED26095287}"/>
              </a:ext>
            </a:extLst>
          </p:cNvPr>
          <p:cNvSpPr>
            <a:spLocks noGrp="1"/>
          </p:cNvSpPr>
          <p:nvPr/>
        </p:nvSpPr>
        <p:spPr>
          <a:xfrm>
            <a:off x="8058150" y="2895600"/>
            <a:ext cx="2914650" cy="2076450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 w="9525">
            <a:solidFill>
              <a:srgbClr val="DED8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C466452-8059-4E85-A33D-96DDA27C7CDE}"/>
              </a:ext>
            </a:extLst>
          </p:cNvPr>
          <p:cNvSpPr>
            <a:spLocks noGrp="1"/>
          </p:cNvSpPr>
          <p:nvPr/>
        </p:nvSpPr>
        <p:spPr>
          <a:xfrm>
            <a:off x="8382000" y="3143250"/>
            <a:ext cx="514350" cy="514350"/>
          </a:xfrm>
          <a:prstGeom prst="ellipse">
            <a:avLst/>
          </a:prstGeom>
          <a:solidFill>
            <a:srgbClr val="1AAE39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60E6D9-55BB-4620-B628-C798E39333DB}"/>
              </a:ext>
            </a:extLst>
          </p:cNvPr>
          <p:cNvSpPr>
            <a:spLocks noGrp="1"/>
          </p:cNvSpPr>
          <p:nvPr/>
        </p:nvSpPr>
        <p:spPr>
          <a:xfrm>
            <a:off x="8382000" y="3848100"/>
            <a:ext cx="2266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018"/>
                </a:solidFill>
              </a:defRPr>
            </a:pPr>
            <a:r>
              <a:rPr sz="1800" b="1">
                <a:solidFill>
                  <a:srgbClr val="132018"/>
                </a:solidFill>
              </a:rPr>
              <a:t>Marketing teams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E56E52-D872-42E7-9E9E-225DB40D61DA}"/>
              </a:ext>
            </a:extLst>
          </p:cNvPr>
          <p:cNvSpPr>
            <a:spLocks noGrp="1"/>
          </p:cNvSpPr>
          <p:nvPr/>
        </p:nvSpPr>
        <p:spPr>
          <a:xfrm>
            <a:off x="8382000" y="4267200"/>
            <a:ext cx="22669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Campaign briefs, product stories, community assets.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5F2C99-D6B3-4C9A-AB66-B547F8E6279F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80F063-F9C7-491F-BDA7-DD31C4BF1191}"/>
              </a:ext>
            </a:extLst>
          </p:cNvPr>
          <p:cNvSpPr>
            <a:spLocks noGrp="1"/>
          </p:cNvSpPr>
          <p:nvPr/>
        </p:nvSpPr>
        <p:spPr>
          <a:xfrm>
            <a:off x="10763250" y="6362700"/>
            <a:ext cx="76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03/09</a:t>
            </a:r>
          </a:p>
        </p:txBody>
      </p:sp>
    </p:spTree>
    <p:extLst>
      <p:ext uri="{BB962C8B-B14F-4D97-AF65-F5344CB8AC3E}">
        <p14:creationId xmlns:p14="http://schemas.microsoft.com/office/powerpoint/2010/main" val="2014671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FF04BE54-FC55-4AC0-B500-29A74A5E0131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CD819E-9114-435B-A24E-2197AC3B9452}"/>
              </a:ext>
            </a:extLst>
          </p:cNvPr>
          <p:cNvSpPr>
            <a:spLocks noGrp="1"/>
          </p:cNvSpPr>
          <p:nvPr/>
        </p:nvSpPr>
        <p:spPr>
          <a:xfrm>
            <a:off x="15621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48FB91-CA8B-4178-A780-897B5E0A5370}"/>
              </a:ext>
            </a:extLst>
          </p:cNvPr>
          <p:cNvSpPr>
            <a:spLocks noGrp="1"/>
          </p:cNvSpPr>
          <p:nvPr/>
        </p:nvSpPr>
        <p:spPr>
          <a:xfrm>
            <a:off x="24384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A39220-310A-4B7B-BE66-F0DE3D1BDDBA}"/>
              </a:ext>
            </a:extLst>
          </p:cNvPr>
          <p:cNvSpPr>
            <a:spLocks noGrp="1"/>
          </p:cNvSpPr>
          <p:nvPr/>
        </p:nvSpPr>
        <p:spPr>
          <a:xfrm>
            <a:off x="33147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6D9651-7459-4570-9641-F1BD778FF9AE}"/>
              </a:ext>
            </a:extLst>
          </p:cNvPr>
          <p:cNvSpPr>
            <a:spLocks noGrp="1"/>
          </p:cNvSpPr>
          <p:nvPr/>
        </p:nvSpPr>
        <p:spPr>
          <a:xfrm>
            <a:off x="41910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4EF967-CF78-4E9A-B5E8-115C39E8D936}"/>
              </a:ext>
            </a:extLst>
          </p:cNvPr>
          <p:cNvSpPr>
            <a:spLocks noGrp="1"/>
          </p:cNvSpPr>
          <p:nvPr/>
        </p:nvSpPr>
        <p:spPr>
          <a:xfrm>
            <a:off x="50673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4A77C0-A1AD-4A30-8CAB-80F4F54C5D9D}"/>
              </a:ext>
            </a:extLst>
          </p:cNvPr>
          <p:cNvSpPr>
            <a:spLocks noGrp="1"/>
          </p:cNvSpPr>
          <p:nvPr/>
        </p:nvSpPr>
        <p:spPr>
          <a:xfrm>
            <a:off x="59436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E368A9-E777-4097-BBA8-BC028F2E57CD}"/>
              </a:ext>
            </a:extLst>
          </p:cNvPr>
          <p:cNvSpPr>
            <a:spLocks noGrp="1"/>
          </p:cNvSpPr>
          <p:nvPr/>
        </p:nvSpPr>
        <p:spPr>
          <a:xfrm>
            <a:off x="68199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90B967-AAC7-4F6C-9563-4B506EDB8D9C}"/>
              </a:ext>
            </a:extLst>
          </p:cNvPr>
          <p:cNvSpPr>
            <a:spLocks noGrp="1"/>
          </p:cNvSpPr>
          <p:nvPr/>
        </p:nvSpPr>
        <p:spPr>
          <a:xfrm>
            <a:off x="76962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814660-A3C3-470E-94FC-EB22C478B87D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8F79FB-FFE2-4BB4-9270-8502F339448A}"/>
              </a:ext>
            </a:extLst>
          </p:cNvPr>
          <p:cNvSpPr>
            <a:spLocks noGrp="1"/>
          </p:cNvSpPr>
          <p:nvPr/>
        </p:nvSpPr>
        <p:spPr>
          <a:xfrm>
            <a:off x="94488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556BCE-6CF0-41E0-B96A-A5F25B5EA139}"/>
              </a:ext>
            </a:extLst>
          </p:cNvPr>
          <p:cNvSpPr>
            <a:spLocks noGrp="1"/>
          </p:cNvSpPr>
          <p:nvPr/>
        </p:nvSpPr>
        <p:spPr>
          <a:xfrm>
            <a:off x="103251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FB45F9-5D19-4F66-A0F6-0BC128B5B9FC}"/>
              </a:ext>
            </a:extLst>
          </p:cNvPr>
          <p:cNvSpPr>
            <a:spLocks noGrp="1"/>
          </p:cNvSpPr>
          <p:nvPr/>
        </p:nvSpPr>
        <p:spPr>
          <a:xfrm>
            <a:off x="11201400" y="381000"/>
            <a:ext cx="9525" cy="5905500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0A7C29-2801-4777-B250-C4C2AE6CEBF8}"/>
              </a:ext>
            </a:extLst>
          </p:cNvPr>
          <p:cNvSpPr>
            <a:spLocks noGrp="1"/>
          </p:cNvSpPr>
          <p:nvPr/>
        </p:nvSpPr>
        <p:spPr>
          <a:xfrm>
            <a:off x="457200" y="704850"/>
            <a:ext cx="11239500" cy="9525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4A4DA4-6EDC-4D81-B34C-6F6BCABA9DF6}"/>
              </a:ext>
            </a:extLst>
          </p:cNvPr>
          <p:cNvSpPr>
            <a:spLocks noGrp="1"/>
          </p:cNvSpPr>
          <p:nvPr/>
        </p:nvSpPr>
        <p:spPr>
          <a:xfrm>
            <a:off x="457200" y="1390650"/>
            <a:ext cx="11239500" cy="9525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25A801-1BDA-45C6-BFCA-10B733994C55}"/>
              </a:ext>
            </a:extLst>
          </p:cNvPr>
          <p:cNvSpPr>
            <a:spLocks noGrp="1"/>
          </p:cNvSpPr>
          <p:nvPr/>
        </p:nvSpPr>
        <p:spPr>
          <a:xfrm>
            <a:off x="457200" y="2076450"/>
            <a:ext cx="11239500" cy="9525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94C3D2-DAAE-42EA-A5BA-99BC08D112B3}"/>
              </a:ext>
            </a:extLst>
          </p:cNvPr>
          <p:cNvSpPr>
            <a:spLocks noGrp="1"/>
          </p:cNvSpPr>
          <p:nvPr/>
        </p:nvSpPr>
        <p:spPr>
          <a:xfrm>
            <a:off x="457200" y="2762250"/>
            <a:ext cx="11239500" cy="9525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9FC164-4A24-4EFE-AA0A-A13DEF8DE200}"/>
              </a:ext>
            </a:extLst>
          </p:cNvPr>
          <p:cNvSpPr>
            <a:spLocks noGrp="1"/>
          </p:cNvSpPr>
          <p:nvPr/>
        </p:nvSpPr>
        <p:spPr>
          <a:xfrm>
            <a:off x="457200" y="3448050"/>
            <a:ext cx="11239500" cy="9525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BBC3DC-7B23-41EF-9B16-D90E38C551F9}"/>
              </a:ext>
            </a:extLst>
          </p:cNvPr>
          <p:cNvSpPr>
            <a:spLocks noGrp="1"/>
          </p:cNvSpPr>
          <p:nvPr/>
        </p:nvSpPr>
        <p:spPr>
          <a:xfrm>
            <a:off x="457200" y="4133850"/>
            <a:ext cx="11239500" cy="9525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093E521-819F-4A2E-9A6E-09AAE17E0A83}"/>
              </a:ext>
            </a:extLst>
          </p:cNvPr>
          <p:cNvSpPr>
            <a:spLocks noGrp="1"/>
          </p:cNvSpPr>
          <p:nvPr/>
        </p:nvSpPr>
        <p:spPr>
          <a:xfrm>
            <a:off x="457200" y="4819650"/>
            <a:ext cx="11239500" cy="9525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002570-0777-48D7-9042-D745B3910F33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11239500" cy="9525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5E796C2-3077-446E-9C5C-B7D16E9ED44C}"/>
              </a:ext>
            </a:extLst>
          </p:cNvPr>
          <p:cNvSpPr>
            <a:spLocks noGrp="1"/>
          </p:cNvSpPr>
          <p:nvPr/>
        </p:nvSpPr>
        <p:spPr>
          <a:xfrm>
            <a:off x="457200" y="6191250"/>
            <a:ext cx="11239500" cy="9525"/>
          </a:xfrm>
          <a:prstGeom prst="rect">
            <a:avLst/>
          </a:prstGeom>
          <a:solidFill>
            <a:srgbClr val="E6F2EE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606A9D9-D859-4E05-83C9-46F7D8D31656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POSITIONING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697356-BF84-4765-A00F-AFD5BBEB94F1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5247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A workflow, not a one-shot generator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DCAFEB-BAD8-4DE4-A6D2-F678A8B24D51}"/>
              </a:ext>
            </a:extLst>
          </p:cNvPr>
          <p:cNvSpPr>
            <a:spLocks noGrp="1"/>
          </p:cNvSpPr>
          <p:nvPr/>
        </p:nvSpPr>
        <p:spPr>
          <a:xfrm>
            <a:off x="704850" y="1828800"/>
            <a:ext cx="685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OfficeDex makes the invisible steps of deck creation inspectable and repeatable.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54B166C-F86F-45BA-80A0-9EAF4670C35C}"/>
              </a:ext>
            </a:extLst>
          </p:cNvPr>
          <p:cNvSpPr>
            <a:spLocks noGrp="1"/>
          </p:cNvSpPr>
          <p:nvPr/>
        </p:nvSpPr>
        <p:spPr>
          <a:xfrm>
            <a:off x="1104900" y="3067050"/>
            <a:ext cx="2724150" cy="1714500"/>
          </a:xfrm>
          <a:prstGeom prst="roundRect">
            <a:avLst>
              <a:gd name="adj" fmla="val 13333"/>
            </a:avLst>
          </a:prstGeom>
          <a:solidFill>
            <a:srgbClr val="F8FBFA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CB65A2-67F2-4C86-AC8E-6E6BE486AAC8}"/>
              </a:ext>
            </a:extLst>
          </p:cNvPr>
          <p:cNvSpPr>
            <a:spLocks noGrp="1"/>
          </p:cNvSpPr>
          <p:nvPr/>
        </p:nvSpPr>
        <p:spPr>
          <a:xfrm>
            <a:off x="1333500" y="323850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06876"/>
                </a:solidFill>
              </a:defRPr>
            </a:pPr>
            <a:r>
              <a:rPr sz="1200" b="1">
                <a:solidFill>
                  <a:srgbClr val="006876"/>
                </a:solidFill>
              </a:rPr>
              <a:t>01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6D7CB2-AB2B-48C2-B786-D66499007AFE}"/>
              </a:ext>
            </a:extLst>
          </p:cNvPr>
          <p:cNvSpPr>
            <a:spLocks noGrp="1"/>
          </p:cNvSpPr>
          <p:nvPr/>
        </p:nvSpPr>
        <p:spPr>
          <a:xfrm>
            <a:off x="1333500" y="363855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32018"/>
                </a:solidFill>
              </a:defRPr>
            </a:pPr>
            <a:r>
              <a:rPr sz="1650" b="1">
                <a:solidFill>
                  <a:srgbClr val="132018"/>
                </a:solidFill>
              </a:rPr>
              <a:t>Build variables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5EED96-11CC-4EAA-ADB2-B61301A4A807}"/>
              </a:ext>
            </a:extLst>
          </p:cNvPr>
          <p:cNvSpPr>
            <a:spLocks noGrp="1"/>
          </p:cNvSpPr>
          <p:nvPr/>
        </p:nvSpPr>
        <p:spPr>
          <a:xfrm>
            <a:off x="1333500" y="4095750"/>
            <a:ext cx="2209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8656B"/>
                </a:solidFill>
              </a:defRPr>
            </a:pPr>
            <a:r>
              <a:rPr sz="1050" b="0">
                <a:solidFill>
                  <a:srgbClr val="58656B"/>
                </a:solidFill>
              </a:rPr>
              <a:t>Topic, audience, style, and constraints become explicit.</a:t>
            </a: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A0C6DD56-2BEE-418C-AE49-F7A6948AE657}"/>
              </a:ext>
            </a:extLst>
          </p:cNvPr>
          <p:cNvSpPr>
            <a:spLocks noGrp="1"/>
          </p:cNvSpPr>
          <p:nvPr/>
        </p:nvSpPr>
        <p:spPr>
          <a:xfrm>
            <a:off x="4000500" y="3714750"/>
            <a:ext cx="552450" cy="400050"/>
          </a:xfrm>
          <a:prstGeom prst="rightArrow">
            <a:avLst/>
          </a:prstGeom>
          <a:solidFill>
            <a:srgbClr val="D8EFE5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2F7DC85-FFE7-4D21-892A-48CDC76616E7}"/>
              </a:ext>
            </a:extLst>
          </p:cNvPr>
          <p:cNvSpPr>
            <a:spLocks noGrp="1"/>
          </p:cNvSpPr>
          <p:nvPr/>
        </p:nvSpPr>
        <p:spPr>
          <a:xfrm>
            <a:off x="4495800" y="3067050"/>
            <a:ext cx="2724150" cy="1714500"/>
          </a:xfrm>
          <a:prstGeom prst="roundRect">
            <a:avLst>
              <a:gd name="adj" fmla="val 13333"/>
            </a:avLst>
          </a:prstGeom>
          <a:solidFill>
            <a:srgbClr val="F8FBFA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9B2735-03CB-4DD1-8E67-3993DF7C0B8F}"/>
              </a:ext>
            </a:extLst>
          </p:cNvPr>
          <p:cNvSpPr>
            <a:spLocks noGrp="1"/>
          </p:cNvSpPr>
          <p:nvPr/>
        </p:nvSpPr>
        <p:spPr>
          <a:xfrm>
            <a:off x="4724400" y="323850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06876"/>
                </a:solidFill>
              </a:defRPr>
            </a:pPr>
            <a:r>
              <a:rPr sz="1200" b="1">
                <a:solidFill>
                  <a:srgbClr val="006876"/>
                </a:solidFill>
              </a:rPr>
              <a:t>02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6288A24-C5F3-4330-B7EC-C2E68062CD9A}"/>
              </a:ext>
            </a:extLst>
          </p:cNvPr>
          <p:cNvSpPr>
            <a:spLocks noGrp="1"/>
          </p:cNvSpPr>
          <p:nvPr/>
        </p:nvSpPr>
        <p:spPr>
          <a:xfrm>
            <a:off x="4724400" y="363855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32018"/>
                </a:solidFill>
              </a:defRPr>
            </a:pPr>
            <a:r>
              <a:rPr sz="1650" b="1">
                <a:solidFill>
                  <a:srgbClr val="132018"/>
                </a:solidFill>
              </a:rPr>
              <a:t>Confirm structure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E5C1D83-14AB-4D3A-8517-6E7F41AB2851}"/>
              </a:ext>
            </a:extLst>
          </p:cNvPr>
          <p:cNvSpPr>
            <a:spLocks noGrp="1"/>
          </p:cNvSpPr>
          <p:nvPr/>
        </p:nvSpPr>
        <p:spPr>
          <a:xfrm>
            <a:off x="4724400" y="4095750"/>
            <a:ext cx="2209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8656B"/>
                </a:solidFill>
              </a:defRPr>
            </a:pPr>
            <a:r>
              <a:rPr sz="1050" b="0">
                <a:solidFill>
                  <a:srgbClr val="58656B"/>
                </a:solidFill>
              </a:rPr>
              <a:t>Users approve each generation stage before the deck is assembled.</a:t>
            </a:r>
          </a:p>
        </p:txBody>
      </p:sp>
      <p:sp>
        <p:nvSpPr>
          <p:cNvPr id="35" name="Right Arrow 34">
            <a:extLst>
              <a:ext uri="{FF2B5EF4-FFF2-40B4-BE49-F238E27FC236}">
                <a16:creationId xmlns:a16="http://schemas.microsoft.com/office/drawing/2014/main" id="{54EDA9E6-F1BC-40FC-BB2A-55D649AA265D}"/>
              </a:ext>
            </a:extLst>
          </p:cNvPr>
          <p:cNvSpPr>
            <a:spLocks noGrp="1"/>
          </p:cNvSpPr>
          <p:nvPr/>
        </p:nvSpPr>
        <p:spPr>
          <a:xfrm>
            <a:off x="7391400" y="3714750"/>
            <a:ext cx="552450" cy="400050"/>
          </a:xfrm>
          <a:prstGeom prst="rightArrow">
            <a:avLst/>
          </a:prstGeom>
          <a:solidFill>
            <a:srgbClr val="D8EFE5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DDF1887B-446E-4BD7-99A4-E4943570CDAD}"/>
              </a:ext>
            </a:extLst>
          </p:cNvPr>
          <p:cNvSpPr>
            <a:spLocks noGrp="1"/>
          </p:cNvSpPr>
          <p:nvPr/>
        </p:nvSpPr>
        <p:spPr>
          <a:xfrm>
            <a:off x="7886700" y="3067050"/>
            <a:ext cx="2724150" cy="1714500"/>
          </a:xfrm>
          <a:prstGeom prst="roundRect">
            <a:avLst>
              <a:gd name="adj" fmla="val 13333"/>
            </a:avLst>
          </a:prstGeom>
          <a:solidFill>
            <a:srgbClr val="F8FBFA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41D46D8-EA12-4B99-8B6A-476476696DB7}"/>
              </a:ext>
            </a:extLst>
          </p:cNvPr>
          <p:cNvSpPr>
            <a:spLocks noGrp="1"/>
          </p:cNvSpPr>
          <p:nvPr/>
        </p:nvSpPr>
        <p:spPr>
          <a:xfrm>
            <a:off x="8115300" y="323850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06876"/>
                </a:solidFill>
              </a:defRPr>
            </a:pPr>
            <a:r>
              <a:rPr sz="1200" b="1">
                <a:solidFill>
                  <a:srgbClr val="006876"/>
                </a:solidFill>
              </a:rPr>
              <a:t>03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3666988-0518-4E2C-A0BA-A039235955BB}"/>
              </a:ext>
            </a:extLst>
          </p:cNvPr>
          <p:cNvSpPr>
            <a:spLocks noGrp="1"/>
          </p:cNvSpPr>
          <p:nvPr/>
        </p:nvSpPr>
        <p:spPr>
          <a:xfrm>
            <a:off x="8115300" y="363855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32018"/>
                </a:solidFill>
              </a:defRPr>
            </a:pPr>
            <a:r>
              <a:rPr sz="1650" b="1">
                <a:solidFill>
                  <a:srgbClr val="132018"/>
                </a:solidFill>
              </a:rPr>
              <a:t>Edit precisely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FD88ED-0C10-4EF5-ADA2-A7491D3CA65F}"/>
              </a:ext>
            </a:extLst>
          </p:cNvPr>
          <p:cNvSpPr>
            <a:spLocks noGrp="1"/>
          </p:cNvSpPr>
          <p:nvPr/>
        </p:nvSpPr>
        <p:spPr>
          <a:xfrm>
            <a:off x="8115300" y="4095750"/>
            <a:ext cx="2209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8656B"/>
                </a:solidFill>
              </a:defRPr>
            </a:pPr>
            <a:r>
              <a:rPr sz="1050" b="0">
                <a:solidFill>
                  <a:srgbClr val="58656B"/>
                </a:solidFill>
              </a:rPr>
              <a:t>The final PPTX opens in the product with AI-assisted slide edits.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28B1214-7150-4C59-ADB0-30EE30F5CA59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4A81651-6488-4705-972E-D890C030B5A4}"/>
              </a:ext>
            </a:extLst>
          </p:cNvPr>
          <p:cNvSpPr>
            <a:spLocks noGrp="1"/>
          </p:cNvSpPr>
          <p:nvPr/>
        </p:nvSpPr>
        <p:spPr>
          <a:xfrm>
            <a:off x="10763250" y="6362700"/>
            <a:ext cx="76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04/09</a:t>
            </a:r>
          </a:p>
        </p:txBody>
      </p:sp>
    </p:spTree>
    <p:extLst>
      <p:ext uri="{BB962C8B-B14F-4D97-AF65-F5344CB8AC3E}">
        <p14:creationId xmlns:p14="http://schemas.microsoft.com/office/powerpoint/2010/main" val="1127085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B4D7B97D-7182-45E6-A031-DDBD9E88B4D5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LAUNCH CHANNELS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20935F-82CD-4D25-95D1-1DEDB6C09BCD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5247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Launch where productivity buyers already compare tools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C64E19-A119-497D-8FB7-DCBDFA1C7D0F}"/>
              </a:ext>
            </a:extLst>
          </p:cNvPr>
          <p:cNvSpPr>
            <a:spLocks noGrp="1"/>
          </p:cNvSpPr>
          <p:nvPr/>
        </p:nvSpPr>
        <p:spPr>
          <a:xfrm>
            <a:off x="704850" y="1828800"/>
            <a:ext cx="685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Use the same deterministic demo across website, X, and short-form video.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A131748-4808-4F17-B643-185C95D4663B}"/>
              </a:ext>
            </a:extLst>
          </p:cNvPr>
          <p:cNvSpPr>
            <a:spLocks noGrp="1"/>
          </p:cNvSpPr>
          <p:nvPr/>
        </p:nvSpPr>
        <p:spPr>
          <a:xfrm>
            <a:off x="1181100" y="2819400"/>
            <a:ext cx="9829800" cy="238125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6E71BE-D4CB-4694-B0B4-525553D7047B}"/>
              </a:ext>
            </a:extLst>
          </p:cNvPr>
          <p:cNvSpPr>
            <a:spLocks noGrp="1"/>
          </p:cNvSpPr>
          <p:nvPr/>
        </p:nvSpPr>
        <p:spPr>
          <a:xfrm>
            <a:off x="1524000" y="30861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32018"/>
                </a:solidFill>
              </a:defRPr>
            </a:pPr>
            <a:r>
              <a:rPr sz="1500" b="1">
                <a:solidFill>
                  <a:srgbClr val="132018"/>
                </a:solidFill>
              </a:rPr>
              <a:t>Website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619B40-2770-4197-B64C-94132F1DD0D3}"/>
              </a:ext>
            </a:extLst>
          </p:cNvPr>
          <p:cNvSpPr>
            <a:spLocks noGrp="1"/>
          </p:cNvSpPr>
          <p:nvPr/>
        </p:nvSpPr>
        <p:spPr>
          <a:xfrm>
            <a:off x="4000500" y="31051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8656B"/>
                </a:solidFill>
              </a:defRPr>
            </a:pPr>
            <a:r>
              <a:rPr sz="1200" b="0">
                <a:solidFill>
                  <a:srgbClr val="58656B"/>
                </a:solidFill>
              </a:rPr>
              <a:t>Hero demo + direct download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099F124-F4D1-4F0B-AA9C-3396D8E027E5}"/>
              </a:ext>
            </a:extLst>
          </p:cNvPr>
          <p:cNvSpPr>
            <a:spLocks noGrp="1"/>
          </p:cNvSpPr>
          <p:nvPr/>
        </p:nvSpPr>
        <p:spPr>
          <a:xfrm>
            <a:off x="9010650" y="3067050"/>
            <a:ext cx="1238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687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9F123-D267-4E53-84E6-0DAA978BD39C}"/>
              </a:ext>
            </a:extLst>
          </p:cNvPr>
          <p:cNvSpPr>
            <a:spLocks noGrp="1"/>
          </p:cNvSpPr>
          <p:nvPr/>
        </p:nvSpPr>
        <p:spPr>
          <a:xfrm>
            <a:off x="9163050" y="3133725"/>
            <a:ext cx="933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Conversion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244BCC-AFB1-47C5-96C4-B380D1FB59FE}"/>
              </a:ext>
            </a:extLst>
          </p:cNvPr>
          <p:cNvSpPr>
            <a:spLocks noGrp="1"/>
          </p:cNvSpPr>
          <p:nvPr/>
        </p:nvSpPr>
        <p:spPr>
          <a:xfrm>
            <a:off x="1466850" y="3600450"/>
            <a:ext cx="9258300" cy="9525"/>
          </a:xfrm>
          <a:prstGeom prst="rect">
            <a:avLst/>
          </a:prstGeom>
          <a:solidFill>
            <a:srgbClr val="E7EFEB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8AAF81-8DCF-4206-8055-D3DE9316E680}"/>
              </a:ext>
            </a:extLst>
          </p:cNvPr>
          <p:cNvSpPr>
            <a:spLocks noGrp="1"/>
          </p:cNvSpPr>
          <p:nvPr/>
        </p:nvSpPr>
        <p:spPr>
          <a:xfrm>
            <a:off x="1524000" y="37719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32018"/>
                </a:solidFill>
              </a:defRPr>
            </a:pPr>
            <a:r>
              <a:rPr sz="1500" b="1">
                <a:solidFill>
                  <a:srgbClr val="132018"/>
                </a:solidFill>
              </a:rPr>
              <a:t>X platform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4DBEA5-8B76-4FC4-BAAB-8CEF1DCAFB3E}"/>
              </a:ext>
            </a:extLst>
          </p:cNvPr>
          <p:cNvSpPr>
            <a:spLocks noGrp="1"/>
          </p:cNvSpPr>
          <p:nvPr/>
        </p:nvSpPr>
        <p:spPr>
          <a:xfrm>
            <a:off x="4000500" y="37909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8656B"/>
                </a:solidFill>
              </a:defRPr>
            </a:pPr>
            <a:r>
              <a:rPr sz="1200" b="0">
                <a:solidFill>
                  <a:srgbClr val="58656B"/>
                </a:solidFill>
              </a:rPr>
              <a:t>75–90 sec product walkthrough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F1F5221-83D1-4510-AA2E-6D726FDB7D4E}"/>
              </a:ext>
            </a:extLst>
          </p:cNvPr>
          <p:cNvSpPr>
            <a:spLocks noGrp="1"/>
          </p:cNvSpPr>
          <p:nvPr/>
        </p:nvSpPr>
        <p:spPr>
          <a:xfrm>
            <a:off x="9010650" y="3752850"/>
            <a:ext cx="1238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5645D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B796C9-B728-4636-BA22-735146538360}"/>
              </a:ext>
            </a:extLst>
          </p:cNvPr>
          <p:cNvSpPr>
            <a:spLocks noGrp="1"/>
          </p:cNvSpPr>
          <p:nvPr/>
        </p:nvSpPr>
        <p:spPr>
          <a:xfrm>
            <a:off x="9163050" y="3819525"/>
            <a:ext cx="933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5645D4"/>
                </a:solidFill>
              </a:defRPr>
            </a:pPr>
            <a:r>
              <a:rPr sz="900" b="1">
                <a:solidFill>
                  <a:srgbClr val="5645D4"/>
                </a:solidFill>
              </a:rPr>
              <a:t>Reach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691212-42BC-49D6-A6A9-41719B56A138}"/>
              </a:ext>
            </a:extLst>
          </p:cNvPr>
          <p:cNvSpPr>
            <a:spLocks noGrp="1"/>
          </p:cNvSpPr>
          <p:nvPr/>
        </p:nvSpPr>
        <p:spPr>
          <a:xfrm>
            <a:off x="1466850" y="4286250"/>
            <a:ext cx="9258300" cy="9525"/>
          </a:xfrm>
          <a:prstGeom prst="rect">
            <a:avLst/>
          </a:prstGeom>
          <a:solidFill>
            <a:srgbClr val="E7EFEB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06C6AA-CF03-4DE0-97B4-8D9C13FF2399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32018"/>
                </a:solidFill>
              </a:defRPr>
            </a:pPr>
            <a:r>
              <a:rPr sz="1500" b="1">
                <a:solidFill>
                  <a:srgbClr val="132018"/>
                </a:solidFill>
              </a:rPr>
              <a:t>Communities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C4A70E-C432-40C2-A730-36AA5005883D}"/>
              </a:ext>
            </a:extLst>
          </p:cNvPr>
          <p:cNvSpPr>
            <a:spLocks noGrp="1"/>
          </p:cNvSpPr>
          <p:nvPr/>
        </p:nvSpPr>
        <p:spPr>
          <a:xfrm>
            <a:off x="4000500" y="44767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8656B"/>
                </a:solidFill>
              </a:defRPr>
            </a:pPr>
            <a:r>
              <a:rPr sz="1200" b="0">
                <a:solidFill>
                  <a:srgbClr val="58656B"/>
                </a:solidFill>
              </a:rPr>
              <a:t>Template-led examples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8C1E139-0EF6-482A-9E7B-9F9036D394B8}"/>
              </a:ext>
            </a:extLst>
          </p:cNvPr>
          <p:cNvSpPr>
            <a:spLocks noGrp="1"/>
          </p:cNvSpPr>
          <p:nvPr/>
        </p:nvSpPr>
        <p:spPr>
          <a:xfrm>
            <a:off x="9010650" y="4438650"/>
            <a:ext cx="1238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687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9FB7E1-D251-4879-8EBD-EA188D63AC2F}"/>
              </a:ext>
            </a:extLst>
          </p:cNvPr>
          <p:cNvSpPr>
            <a:spLocks noGrp="1"/>
          </p:cNvSpPr>
          <p:nvPr/>
        </p:nvSpPr>
        <p:spPr>
          <a:xfrm>
            <a:off x="9163050" y="4505325"/>
            <a:ext cx="933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Trust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4A72225-FF27-4C4A-AE1E-1B8F5B58B51C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A19034F-5295-4241-9C5D-710902232514}"/>
              </a:ext>
            </a:extLst>
          </p:cNvPr>
          <p:cNvSpPr>
            <a:spLocks noGrp="1"/>
          </p:cNvSpPr>
          <p:nvPr/>
        </p:nvSpPr>
        <p:spPr>
          <a:xfrm>
            <a:off x="10763250" y="6362700"/>
            <a:ext cx="76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05/09</a:t>
            </a:r>
          </a:p>
        </p:txBody>
      </p:sp>
    </p:spTree>
    <p:extLst>
      <p:ext uri="{BB962C8B-B14F-4D97-AF65-F5344CB8AC3E}">
        <p14:creationId xmlns:p14="http://schemas.microsoft.com/office/powerpoint/2010/main" val="190347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17B1C43-B343-4BA0-B847-0151FB5BC41E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BEEFE0"/>
                </a:solidFill>
              </a:defRPr>
            </a:pPr>
            <a:r>
              <a:rPr sz="900" b="1">
                <a:solidFill>
                  <a:srgbClr val="BEEFE0"/>
                </a:solidFill>
              </a:rPr>
              <a:t>90-DAY LAUNCH TIMELINE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C177E2-B9DA-4D44-8249-D9718173424E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5247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Turn launch proof into a repeatable funnel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21CACA-DE9C-4249-93A1-AF760F4FC639}"/>
              </a:ext>
            </a:extLst>
          </p:cNvPr>
          <p:cNvSpPr>
            <a:spLocks noGrp="1"/>
          </p:cNvSpPr>
          <p:nvPr/>
        </p:nvSpPr>
        <p:spPr>
          <a:xfrm>
            <a:off x="704850" y="1828800"/>
            <a:ext cx="685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D8EFE5"/>
                </a:solidFill>
              </a:defRPr>
            </a:pPr>
            <a:r>
              <a:rPr sz="1350" b="0">
                <a:solidFill>
                  <a:srgbClr val="D8EFE5"/>
                </a:solidFill>
              </a:rPr>
              <a:t>This slide is intentionally visual so the demo can show a precise timeline edit.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15AFF-8643-48B6-B676-0D91DF9FFB08}"/>
              </a:ext>
            </a:extLst>
          </p:cNvPr>
          <p:cNvSpPr>
            <a:spLocks noGrp="1"/>
          </p:cNvSpPr>
          <p:nvPr/>
        </p:nvSpPr>
        <p:spPr>
          <a:xfrm>
            <a:off x="1428750" y="3962400"/>
            <a:ext cx="9334500" cy="38100"/>
          </a:xfrm>
          <a:prstGeom prst="rect">
            <a:avLst/>
          </a:prstGeom>
          <a:solidFill>
            <a:srgbClr val="315D62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23F3AE2-7B2B-470B-941D-A153B1F3E8FB}"/>
              </a:ext>
            </a:extLst>
          </p:cNvPr>
          <p:cNvSpPr>
            <a:spLocks noGrp="1"/>
          </p:cNvSpPr>
          <p:nvPr/>
        </p:nvSpPr>
        <p:spPr>
          <a:xfrm>
            <a:off x="1657350" y="3676650"/>
            <a:ext cx="590550" cy="590550"/>
          </a:xfrm>
          <a:prstGeom prst="ellipse">
            <a:avLst/>
          </a:prstGeom>
          <a:solidFill>
            <a:srgbClr val="1AAE39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A2C73B-E8B3-4593-9868-F2D3E5F92715}"/>
              </a:ext>
            </a:extLst>
          </p:cNvPr>
          <p:cNvSpPr>
            <a:spLocks noGrp="1"/>
          </p:cNvSpPr>
          <p:nvPr/>
        </p:nvSpPr>
        <p:spPr>
          <a:xfrm>
            <a:off x="1695450" y="3848100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0–30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671914-739D-4AD7-9D6E-543C504FB787}"/>
              </a:ext>
            </a:extLst>
          </p:cNvPr>
          <p:cNvSpPr>
            <a:spLocks noGrp="1"/>
          </p:cNvSpPr>
          <p:nvPr/>
        </p:nvSpPr>
        <p:spPr>
          <a:xfrm>
            <a:off x="1333500" y="453390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Proof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6043EC-04C6-49AB-B32B-6EE4B3AF7833}"/>
              </a:ext>
            </a:extLst>
          </p:cNvPr>
          <p:cNvSpPr>
            <a:spLocks noGrp="1"/>
          </p:cNvSpPr>
          <p:nvPr/>
        </p:nvSpPr>
        <p:spPr>
          <a:xfrm>
            <a:off x="876300" y="4933950"/>
            <a:ext cx="2152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D8EFE5"/>
                </a:solidFill>
              </a:defRPr>
            </a:pPr>
            <a:r>
              <a:rPr sz="1050" b="0">
                <a:solidFill>
                  <a:srgbClr val="D8EFE5"/>
                </a:solidFill>
              </a:rPr>
              <a:t>Website, video, download funnel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FA88BB-C323-4B04-9B27-2C6FC59E3E54}"/>
              </a:ext>
            </a:extLst>
          </p:cNvPr>
          <p:cNvSpPr>
            <a:spLocks noGrp="1"/>
          </p:cNvSpPr>
          <p:nvPr/>
        </p:nvSpPr>
        <p:spPr>
          <a:xfrm>
            <a:off x="4991100" y="3676650"/>
            <a:ext cx="590550" cy="590550"/>
          </a:xfrm>
          <a:prstGeom prst="ellipse">
            <a:avLst/>
          </a:prstGeom>
          <a:solidFill>
            <a:srgbClr val="006876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0350D0-3A27-4C02-853D-76BFF6F1FB25}"/>
              </a:ext>
            </a:extLst>
          </p:cNvPr>
          <p:cNvSpPr>
            <a:spLocks noGrp="1"/>
          </p:cNvSpPr>
          <p:nvPr/>
        </p:nvSpPr>
        <p:spPr>
          <a:xfrm>
            <a:off x="4935500" y="3857625"/>
            <a:ext cx="701749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31–60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23C1D7-9C8A-4A8C-8A13-03257E5E2C40}"/>
              </a:ext>
            </a:extLst>
          </p:cNvPr>
          <p:cNvSpPr>
            <a:spLocks noGrp="1"/>
          </p:cNvSpPr>
          <p:nvPr/>
        </p:nvSpPr>
        <p:spPr>
          <a:xfrm>
            <a:off x="4667250" y="453390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59E174-E8E0-4795-8D00-9599F8585787}"/>
              </a:ext>
            </a:extLst>
          </p:cNvPr>
          <p:cNvSpPr>
            <a:spLocks noGrp="1"/>
          </p:cNvSpPr>
          <p:nvPr/>
        </p:nvSpPr>
        <p:spPr>
          <a:xfrm>
            <a:off x="4210050" y="4933950"/>
            <a:ext cx="2152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D8EFE5"/>
                </a:solidFill>
              </a:defRPr>
            </a:pPr>
            <a:r>
              <a:rPr sz="1050" b="0">
                <a:solidFill>
                  <a:srgbClr val="D8EFE5"/>
                </a:solidFill>
              </a:rPr>
              <a:t>X thread, community examples, onboarding data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9CE5851-16FF-4F43-90B2-E98BAB72185C}"/>
              </a:ext>
            </a:extLst>
          </p:cNvPr>
          <p:cNvSpPr>
            <a:spLocks noGrp="1"/>
          </p:cNvSpPr>
          <p:nvPr/>
        </p:nvSpPr>
        <p:spPr>
          <a:xfrm>
            <a:off x="8324850" y="3676650"/>
            <a:ext cx="590550" cy="590550"/>
          </a:xfrm>
          <a:prstGeom prst="ellipse">
            <a:avLst/>
          </a:prstGeom>
          <a:solidFill>
            <a:srgbClr val="7B3FF2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69E915-8FC9-4DFA-A281-8BF1F9E3D63B}"/>
              </a:ext>
            </a:extLst>
          </p:cNvPr>
          <p:cNvSpPr>
            <a:spLocks noGrp="1"/>
          </p:cNvSpPr>
          <p:nvPr/>
        </p:nvSpPr>
        <p:spPr>
          <a:xfrm>
            <a:off x="8324850" y="3867372"/>
            <a:ext cx="590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61–90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5FACD6-1E95-4936-84E8-56D91D3A45F1}"/>
              </a:ext>
            </a:extLst>
          </p:cNvPr>
          <p:cNvSpPr>
            <a:spLocks noGrp="1"/>
          </p:cNvSpPr>
          <p:nvPr/>
        </p:nvSpPr>
        <p:spPr>
          <a:xfrm>
            <a:off x="8001000" y="453390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A4C686-5084-4E91-9A1D-78C6A06CBE19}"/>
              </a:ext>
            </a:extLst>
          </p:cNvPr>
          <p:cNvSpPr>
            <a:spLocks noGrp="1"/>
          </p:cNvSpPr>
          <p:nvPr/>
        </p:nvSpPr>
        <p:spPr>
          <a:xfrm>
            <a:off x="7543800" y="4933950"/>
            <a:ext cx="2152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D8EFE5"/>
                </a:solidFill>
              </a:defRPr>
            </a:pPr>
            <a:r>
              <a:rPr sz="1050" b="0">
                <a:solidFill>
                  <a:srgbClr val="D8EFE5"/>
                </a:solidFill>
              </a:rPr>
              <a:t>Templates, partner content, paid conversion tests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5330A6-1028-4950-B12D-FF69C280016D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9BB8B2"/>
                </a:solidFill>
              </a:defRPr>
            </a:pPr>
            <a:r>
              <a:rPr sz="825" b="0">
                <a:solidFill>
                  <a:srgbClr val="9BB8B2"/>
                </a:solidFill>
              </a:rPr>
              <a:t>OfficeDex launch demo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C26EA1-5B20-4D0C-A014-42076E34DDDC}"/>
              </a:ext>
            </a:extLst>
          </p:cNvPr>
          <p:cNvSpPr>
            <a:spLocks noGrp="1"/>
          </p:cNvSpPr>
          <p:nvPr/>
        </p:nvSpPr>
        <p:spPr>
          <a:xfrm>
            <a:off x="10763250" y="6362700"/>
            <a:ext cx="76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BEEFE0"/>
                </a:solidFill>
              </a:defRPr>
            </a:pPr>
            <a:r>
              <a:rPr sz="825" b="1">
                <a:solidFill>
                  <a:srgbClr val="BEEFE0"/>
                </a:solidFill>
              </a:rPr>
              <a:t>06/09</a:t>
            </a:r>
          </a:p>
        </p:txBody>
      </p:sp>
    </p:spTree>
    <p:extLst>
      <p:ext uri="{BB962C8B-B14F-4D97-AF65-F5344CB8AC3E}">
        <p14:creationId xmlns:p14="http://schemas.microsoft.com/office/powerpoint/2010/main" val="85448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218037D-D99F-45F7-86BE-0D4CB0F032CB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SUCCESS METRICS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265ABAF-E440-4CDC-8BD5-75D8002F85E9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5247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Measure trust, not just traffic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9CD46B-E225-4F11-A57A-11D7DB2A26E9}"/>
              </a:ext>
            </a:extLst>
          </p:cNvPr>
          <p:cNvSpPr>
            <a:spLocks noGrp="1"/>
          </p:cNvSpPr>
          <p:nvPr/>
        </p:nvSpPr>
        <p:spPr>
          <a:xfrm>
            <a:off x="704850" y="1828800"/>
            <a:ext cx="685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The launch goal is proof that users can create, inspect, and keep editing a deck.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DACC29B-355E-4A15-9E1F-8F0D5115EE03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2247900" cy="1809750"/>
          </a:xfrm>
          <a:prstGeom prst="roundRect">
            <a:avLst>
              <a:gd name="adj" fmla="val 12632"/>
            </a:avLst>
          </a:prstGeom>
          <a:solidFill>
            <a:srgbClr val="E8F9F0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3EBF6-5700-443C-9CD6-DEB9D3EC370F}"/>
              </a:ext>
            </a:extLst>
          </p:cNvPr>
          <p:cNvSpPr>
            <a:spLocks noGrp="1"/>
          </p:cNvSpPr>
          <p:nvPr/>
        </p:nvSpPr>
        <p:spPr>
          <a:xfrm>
            <a:off x="1181100" y="32004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06876"/>
                </a:solidFill>
              </a:defRPr>
            </a:pPr>
            <a:r>
              <a:rPr sz="1275" b="1">
                <a:solidFill>
                  <a:srgbClr val="006876"/>
                </a:solidFill>
              </a:rPr>
              <a:t>Activation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2FFFD-EE99-47C0-8440-F901A7271448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676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32018"/>
                </a:solidFill>
              </a:defRPr>
            </a:pPr>
            <a:r>
              <a:rPr sz="1950" b="1">
                <a:solidFill>
                  <a:srgbClr val="132018"/>
                </a:solidFill>
              </a:rPr>
              <a:t>First PPTX created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97A25B-BE00-4CF2-A4BE-8B2E8C36EF59}"/>
              </a:ext>
            </a:extLst>
          </p:cNvPr>
          <p:cNvSpPr>
            <a:spLocks noGrp="1"/>
          </p:cNvSpPr>
          <p:nvPr/>
        </p:nvSpPr>
        <p:spPr>
          <a:xfrm>
            <a:off x="1181100" y="4400550"/>
            <a:ext cx="1238250" cy="76200"/>
          </a:xfrm>
          <a:prstGeom prst="rect">
            <a:avLst/>
          </a:prstGeom>
          <a:solidFill>
            <a:srgbClr val="1AAE39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91B1AA2-0EFB-47FA-A75B-58029FC0447D}"/>
              </a:ext>
            </a:extLst>
          </p:cNvPr>
          <p:cNvSpPr>
            <a:spLocks noGrp="1"/>
          </p:cNvSpPr>
          <p:nvPr/>
        </p:nvSpPr>
        <p:spPr>
          <a:xfrm>
            <a:off x="3619500" y="2952750"/>
            <a:ext cx="2247900" cy="1809750"/>
          </a:xfrm>
          <a:prstGeom prst="roundRect">
            <a:avLst>
              <a:gd name="adj" fmla="val 12632"/>
            </a:avLst>
          </a:prstGeom>
          <a:solidFill>
            <a:srgbClr val="F8F6FF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B644C9-B265-4321-97FC-7D829257E592}"/>
              </a:ext>
            </a:extLst>
          </p:cNvPr>
          <p:cNvSpPr>
            <a:spLocks noGrp="1"/>
          </p:cNvSpPr>
          <p:nvPr/>
        </p:nvSpPr>
        <p:spPr>
          <a:xfrm>
            <a:off x="3886200" y="32004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06876"/>
                </a:solidFill>
              </a:defRPr>
            </a:pPr>
            <a:r>
              <a:rPr sz="1275" b="1">
                <a:solidFill>
                  <a:srgbClr val="006876"/>
                </a:solidFill>
              </a:rPr>
              <a:t>Preview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89485D-80B5-4B67-8A2E-D0C8B22CC03A}"/>
              </a:ext>
            </a:extLst>
          </p:cNvPr>
          <p:cNvSpPr>
            <a:spLocks noGrp="1"/>
          </p:cNvSpPr>
          <p:nvPr/>
        </p:nvSpPr>
        <p:spPr>
          <a:xfrm>
            <a:off x="3886200" y="3638550"/>
            <a:ext cx="1676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32018"/>
                </a:solidFill>
              </a:defRPr>
            </a:pPr>
            <a:r>
              <a:rPr sz="1950" b="1">
                <a:solidFill>
                  <a:srgbClr val="132018"/>
                </a:solidFill>
              </a:rPr>
              <a:t>Artifact opened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A68A8-5060-40FD-A3D4-024F22C2DAC5}"/>
              </a:ext>
            </a:extLst>
          </p:cNvPr>
          <p:cNvSpPr>
            <a:spLocks noGrp="1"/>
          </p:cNvSpPr>
          <p:nvPr/>
        </p:nvSpPr>
        <p:spPr>
          <a:xfrm>
            <a:off x="3886200" y="4400550"/>
            <a:ext cx="1409700" cy="76200"/>
          </a:xfrm>
          <a:prstGeom prst="rect">
            <a:avLst/>
          </a:prstGeom>
          <a:solidFill>
            <a:srgbClr val="5645D4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BFBB979-E8E5-4CD0-8D69-59984BD465F9}"/>
              </a:ext>
            </a:extLst>
          </p:cNvPr>
          <p:cNvSpPr>
            <a:spLocks noGrp="1"/>
          </p:cNvSpPr>
          <p:nvPr/>
        </p:nvSpPr>
        <p:spPr>
          <a:xfrm>
            <a:off x="6324600" y="2952750"/>
            <a:ext cx="2247900" cy="1809750"/>
          </a:xfrm>
          <a:prstGeom prst="roundRect">
            <a:avLst>
              <a:gd name="adj" fmla="val 12632"/>
            </a:avLst>
          </a:prstGeom>
          <a:solidFill>
            <a:srgbClr val="F3FBF7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7360B2-1852-462E-9995-4D7D98819DC2}"/>
              </a:ext>
            </a:extLst>
          </p:cNvPr>
          <p:cNvSpPr>
            <a:spLocks noGrp="1"/>
          </p:cNvSpPr>
          <p:nvPr/>
        </p:nvSpPr>
        <p:spPr>
          <a:xfrm>
            <a:off x="6591300" y="32004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06876"/>
                </a:solidFill>
              </a:defRPr>
            </a:pPr>
            <a:r>
              <a:rPr sz="1275" b="1">
                <a:solidFill>
                  <a:srgbClr val="006876"/>
                </a:solidFill>
              </a:rPr>
              <a:t>Edit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67B8BB-418A-4951-B6B1-C7C5FCAE2755}"/>
              </a:ext>
            </a:extLst>
          </p:cNvPr>
          <p:cNvSpPr>
            <a:spLocks noGrp="1"/>
          </p:cNvSpPr>
          <p:nvPr/>
        </p:nvSpPr>
        <p:spPr>
          <a:xfrm>
            <a:off x="6591300" y="3638550"/>
            <a:ext cx="1676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32018"/>
                </a:solidFill>
              </a:defRPr>
            </a:pPr>
            <a:r>
              <a:rPr sz="1950" b="1">
                <a:solidFill>
                  <a:srgbClr val="132018"/>
                </a:solidFill>
              </a:rPr>
              <a:t>AI edit accepted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A2B42D-64C4-4A33-9E8E-A7DFEA9915BE}"/>
              </a:ext>
            </a:extLst>
          </p:cNvPr>
          <p:cNvSpPr>
            <a:spLocks noGrp="1"/>
          </p:cNvSpPr>
          <p:nvPr/>
        </p:nvSpPr>
        <p:spPr>
          <a:xfrm>
            <a:off x="6591300" y="4400550"/>
            <a:ext cx="1581150" cy="76200"/>
          </a:xfrm>
          <a:prstGeom prst="rect">
            <a:avLst/>
          </a:prstGeom>
          <a:solidFill>
            <a:srgbClr val="006876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7B7FA2-4024-410E-909B-FCF6FFBE37E7}"/>
              </a:ext>
            </a:extLst>
          </p:cNvPr>
          <p:cNvSpPr>
            <a:spLocks noGrp="1"/>
          </p:cNvSpPr>
          <p:nvPr/>
        </p:nvSpPr>
        <p:spPr>
          <a:xfrm>
            <a:off x="9029700" y="2952750"/>
            <a:ext cx="2247900" cy="1809750"/>
          </a:xfrm>
          <a:prstGeom prst="roundRect">
            <a:avLst>
              <a:gd name="adj" fmla="val 12632"/>
            </a:avLst>
          </a:prstGeom>
          <a:solidFill>
            <a:srgbClr val="FFF7E8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1A2148-1EE8-463B-931A-99983D15016F}"/>
              </a:ext>
            </a:extLst>
          </p:cNvPr>
          <p:cNvSpPr>
            <a:spLocks noGrp="1"/>
          </p:cNvSpPr>
          <p:nvPr/>
        </p:nvSpPr>
        <p:spPr>
          <a:xfrm>
            <a:off x="9296400" y="32004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06876"/>
                </a:solidFill>
              </a:defRPr>
            </a:pPr>
            <a:r>
              <a:rPr sz="1275" b="1">
                <a:solidFill>
                  <a:srgbClr val="006876"/>
                </a:solidFill>
              </a:rPr>
              <a:t>Intent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7524E9-7D14-4459-8F26-4A4D4F41B319}"/>
              </a:ext>
            </a:extLst>
          </p:cNvPr>
          <p:cNvSpPr>
            <a:spLocks noGrp="1"/>
          </p:cNvSpPr>
          <p:nvPr/>
        </p:nvSpPr>
        <p:spPr>
          <a:xfrm>
            <a:off x="9296400" y="3638550"/>
            <a:ext cx="1676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32018"/>
                </a:solidFill>
              </a:defRPr>
            </a:pPr>
            <a:r>
              <a:rPr sz="1950" b="1">
                <a:solidFill>
                  <a:srgbClr val="132018"/>
                </a:solidFill>
              </a:rPr>
              <a:t>Download completed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CF8795-3F2D-4AAC-9956-1A1BB9AFCF3E}"/>
              </a:ext>
            </a:extLst>
          </p:cNvPr>
          <p:cNvSpPr>
            <a:spLocks noGrp="1"/>
          </p:cNvSpPr>
          <p:nvPr/>
        </p:nvSpPr>
        <p:spPr>
          <a:xfrm>
            <a:off x="9296400" y="4400550"/>
            <a:ext cx="1752600" cy="76200"/>
          </a:xfrm>
          <a:prstGeom prst="rect">
            <a:avLst/>
          </a:prstGeom>
          <a:solidFill>
            <a:srgbClr val="F3AA45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5C58C62-774A-4D76-B5A5-B0DE4CB94993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9F6519-7865-4E1F-B1FF-CE5C2BDB3FF4}"/>
              </a:ext>
            </a:extLst>
          </p:cNvPr>
          <p:cNvSpPr>
            <a:spLocks noGrp="1"/>
          </p:cNvSpPr>
          <p:nvPr/>
        </p:nvSpPr>
        <p:spPr>
          <a:xfrm>
            <a:off x="10763250" y="6362700"/>
            <a:ext cx="76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07/09</a:t>
            </a:r>
          </a:p>
        </p:txBody>
      </p:sp>
    </p:spTree>
    <p:extLst>
      <p:ext uri="{BB962C8B-B14F-4D97-AF65-F5344CB8AC3E}">
        <p14:creationId xmlns:p14="http://schemas.microsoft.com/office/powerpoint/2010/main" val="1969957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EC45701-42D3-4FC4-8199-B9264F8E6F76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006876"/>
                </a:solidFill>
              </a:defRPr>
            </a:pPr>
            <a:r>
              <a:rPr sz="900" b="1">
                <a:solidFill>
                  <a:srgbClr val="006876"/>
                </a:solidFill>
              </a:rPr>
              <a:t>RISK CONTROLS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855A95-3139-42A9-8BDE-37618E9C0FD1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5247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32018"/>
                </a:solidFill>
              </a:defRPr>
            </a:pPr>
            <a:r>
              <a:rPr sz="3000" b="1">
                <a:solidFill>
                  <a:srgbClr val="132018"/>
                </a:solidFill>
              </a:rPr>
              <a:t>Reduce demo risk with deterministic proof points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C62F6B-9C77-4BD3-B460-51AE48527086}"/>
              </a:ext>
            </a:extLst>
          </p:cNvPr>
          <p:cNvSpPr>
            <a:spLocks noGrp="1"/>
          </p:cNvSpPr>
          <p:nvPr/>
        </p:nvSpPr>
        <p:spPr>
          <a:xfrm>
            <a:off x="704850" y="1828800"/>
            <a:ext cx="685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8656B"/>
                </a:solidFill>
              </a:defRPr>
            </a:pPr>
            <a:r>
              <a:rPr sz="1350" b="0">
                <a:solidFill>
                  <a:srgbClr val="58656B"/>
                </a:solidFill>
              </a:rPr>
              <a:t>The recording should show a stable path, real confirmation actions, and a polished final deck.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FD5069E-2D11-4B27-AE42-44B2E0F33C39}"/>
              </a:ext>
            </a:extLst>
          </p:cNvPr>
          <p:cNvSpPr>
            <a:spLocks noGrp="1"/>
          </p:cNvSpPr>
          <p:nvPr/>
        </p:nvSpPr>
        <p:spPr>
          <a:xfrm>
            <a:off x="1200150" y="3028950"/>
            <a:ext cx="2724150" cy="186690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C0F9A3-91FD-4AA2-9EB1-D86241C8E75E}"/>
              </a:ext>
            </a:extLst>
          </p:cNvPr>
          <p:cNvSpPr>
            <a:spLocks noGrp="1"/>
          </p:cNvSpPr>
          <p:nvPr/>
        </p:nvSpPr>
        <p:spPr>
          <a:xfrm>
            <a:off x="1409700" y="3238500"/>
            <a:ext cx="323850" cy="323850"/>
          </a:xfrm>
          <a:prstGeom prst="ellipse">
            <a:avLst/>
          </a:prstGeom>
          <a:solidFill>
            <a:srgbClr val="F3AA45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08B819-B660-44C3-B220-EAAC0BBD8CB1}"/>
              </a:ext>
            </a:extLst>
          </p:cNvPr>
          <p:cNvSpPr>
            <a:spLocks noGrp="1"/>
          </p:cNvSpPr>
          <p:nvPr/>
        </p:nvSpPr>
        <p:spPr>
          <a:xfrm>
            <a:off x="1409700" y="33147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AC6A36-175D-4EB7-BAD7-5D7A606DEBB1}"/>
              </a:ext>
            </a:extLst>
          </p:cNvPr>
          <p:cNvSpPr>
            <a:spLocks noGrp="1"/>
          </p:cNvSpPr>
          <p:nvPr/>
        </p:nvSpPr>
        <p:spPr>
          <a:xfrm>
            <a:off x="1847850" y="323850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Generation delay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59AA96-4761-4E22-B23C-AD183987779C}"/>
              </a:ext>
            </a:extLst>
          </p:cNvPr>
          <p:cNvSpPr>
            <a:spLocks noGrp="1"/>
          </p:cNvSpPr>
          <p:nvPr/>
        </p:nvSpPr>
        <p:spPr>
          <a:xfrm>
            <a:off x="1447800" y="3733800"/>
            <a:ext cx="22288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Magic prompt and prepared flow keep the demo moving.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25ED74-54FF-4E52-AE8B-DE469569AFE1}"/>
              </a:ext>
            </a:extLst>
          </p:cNvPr>
          <p:cNvSpPr>
            <a:spLocks noGrp="1"/>
          </p:cNvSpPr>
          <p:nvPr/>
        </p:nvSpPr>
        <p:spPr>
          <a:xfrm>
            <a:off x="4495800" y="3028950"/>
            <a:ext cx="2724150" cy="186690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A90A29F-12A8-4D1A-A267-AFAC4EC37138}"/>
              </a:ext>
            </a:extLst>
          </p:cNvPr>
          <p:cNvSpPr>
            <a:spLocks noGrp="1"/>
          </p:cNvSpPr>
          <p:nvPr/>
        </p:nvSpPr>
        <p:spPr>
          <a:xfrm>
            <a:off x="4705350" y="3238500"/>
            <a:ext cx="323850" cy="323850"/>
          </a:xfrm>
          <a:prstGeom prst="ellipse">
            <a:avLst/>
          </a:prstGeom>
          <a:solidFill>
            <a:srgbClr val="5645D4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F32CC3-F533-4ABD-9925-266E1E7F7F98}"/>
              </a:ext>
            </a:extLst>
          </p:cNvPr>
          <p:cNvSpPr>
            <a:spLocks noGrp="1"/>
          </p:cNvSpPr>
          <p:nvPr/>
        </p:nvSpPr>
        <p:spPr>
          <a:xfrm>
            <a:off x="4705350" y="33147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1D8442-0492-4366-977A-BCF2D05BCF3C}"/>
              </a:ext>
            </a:extLst>
          </p:cNvPr>
          <p:cNvSpPr>
            <a:spLocks noGrp="1"/>
          </p:cNvSpPr>
          <p:nvPr/>
        </p:nvSpPr>
        <p:spPr>
          <a:xfrm>
            <a:off x="5143500" y="323850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Unstable output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DECEE3-B5B9-4BF9-A6E6-2B56256E009F}"/>
              </a:ext>
            </a:extLst>
          </p:cNvPr>
          <p:cNvSpPr>
            <a:spLocks noGrp="1"/>
          </p:cNvSpPr>
          <p:nvPr/>
        </p:nvSpPr>
        <p:spPr>
          <a:xfrm>
            <a:off x="4743450" y="3733800"/>
            <a:ext cx="22288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Fixed PPTX fixture avoids random visual regressions.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F9444AF-E2FB-44BF-9D8B-BC9F00E4BCCF}"/>
              </a:ext>
            </a:extLst>
          </p:cNvPr>
          <p:cNvSpPr>
            <a:spLocks noGrp="1"/>
          </p:cNvSpPr>
          <p:nvPr/>
        </p:nvSpPr>
        <p:spPr>
          <a:xfrm>
            <a:off x="7791450" y="3028950"/>
            <a:ext cx="2724150" cy="186690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CE8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0AD78A9-0CB6-495F-BF88-EC25BA4E6F82}"/>
              </a:ext>
            </a:extLst>
          </p:cNvPr>
          <p:cNvSpPr>
            <a:spLocks noGrp="1"/>
          </p:cNvSpPr>
          <p:nvPr/>
        </p:nvSpPr>
        <p:spPr>
          <a:xfrm>
            <a:off x="8001000" y="3238500"/>
            <a:ext cx="323850" cy="323850"/>
          </a:xfrm>
          <a:prstGeom prst="ellipse">
            <a:avLst/>
          </a:prstGeom>
          <a:solidFill>
            <a:srgbClr val="1AAE39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D00375-B254-4A09-B8FA-C35834A00BE1}"/>
              </a:ext>
            </a:extLst>
          </p:cNvPr>
          <p:cNvSpPr>
            <a:spLocks noGrp="1"/>
          </p:cNvSpPr>
          <p:nvPr/>
        </p:nvSpPr>
        <p:spPr>
          <a:xfrm>
            <a:off x="8001000" y="33147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A13648-4AF5-4677-834E-D8D400E2BA09}"/>
              </a:ext>
            </a:extLst>
          </p:cNvPr>
          <p:cNvSpPr>
            <a:spLocks noGrp="1"/>
          </p:cNvSpPr>
          <p:nvPr/>
        </p:nvSpPr>
        <p:spPr>
          <a:xfrm>
            <a:off x="8439150" y="323850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32018"/>
                </a:solidFill>
              </a:defRPr>
            </a:pPr>
            <a:r>
              <a:rPr sz="1425" b="1">
                <a:solidFill>
                  <a:srgbClr val="132018"/>
                </a:solidFill>
              </a:rPr>
              <a:t>Trust gap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F12A22-C477-4868-8482-1E02E6395677}"/>
              </a:ext>
            </a:extLst>
          </p:cNvPr>
          <p:cNvSpPr>
            <a:spLocks noGrp="1"/>
          </p:cNvSpPr>
          <p:nvPr/>
        </p:nvSpPr>
        <p:spPr>
          <a:xfrm>
            <a:off x="8039100" y="3733800"/>
            <a:ext cx="22288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8656B"/>
                </a:solidFill>
              </a:defRPr>
            </a:pPr>
            <a:r>
              <a:rPr sz="1125" b="0">
                <a:solidFill>
                  <a:srgbClr val="58656B"/>
                </a:solidFill>
              </a:rPr>
              <a:t>Visible preview and edit confirmation show user control.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79C440-A9B0-447C-A187-11FB502F83F2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7B8A90"/>
                </a:solidFill>
              </a:defRPr>
            </a:pPr>
            <a:r>
              <a:rPr sz="825" b="0">
                <a:solidFill>
                  <a:srgbClr val="7B8A90"/>
                </a:solidFill>
              </a:rPr>
              <a:t>OfficeDex launch demo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658C256-B173-455F-9F21-172B7AC6BE19}"/>
              </a:ext>
            </a:extLst>
          </p:cNvPr>
          <p:cNvSpPr>
            <a:spLocks noGrp="1"/>
          </p:cNvSpPr>
          <p:nvPr/>
        </p:nvSpPr>
        <p:spPr>
          <a:xfrm>
            <a:off x="10763250" y="6362700"/>
            <a:ext cx="76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006876"/>
                </a:solidFill>
              </a:defRPr>
            </a:pPr>
            <a:r>
              <a:rPr sz="825" b="1">
                <a:solidFill>
                  <a:srgbClr val="006876"/>
                </a:solidFill>
              </a:rPr>
              <a:t>08/09</a:t>
            </a:r>
          </a:p>
        </p:txBody>
      </p:sp>
    </p:spTree>
    <p:extLst>
      <p:ext uri="{BB962C8B-B14F-4D97-AF65-F5344CB8AC3E}">
        <p14:creationId xmlns:p14="http://schemas.microsoft.com/office/powerpoint/2010/main" val="816859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48D95CE2-4F55-4E73-BA68-2B05665A86E0}"/>
              </a:ext>
            </a:extLst>
          </p:cNvPr>
          <p:cNvSpPr>
            <a:spLocks noGrp="1"/>
          </p:cNvSpPr>
          <p:nvPr/>
        </p:nvSpPr>
        <p:spPr>
          <a:xfrm>
            <a:off x="-1333500" y="4000500"/>
            <a:ext cx="4000500" cy="4000500"/>
          </a:xfrm>
          <a:prstGeom prst="ellipse">
            <a:avLst/>
          </a:prstGeom>
          <a:solidFill>
            <a:srgbClr val="063F43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E9F9087-9073-44D3-9866-EFEC00D3E0B9}"/>
              </a:ext>
            </a:extLst>
          </p:cNvPr>
          <p:cNvSpPr>
            <a:spLocks noGrp="1"/>
          </p:cNvSpPr>
          <p:nvPr/>
        </p:nvSpPr>
        <p:spPr>
          <a:xfrm>
            <a:off x="8953500" y="-1714500"/>
            <a:ext cx="4572000" cy="4572000"/>
          </a:xfrm>
          <a:prstGeom prst="ellipse">
            <a:avLst/>
          </a:prstGeom>
          <a:solidFill>
            <a:srgbClr val="2B1B86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200" y="876300"/>
            <a:ext cx="1104900" cy="11049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4A7E5EB-E3FC-41FC-AF9C-ED784CC92F80}"/>
              </a:ext>
            </a:extLst>
          </p:cNvPr>
          <p:cNvSpPr>
            <a:spLocks noGrp="1"/>
          </p:cNvSpPr>
          <p:nvPr/>
        </p:nvSpPr>
        <p:spPr>
          <a:xfrm>
            <a:off x="838200" y="2286000"/>
            <a:ext cx="5810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Download OfficeDex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0E197-24E1-49E1-A1BA-DFC048E89DDD}"/>
              </a:ext>
            </a:extLst>
          </p:cNvPr>
          <p:cNvSpPr>
            <a:spLocks noGrp="1"/>
          </p:cNvSpPr>
          <p:nvPr/>
        </p:nvSpPr>
        <p:spPr>
          <a:xfrm>
            <a:off x="876300" y="3143250"/>
            <a:ext cx="571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D8EFE5"/>
                </a:solidFill>
              </a:defRPr>
            </a:pPr>
            <a:r>
              <a:rPr sz="1650" b="0">
                <a:solidFill>
                  <a:srgbClr val="D8EFE5"/>
                </a:solidFill>
              </a:rPr>
              <a:t>Build a real launch deck, preview it, and keep editing it with AI.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FEC7F7B-A8DE-4260-906A-9EAB3EB54EF4}"/>
              </a:ext>
            </a:extLst>
          </p:cNvPr>
          <p:cNvSpPr>
            <a:spLocks noGrp="1"/>
          </p:cNvSpPr>
          <p:nvPr/>
        </p:nvSpPr>
        <p:spPr>
          <a:xfrm>
            <a:off x="876300" y="4343400"/>
            <a:ext cx="2667000" cy="552450"/>
          </a:xfrm>
          <a:prstGeom prst="roundRect">
            <a:avLst>
              <a:gd name="adj" fmla="val 50000"/>
            </a:avLst>
          </a:prstGeom>
          <a:solidFill>
            <a:srgbClr val="1AAE39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8EEA28-8AEF-4044-B239-C4CD8D819F81}"/>
              </a:ext>
            </a:extLst>
          </p:cNvPr>
          <p:cNvSpPr>
            <a:spLocks noGrp="1"/>
          </p:cNvSpPr>
          <p:nvPr/>
        </p:nvSpPr>
        <p:spPr>
          <a:xfrm>
            <a:off x="876300" y="44958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Get OfficeDex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A074C98-B804-47C5-B402-36A286F23765}"/>
              </a:ext>
            </a:extLst>
          </p:cNvPr>
          <p:cNvSpPr>
            <a:spLocks noGrp="1"/>
          </p:cNvSpPr>
          <p:nvPr/>
        </p:nvSpPr>
        <p:spPr>
          <a:xfrm>
            <a:off x="7067550" y="1790700"/>
            <a:ext cx="3905250" cy="2857500"/>
          </a:xfrm>
          <a:prstGeom prst="roundRect">
            <a:avLst>
              <a:gd name="adj" fmla="val 8000"/>
            </a:avLst>
          </a:prstGeom>
          <a:solidFill>
            <a:srgbClr val="102833"/>
          </a:solidFill>
          <a:ln w="9525">
            <a:solidFill>
              <a:srgbClr val="315D6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  <p:txBody>
          <a:bodyPr/>
          <a:lstStyle/>
          <a:p>
            <a:endParaRPr lang="en-C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5D924C-DDCE-4C87-B7A1-4945A4F7E7F7}"/>
              </a:ext>
            </a:extLst>
          </p:cNvPr>
          <p:cNvSpPr>
            <a:spLocks noGrp="1"/>
          </p:cNvSpPr>
          <p:nvPr/>
        </p:nvSpPr>
        <p:spPr>
          <a:xfrm>
            <a:off x="7505700" y="2209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BEEFE0"/>
                </a:solidFill>
              </a:defRPr>
            </a:pPr>
            <a:r>
              <a:rPr sz="1125" b="1">
                <a:solidFill>
                  <a:srgbClr val="BEEFE0"/>
                </a:solidFill>
              </a:rPr>
              <a:t>Demo proof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9C49A9-3327-4C44-BDC1-594FF3789116}"/>
              </a:ext>
            </a:extLst>
          </p:cNvPr>
          <p:cNvSpPr>
            <a:spLocks noGrp="1"/>
          </p:cNvSpPr>
          <p:nvPr/>
        </p:nvSpPr>
        <p:spPr>
          <a:xfrm>
            <a:off x="7505700" y="2724150"/>
            <a:ext cx="28956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Multi-step generation</a:t>
            </a:r>
          </a:p>
          <a:p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Real confirmation clicks</a:t>
            </a:r>
          </a:p>
          <a:p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Editable PPTX preview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BC39F3-7B10-45B9-BC45-9EF6C45562F3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9BB8B2"/>
                </a:solidFill>
              </a:defRPr>
            </a:pPr>
            <a:r>
              <a:rPr sz="825" b="0">
                <a:solidFill>
                  <a:srgbClr val="9BB8B2"/>
                </a:solidFill>
              </a:rPr>
              <a:t>OfficeDex launch demo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66891D-D111-49E9-9D17-475C18CB376B}"/>
              </a:ext>
            </a:extLst>
          </p:cNvPr>
          <p:cNvSpPr>
            <a:spLocks noGrp="1"/>
          </p:cNvSpPr>
          <p:nvPr/>
        </p:nvSpPr>
        <p:spPr>
          <a:xfrm>
            <a:off x="10763250" y="6362700"/>
            <a:ext cx="76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BEEFE0"/>
                </a:solidFill>
              </a:defRPr>
            </a:pPr>
            <a:r>
              <a:rPr sz="825" b="1">
                <a:solidFill>
                  <a:srgbClr val="BEEFE0"/>
                </a:solidFill>
              </a:rPr>
              <a:t>09/09</a:t>
            </a:r>
          </a:p>
        </p:txBody>
      </p:sp>
    </p:spTree>
    <p:extLst>
      <p:ext uri="{BB962C8B-B14F-4D97-AF65-F5344CB8AC3E}">
        <p14:creationId xmlns:p14="http://schemas.microsoft.com/office/powerpoint/2010/main" val="21288326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499</Words>
  <Application>Microsoft Macintosh PowerPoint</Application>
  <DocSecurity>0</DocSecurity>
  <PresentationFormat>Widescreen</PresentationFormat>
  <Paragraphs>111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a60325</cp:lastModifiedBy>
  <cp:revision>1</cp:revision>
  <dcterms:created xsi:type="dcterms:W3CDTF">2026-07-14T06:32:45Z</dcterms:created>
  <dcterms:modified xsi:type="dcterms:W3CDTF">2026-07-14T07:20:05Z</dcterms:modified>
</cp:coreProperties>
</file>
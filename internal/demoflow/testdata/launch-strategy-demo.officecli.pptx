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theme" Target="theme/theme1.xml"/>
    <Relationship Id="rId12" Type="http://schemas.openxmlformats.org/officeDocument/2006/relationships/presProps" Target="presProps.xml"/>
    <Relationship Id="rId13" Type="http://schemas.openxmlformats.org/officeDocument/2006/relationships/viewProps" Target="viewProps.xml"/>
    <Relationship Id="rId14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Panel"/>
          <p:cNvSpPr/>
          <p:nvPr/>
        </p:nvSpPr>
        <p:spPr>
          <a:xfrm>
            <a:off x="750000" y="1400000"/>
            <a:ext cx="5500000" cy="2500000"/>
          </a:xfrm>
          <a:prstGeom prst="roundRect">
            <a:avLst>
              <a:gd name="adj" fmla="val 4000"/>
            </a:avLst>
          </a:prstGeom>
          <a:solidFill>
            <a:srgbClr val="111827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itle"/>
          <p:cNvSpPr/>
          <p:nvPr/>
        </p:nvSpPr>
        <p:spPr>
          <a:xfrm>
            <a:off x="1000000" y="1850000"/>
            <a:ext cx="5000000" cy="145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4400" b="1">
                <a:solidFill>
                  <a:srgbClr val="FFFFFF"/>
                </a:solidFill>
                <a:latin typeface="Aptos"/>
                <a:ea typeface="Microsoft YaHei"/>
              </a:rPr>
              <a:t>OfficeDex Launch Strategy</a:t>
            </a:r>
          </a:p>
        </p:txBody>
      </p:sp>
      <p:sp>
        <p:nvSpPr>
          <p:cNvPr id="3" name="Subtitle"/>
          <p:cNvSpPr/>
          <p:nvPr/>
        </p:nvSpPr>
        <p:spPr>
          <a:xfrm>
            <a:off x="1000000" y="3550000"/>
            <a:ext cx="5000000" cy="85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/>
                </a:solidFill>
                <a:latin typeface="Aptos"/>
                <a:ea typeface="Microsoft YaHei"/>
              </a:rPr>
              <a:t>OfficeDex can enter the market as a measurable productivity upgrade for distributed teams, not just another AI assistant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01/09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Executive Summary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98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The launch should focus on cost of fragmented work because wasted time is the clearest buying trigger for executive buyers</a:t>
            </a:r>
          </a:p>
        </p:txBody>
      </p:sp>
      <p:sp>
        <p:nvSpPr>
          <p:cNvPr id="40" name="SectionCard1"/>
          <p:cNvSpPr/>
          <p:nvPr/>
        </p:nvSpPr>
        <p:spPr>
          <a:xfrm>
            <a:off x="700000" y="2280000"/>
            <a:ext cx="5290000" cy="3600000"/>
          </a:xfrm>
          <a:prstGeom prst="roundRect">
            <a:avLst>
              <a:gd name="adj" fmla="val 4000"/>
            </a:avLst>
          </a:prstGeom>
          <a:solidFill>
            <a:srgbClr val="312424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ectionBody1"/>
          <p:cNvSpPr/>
          <p:nvPr/>
        </p:nvSpPr>
        <p:spPr>
          <a:xfrm>
            <a:off x="700000" y="2500000"/>
            <a:ext cx="5290000" cy="3340000"/>
          </a:xfrm>
          <a:prstGeom prst="rect">
            <a:avLst/>
          </a:prstGeom>
        </p:spPr>
        <p:txBody>
          <a:bodyPr lIns="220000" tIns="200000" rIns="220000" bIns="150000" anchor="t">
            <a:normAutofit/>
          </a:bodyPr>
          <a:lstStyle/>
          <a:p>
            <a:pPr algn="l"/>
            <a:r>
              <a:rPr lang="zh-CN" sz="1650" b="1">
                <a:solidFill>
                  <a:srgbClr val="E5E7EB"/>
                </a:solidFill>
                <a:latin typeface="Aptos"/>
                <a:ea typeface="Microsoft YaHei"/>
              </a:rPr>
              <a:t>🔄 Tool Switching Overload</a:t>
            </a:r>
          </a:p>
          <a:p>
            <a:pPr algn="l">
              <a:spcBef>
                <a:spcPts val="300"/>
              </a:spcBef>
            </a:pPr>
            <a:r>
              <a:rPr lang="zh-CN" sz="1380">
                <a:solidFill>
                  <a:srgbClr val="E5E7EB"/>
                </a:solidFill>
                <a:latin typeface="Aptos"/>
                <a:ea typeface="Microsoft YaHei"/>
              </a:rPr>
              <a:t>Knowledge workers use 8 to 12 apps daily and lose.</a:t>
            </a:r>
          </a:p>
        </p:txBody>
      </p:sp>
      <p:sp>
        <p:nvSpPr>
          <p:cNvPr id="43" name="SectionCard2"/>
          <p:cNvSpPr/>
          <p:nvPr/>
        </p:nvSpPr>
        <p:spPr>
          <a:xfrm>
            <a:off x="6210000" y="2280000"/>
            <a:ext cx="5290000" cy="3600000"/>
          </a:xfrm>
          <a:prstGeom prst="roundRect">
            <a:avLst>
              <a:gd name="adj" fmla="val 4000"/>
            </a:avLst>
          </a:prstGeom>
          <a:solidFill>
            <a:srgbClr val="1E1744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ectionBody2"/>
          <p:cNvSpPr/>
          <p:nvPr/>
        </p:nvSpPr>
        <p:spPr>
          <a:xfrm>
            <a:off x="6210000" y="2500000"/>
            <a:ext cx="5290000" cy="3340000"/>
          </a:xfrm>
          <a:prstGeom prst="rect">
            <a:avLst/>
          </a:prstGeom>
        </p:spPr>
        <p:txBody>
          <a:bodyPr lIns="220000" tIns="200000" rIns="220000" bIns="150000" anchor="t">
            <a:normAutofit/>
          </a:bodyPr>
          <a:lstStyle/>
          <a:p>
            <a:pPr algn="l"/>
            <a:r>
              <a:rPr lang="zh-CN" sz="1650" b="1">
                <a:solidFill>
                  <a:srgbClr val="E5E7EB"/>
                </a:solidFill>
                <a:latin typeface="Aptos"/>
                <a:ea typeface="Microsoft YaHei"/>
              </a:rPr>
              <a:t>🧩 Unstructured Knowledge Loss</a:t>
            </a:r>
          </a:p>
          <a:p>
            <a:pPr algn="l">
              <a:spcBef>
                <a:spcPts val="300"/>
              </a:spcBef>
            </a:pPr>
            <a:r>
              <a:rPr lang="zh-CN" sz="1380">
                <a:solidFill>
                  <a:srgbClr val="E5E7EB"/>
                </a:solidFill>
                <a:latin typeface="Aptos"/>
                <a:ea typeface="Microsoft YaHei"/>
              </a:rPr>
              <a:t>Roughly 30% of project information stays trapped in messages and personal notes, slowing onboarding and repeatable execution across teams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02/09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2500" b="1">
                <a:solidFill>
                  <a:srgbClr val="FFFFFF"/>
                </a:solidFill>
                <a:latin typeface="Aptos"/>
                <a:ea typeface="Microsoft YaHei"/>
              </a:rPr>
              <a:t>The Productivity Gap Is Expensive (cont.)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22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The launch should focus on cost of fragmented work because wasted time is the clearest buying trigger for executive buyers</a:t>
            </a:r>
          </a:p>
        </p:txBody>
      </p:sp>
      <p:sp>
        <p:nvSpPr>
          <p:cNvPr id="40" name="Grid2x2Card1"/>
          <p:cNvSpPr/>
          <p:nvPr/>
        </p:nvSpPr>
        <p:spPr>
          <a:xfrm>
            <a:off x="700000" y="3000000"/>
            <a:ext cx="5290000" cy="240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8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Grid2x2Badge1"/>
          <p:cNvSpPr/>
          <p:nvPr/>
        </p:nvSpPr>
        <p:spPr>
          <a:xfrm>
            <a:off x="900000" y="3200000"/>
            <a:ext cx="380000" cy="3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="ctr" lIns="0" tIns="0" rIns="0" bIns="0">
            <a:norm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Aptos"/>
                <a:ea typeface="Microsoft YaHei"/>
              </a:rPr>
              <a:t>🤖</a:t>
            </a:r>
          </a:p>
        </p:txBody>
      </p:sp>
      <p:sp>
        <p:nvSpPr>
          <p:cNvPr id="42" name="Grid2x2Head1"/>
          <p:cNvSpPr/>
          <p:nvPr/>
        </p:nvSpPr>
        <p:spPr>
          <a:xfrm>
            <a:off x="1360000" y="3200000"/>
            <a:ext cx="4430000" cy="400000"/>
          </a:xfrm>
          <a:prstGeom prst="rect">
            <a:avLst/>
          </a:prstGeom>
        </p:spPr>
        <p:txBody>
          <a:bodyPr anchor="b" lIns="200000" rIns="200000">
            <a:normAutofit/>
          </a:bodyPr>
          <a:lstStyle/>
          <a:p>
            <a:pPr algn="l"/>
            <a:r>
              <a:rPr lang="zh-CN" sz="1600" b="1">
                <a:solidFill>
                  <a:srgbClr val="F97316"/>
                </a:solidFill>
                <a:latin typeface="Aptos"/>
                <a:ea typeface="Microsoft YaHei"/>
              </a:rPr>
              <a:t>AI Adoption Friction</a:t>
            </a:r>
          </a:p>
        </p:txBody>
      </p:sp>
      <p:sp>
        <p:nvSpPr>
          <p:cNvPr id="43" name="Grid2x2Detail1"/>
          <p:cNvSpPr/>
          <p:nvPr/>
        </p:nvSpPr>
        <p:spPr>
          <a:xfrm>
            <a:off x="900000" y="3680000"/>
            <a:ext cx="4890000" cy="1520000"/>
          </a:xfrm>
          <a:prstGeom prst="rect">
            <a:avLst/>
          </a:prstGeom>
        </p:spPr>
        <p:txBody>
          <a:bodyPr anchor="t" lIns="200000" rIns="200000">
            <a:normAutofit/>
          </a:bodyPr>
          <a:lstStyle/>
          <a:p>
            <a:pPr algn="l"/>
            <a:r>
              <a:rPr lang="zh-CN" sz="1350">
                <a:solidFill>
                  <a:srgbClr val="E5E7EB"/>
                </a:solidFill>
                <a:latin typeface="Aptos"/>
                <a:ea typeface="Microsoft YaHei"/>
              </a:rPr>
              <a:t>More than 50% of teams test AI tools.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03/09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Aptos"/>
                <a:ea typeface="Microsoft YaHei"/>
              </a:rPr>
              <a:t>Primary Audience and Buying Roles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22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OfficeDex should sell first to teams with high information velocity and visible coordination pain, while messaging differently to users and buyers</a:t>
            </a:r>
          </a:p>
        </p:txBody>
      </p:sp>
      <p:sp>
        <p:nvSpPr>
          <p:cNvPr id="30" name="BulletsBandPanel"/>
          <p:cNvSpPr/>
          <p:nvPr/>
        </p:nvSpPr>
        <p:spPr>
          <a:xfrm>
            <a:off x="700000" y="2300000"/>
            <a:ext cx="10800000" cy="94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BulletsBandText"/>
          <p:cNvSpPr/>
          <p:nvPr/>
        </p:nvSpPr>
        <p:spPr>
          <a:xfrm>
            <a:off x="920000" y="2470000"/>
            <a:ext cx="10360000" cy="420000"/>
          </a:xfrm>
          <a:prstGeom prst="rect">
            <a:avLst/>
          </a:prstGeom>
        </p:spPr>
        <p:txBody>
          <a:bodyPr anchor="ctr" lIns="40000" rIns="40000">
            <a:normAutofit/>
          </a:bodyPr>
          <a:lstStyle/>
          <a:p>
            <a:pPr algn="l"/>
            <a:r>
              <a:rPr lang="zh-CN" sz="1900" b="1">
                <a:solidFill>
                  <a:srgbClr val="E5E7EB"/>
                </a:solidFill>
                <a:latin typeface="Aptos"/>
                <a:ea typeface="Microsoft YaHei"/>
              </a:rPr>
              <a:t>Operations Leaders：COOs and operations heads need standardized workflows.</a:t>
            </a:r>
          </a:p>
        </p:txBody>
      </p:sp>
      <p:sp>
        <p:nvSpPr>
          <p:cNvPr id="3" name="Content"/>
          <p:cNvSpPr/>
          <p:nvPr/>
        </p:nvSpPr>
        <p:spPr>
          <a:xfrm>
            <a:off x="700000" y="3460000"/>
            <a:ext cx="10800000" cy="2640000"/>
          </a:xfrm>
          <a:prstGeom prst="rect">
            <a:avLst/>
          </a:prstGeom>
        </p:spPr>
        <p:txBody>
          <a:bodyPr anchor="t" lIns="40000" rIns="40000">
            <a:normAutofit/>
          </a:bodyPr>
          <a:lstStyle/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Department Managers：Marketing, sales, and customer success managers want AI.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04/09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6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8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2500" b="1">
                <a:solidFill>
                  <a:srgbClr val="FFFFFF"/>
                </a:solidFill>
                <a:latin typeface="Aptos"/>
                <a:ea typeface="Microsoft YaHei"/>
              </a:rPr>
              <a:t>Primary Audience and Buying Roles (cont.)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22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OfficeDex should sell first to teams with high information velocity and visible coordination pain, while messaging differently to users and buyers</a:t>
            </a:r>
          </a:p>
        </p:txBody>
      </p:sp>
      <p:sp>
        <p:nvSpPr>
          <p:cNvPr id="20" name="PointCard1"/>
          <p:cNvSpPr/>
          <p:nvPr/>
        </p:nvSpPr>
        <p:spPr>
          <a:xfrm>
            <a:off x="700000" y="2300000"/>
            <a:ext cx="10800000" cy="1120000"/>
          </a:xfrm>
          <a:prstGeom prst="roundRect">
            <a:avLst>
              <a:gd name="adj" fmla="val 4000"/>
            </a:avLst>
          </a:prstGeom>
          <a:solidFill>
            <a:srgbClr val="312424">
              <a:alpha val="9000"/>
            </a:srgbClr>
          </a:solidFill>
          <a:ln w="12700">
            <a:solidFill>
              <a:srgbClr val="F97316">
                <a:alpha val="16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 lIns="260000" tIns="240000" rIns="240000" bIns="180000" anchor="ctr">
            <a:normAutofit/>
          </a:bodyPr>
          <a:lstStyle/>
          <a:p>
            <a:pPr algn="l"/>
            <a:r>
              <a:rPr lang="zh-CN" sz="2100">
                <a:solidFill>
                  <a:srgbClr val="E5E7EB"/>
                </a:solidFill>
                <a:latin typeface="Aptos"/>
                <a:ea typeface="Microsoft YaHei"/>
              </a:rPr>
              <a:t>Generic AI Chat Tools.</a:t>
            </a:r>
          </a:p>
        </p:txBody>
      </p:sp>
      <p:sp>
        <p:nvSpPr>
          <p:cNvPr id="22" name="PointCard2"/>
          <p:cNvSpPr/>
          <p:nvPr/>
        </p:nvSpPr>
        <p:spPr>
          <a:xfrm>
            <a:off x="700000" y="3640000"/>
            <a:ext cx="10800000" cy="1120000"/>
          </a:xfrm>
          <a:prstGeom prst="roundRect">
            <a:avLst>
              <a:gd name="adj" fmla="val 4000"/>
            </a:avLst>
          </a:prstGeom>
          <a:solidFill>
            <a:srgbClr val="1E1744">
              <a:alpha val="9000"/>
            </a:srgbClr>
          </a:solidFill>
          <a:ln w="12700">
            <a:solidFill>
              <a:srgbClr val="F97316">
                <a:alpha val="16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 lIns="260000" tIns="240000" rIns="240000" bIns="180000" anchor="ctr">
            <a:normAutofit/>
          </a:bodyPr>
          <a:lstStyle/>
          <a:p>
            <a:pPr algn="l"/>
            <a:r>
              <a:rPr lang="zh-CN" sz="2100">
                <a:solidFill>
                  <a:srgbClr val="E5E7EB"/>
                </a:solidFill>
                <a:latin typeface="Aptos"/>
                <a:ea typeface="Microsoft YaHei"/>
              </a:rPr>
              <a:t>Traditional Productivity Suites.</a:t>
            </a:r>
          </a:p>
        </p:txBody>
      </p:sp>
      <p:sp>
        <p:nvSpPr>
          <p:cNvPr id="24" name="PointCard3"/>
          <p:cNvSpPr/>
          <p:nvPr/>
        </p:nvSpPr>
        <p:spPr>
          <a:xfrm>
            <a:off x="700000" y="4980000"/>
            <a:ext cx="10800000" cy="1120000"/>
          </a:xfrm>
          <a:prstGeom prst="roundRect">
            <a:avLst>
              <a:gd name="adj" fmla="val 4000"/>
            </a:avLst>
          </a:prstGeom>
          <a:solidFill>
            <a:srgbClr val="113731">
              <a:alpha val="9000"/>
            </a:srgbClr>
          </a:solidFill>
          <a:ln w="12700">
            <a:solidFill>
              <a:srgbClr val="F97316">
                <a:alpha val="16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 lIns="260000" tIns="240000" rIns="240000" bIns="180000" anchor="ctr">
            <a:normAutofit/>
          </a:bodyPr>
          <a:lstStyle/>
          <a:p>
            <a:pPr algn="l"/>
            <a:r>
              <a:rPr lang="zh-CN" sz="2100">
                <a:solidFill>
                  <a:srgbClr val="E5E7EB"/>
                </a:solidFill>
                <a:latin typeface="Aptos"/>
                <a:ea typeface="Microsoft YaHei"/>
              </a:rPr>
              <a:t>OfficeDex Position: Combines summarization, task orchestration, searchable memory, and workflow automation in one layer that can cut admin work by 35% to 50%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05/09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Positioning: AI Work Orchestration, Not Generic Assistance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OfficeDex stands out when positioned as a workflow layer that turns scattered work into action, ownership, and measurable output</a:t>
            </a:r>
          </a:p>
        </p:txBody>
      </p:sp>
      <p:sp>
        <p:nvSpPr>
          <p:cNvPr id="40" name="ComparePanel1"/>
          <p:cNvSpPr/>
          <p:nvPr/>
        </p:nvSpPr>
        <p:spPr>
          <a:xfrm>
            <a:off x="700000" y="1700000"/>
            <a:ext cx="3200000" cy="300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CompareHeader1"/>
          <p:cNvSpPr/>
          <p:nvPr/>
        </p:nvSpPr>
        <p:spPr>
          <a:xfrm>
            <a:off x="880000" y="1960000"/>
            <a:ext cx="2840000" cy="46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01</a:t>
            </a:r>
          </a:p>
        </p:txBody>
      </p:sp>
      <p:sp>
        <p:nvSpPr>
          <p:cNvPr id="42" name="CompareDetail1"/>
          <p:cNvSpPr/>
          <p:nvPr/>
        </p:nvSpPr>
        <p:spPr>
          <a:xfrm>
            <a:off x="880000" y="2580000"/>
            <a:ext cx="2840000" cy="1500000"/>
          </a:xfrm>
          <a:prstGeom prst="rect">
            <a:avLst/>
          </a:prstGeom>
        </p:spPr>
        <p:txBody>
          <a:bodyPr anchor="t" lIns="180000" rIns="180000">
            <a:normAutofit/>
          </a:bodyPr>
          <a:lstStyle/>
          <a:p>
            <a:pPr algn="l"/>
            <a:r>
              <a:rPr lang="zh-CN" sz="1600">
                <a:solidFill>
                  <a:srgbClr val="E5E7EB"/>
                </a:solidFill>
                <a:latin typeface="Aptos"/>
                <a:ea typeface="Microsoft YaHei"/>
              </a:rPr>
              <a:t>Generic AI Chat Tools.</a:t>
            </a:r>
          </a:p>
        </p:txBody>
      </p:sp>
      <p:sp>
        <p:nvSpPr>
          <p:cNvPr id="43" name="ComparePanel2"/>
          <p:cNvSpPr/>
          <p:nvPr/>
        </p:nvSpPr>
        <p:spPr>
          <a:xfrm>
            <a:off x="4450000" y="1700000"/>
            <a:ext cx="3200000" cy="300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CompareHeader2"/>
          <p:cNvSpPr/>
          <p:nvPr/>
        </p:nvSpPr>
        <p:spPr>
          <a:xfrm>
            <a:off x="4630000" y="1960000"/>
            <a:ext cx="2840000" cy="46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02</a:t>
            </a:r>
          </a:p>
        </p:txBody>
      </p:sp>
      <p:sp>
        <p:nvSpPr>
          <p:cNvPr id="45" name="CompareDetail2"/>
          <p:cNvSpPr/>
          <p:nvPr/>
        </p:nvSpPr>
        <p:spPr>
          <a:xfrm>
            <a:off x="4630000" y="2580000"/>
            <a:ext cx="2840000" cy="1500000"/>
          </a:xfrm>
          <a:prstGeom prst="rect">
            <a:avLst/>
          </a:prstGeom>
        </p:spPr>
        <p:txBody>
          <a:bodyPr anchor="t" lIns="180000" rIns="180000">
            <a:normAutofit/>
          </a:bodyPr>
          <a:lstStyle/>
          <a:p>
            <a:pPr algn="l"/>
            <a:r>
              <a:rPr lang="zh-CN" sz="1600">
                <a:solidFill>
                  <a:srgbClr val="E5E7EB"/>
                </a:solidFill>
                <a:latin typeface="Aptos"/>
                <a:ea typeface="Microsoft YaHei"/>
              </a:rPr>
              <a:t>Traditional Productivity Suites.</a:t>
            </a:r>
          </a:p>
        </p:txBody>
      </p:sp>
      <p:sp>
        <p:nvSpPr>
          <p:cNvPr id="46" name="ComparePanel3"/>
          <p:cNvSpPr/>
          <p:nvPr/>
        </p:nvSpPr>
        <p:spPr>
          <a:xfrm>
            <a:off x="8200000" y="1700000"/>
            <a:ext cx="3200000" cy="300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CompareHeader3"/>
          <p:cNvSpPr/>
          <p:nvPr/>
        </p:nvSpPr>
        <p:spPr>
          <a:xfrm>
            <a:off x="8380000" y="1960000"/>
            <a:ext cx="2840000" cy="46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zh-CN" sz="1800" b="1">
                <a:solidFill>
                  <a:srgbClr val="F97316"/>
                </a:solidFill>
                <a:latin typeface="Aptos"/>
                <a:ea typeface="Microsoft YaHei"/>
              </a:rPr>
              <a:t>03</a:t>
            </a:r>
          </a:p>
        </p:txBody>
      </p:sp>
      <p:sp>
        <p:nvSpPr>
          <p:cNvPr id="48" name="CompareDetail3"/>
          <p:cNvSpPr/>
          <p:nvPr/>
        </p:nvSpPr>
        <p:spPr>
          <a:xfrm>
            <a:off x="8380000" y="2580000"/>
            <a:ext cx="2840000" cy="1500000"/>
          </a:xfrm>
          <a:prstGeom prst="rect">
            <a:avLst/>
          </a:prstGeom>
        </p:spPr>
        <p:txBody>
          <a:bodyPr anchor="t" lIns="180000" rIns="180000">
            <a:normAutofit/>
          </a:bodyPr>
          <a:lstStyle/>
          <a:p>
            <a:pPr algn="l"/>
            <a:r>
              <a:rPr lang="zh-CN" sz="1600">
                <a:solidFill>
                  <a:srgbClr val="E5E7EB"/>
                </a:solidFill>
                <a:latin typeface="Aptos"/>
                <a:ea typeface="Microsoft YaHei"/>
              </a:rPr>
              <a:t>OfficeDex Position: Combines summarization, task orchestration, searchable memory, and workflow automation in one layer that can cut admin work by 35% to 50%</a:t>
            </a:r>
          </a:p>
        </p:txBody>
      </p:sp>
      <p:sp>
        <p:nvSpPr>
          <p:cNvPr id="12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06/09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9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11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2500" b="1">
                <a:solidFill>
                  <a:srgbClr val="FFFFFF"/>
                </a:solidFill>
                <a:latin typeface="Aptos"/>
                <a:ea typeface="Microsoft YaHei"/>
              </a:rPr>
              <a:t>Launch Channels to Build Awareness and Pipeline</a:t>
            </a:r>
          </a:p>
        </p:txBody>
      </p:sp>
      <p:sp>
        <p:nvSpPr>
          <p:cNvPr id="5" name="Subtitle"/>
          <p:cNvSpPr/>
          <p:nvPr/>
        </p:nvSpPr>
        <p:spPr>
          <a:xfrm>
            <a:off x="700000" y="1520000"/>
            <a:ext cx="10800000" cy="9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A blended channel model will outperform a single-channel launch because OfficeDex must educate users while proving ROI to buyers</a:t>
            </a:r>
          </a:p>
        </p:txBody>
      </p:sp>
      <p:sp>
        <p:nvSpPr>
          <p:cNvPr id="30" name="BulletsCalloutPanel"/>
          <p:cNvSpPr/>
          <p:nvPr/>
        </p:nvSpPr>
        <p:spPr>
          <a:xfrm>
            <a:off x="700000" y="2600000"/>
            <a:ext cx="4320000" cy="3500000"/>
          </a:xfrm>
          <a:prstGeom prst="roundRect">
            <a:avLst>
              <a:gd name="adj" fmla="val 4000"/>
            </a:avLst>
          </a:prstGeom>
          <a:solidFill>
            <a:srgbClr val="111827">
              <a:alpha val="9000"/>
            </a:srgbClr>
          </a:solidFill>
          <a:ln w="12700">
            <a:solidFill>
              <a:srgbClr val="F97316">
                <a:alpha val="12000"/>
              </a:srgbClr>
            </a:solidFill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BulletsCalloutText"/>
          <p:cNvSpPr/>
          <p:nvPr/>
        </p:nvSpPr>
        <p:spPr>
          <a:xfrm>
            <a:off x="820000" y="2860000"/>
            <a:ext cx="4080000" cy="2980000"/>
          </a:xfrm>
          <a:prstGeom prst="rect">
            <a:avLst/>
          </a:prstGeom>
        </p:spPr>
        <p:txBody>
          <a:bodyPr anchor="ctr" lIns="180000" rIns="180000">
            <a:normAutofit/>
          </a:bodyPr>
          <a:lstStyle/>
          <a:p>
            <a:pPr algn="l"/>
            <a:r>
              <a:rPr lang="zh-CN" sz="2400" b="1">
                <a:solidFill>
                  <a:srgbClr val="E5E7EB"/>
                </a:solidFill>
                <a:latin typeface="Aptos"/>
                <a:ea typeface="Microsoft YaHei"/>
              </a:rPr>
              <a:t>Product-led acquisition.</a:t>
            </a:r>
          </a:p>
        </p:txBody>
      </p:sp>
      <p:sp>
        <p:nvSpPr>
          <p:cNvPr id="3" name="Content"/>
          <p:cNvSpPr/>
          <p:nvPr/>
        </p:nvSpPr>
        <p:spPr>
          <a:xfrm>
            <a:off x="5240000" y="2600000"/>
            <a:ext cx="6260000" cy="3500000"/>
          </a:xfrm>
          <a:prstGeom prst="rect">
            <a:avLst/>
          </a:prstGeom>
        </p:spPr>
        <p:txBody>
          <a:bodyPr anchor="t" lIns="40000" rIns="40000">
            <a:normAutofit/>
          </a:bodyPr>
          <a:lstStyle/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Performance marketing.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Partner and community motion.</a:t>
            </a:r>
          </a:p>
          <a:p>
            <a:pPr marL="342900" indent="-342900" algn="l">
              <a:spcBef>
                <a:spcPts val="1100"/>
              </a:spcBef>
              <a:buFont typeface="Arial"/>
              <a:buChar char="●"/>
            </a:pPr>
            <a:r>
              <a:rPr lang="zh-CN" sz="2200">
                <a:solidFill>
                  <a:srgbClr val="E5E7EB"/>
                </a:solidFill>
                <a:latin typeface="Aptos"/>
                <a:ea typeface="Microsoft YaHei"/>
              </a:rPr>
              <a:t>Executive proof content.</a:t>
            </a:r>
          </a:p>
        </p:txBody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07/09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Deco"/>
          <p:cNvSpPr/>
          <p:nvPr/>
        </p:nvSpPr>
        <p:spPr>
          <a:xfrm>
            <a:off x="500000" y="200000"/>
            <a:ext cx="80000" cy="45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180000"/>
            <a:ext cx="10800000" cy="52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Aptos"/>
                <a:ea typeface="Microsoft YaHei"/>
              </a:rPr>
              <a:t>90-Day Rollout Timeline</a:t>
            </a:r>
          </a:p>
        </p:txBody>
      </p:sp>
      <p:sp>
        <p:nvSpPr>
          <p:cNvPr id="55" name="Subtitle"/>
          <p:cNvSpPr/>
          <p:nvPr/>
        </p:nvSpPr>
        <p:spPr>
          <a:xfrm>
            <a:off x="700000" y="770000"/>
            <a:ext cx="10800000" cy="6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The first 90 days should prioritize proof.</a:t>
            </a:r>
          </a:p>
        </p:txBody>
      </p:sp>
      <p:sp>
        <p:nvSpPr>
          <p:cNvPr id="20" name="MetricBg0"/>
          <p:cNvSpPr/>
          <p:nvPr/>
        </p:nvSpPr>
        <p:spPr>
          <a:xfrm>
            <a:off x="700000" y="1550000"/>
            <a:ext cx="3500000" cy="1020000"/>
          </a:xfrm>
          <a:prstGeom prst="roundRect">
            <a:avLst>
              <a:gd name="adj" fmla="val 5000"/>
            </a:avLst>
          </a:prstGeom>
          <a:solidFill>
            <a:srgbClr val="111827">
              <a:alpha val="9000"/>
            </a:srgbClr>
          </a:solidFill>
          <a:ln w="9525">
            <a:solidFill>
              <a:srgbClr val="F97316">
                <a:alpha val="18000"/>
              </a:srgbClr>
            </a:solidFill>
          </a:ln>
        </p:spPr>
      </p:sp>
      <p:sp>
        <p:nvSpPr>
          <p:cNvPr id="21" name="MetricText0"/>
          <p:cNvSpPr/>
          <p:nvPr/>
        </p:nvSpPr>
        <p:spPr>
          <a:xfrm>
            <a:off x="700000" y="1550000"/>
            <a:ext cx="3500000" cy="1020000"/>
          </a:xfrm>
          <a:prstGeom prst="rect">
            <a:avLst/>
          </a:prstGeom>
        </p:spPr>
        <p:txBody>
          <a:bodyPr anchor="ctr" lIns="72000" tIns="100000" rIns="72000" bIns="60000">
            <a:normAutofit/>
          </a:bodyPr>
          <a:lstStyle/>
          <a:p>
            <a:pPr algn="ctr"/>
            <a:r>
              <a:rPr lang="zh-CN" sz="102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Approval Cycle Time</a:t>
            </a:r>
          </a:p>
          <a:p>
            <a:pPr algn="ctr"/>
            <a:r>
              <a:rPr lang="zh-CN" sz="2700" b="1">
                <a:solidFill>
                  <a:srgbClr val="1F2937"/>
                </a:solidFill>
                <a:latin typeface="Aptos"/>
                <a:ea typeface="Microsoft YaHei"/>
              </a:rPr>
              <a:t>-30%</a:t>
            </a:r>
          </a:p>
          <a:p>
            <a:pPr algn="ctr"/>
            <a:r>
              <a:rPr lang="zh-CN" sz="98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Pilot target</a:t>
            </a:r>
          </a:p>
        </p:txBody>
      </p:sp>
      <p:sp>
        <p:nvSpPr>
          <p:cNvPr id="23" name="MetricBg1"/>
          <p:cNvSpPr/>
          <p:nvPr/>
        </p:nvSpPr>
        <p:spPr>
          <a:xfrm>
            <a:off x="4350000" y="1550000"/>
            <a:ext cx="3500000" cy="1020000"/>
          </a:xfrm>
          <a:prstGeom prst="roundRect">
            <a:avLst>
              <a:gd name="adj" fmla="val 5000"/>
            </a:avLst>
          </a:prstGeom>
          <a:solidFill>
            <a:srgbClr val="111827">
              <a:alpha val="9000"/>
            </a:srgbClr>
          </a:solidFill>
          <a:ln w="9525">
            <a:solidFill>
              <a:srgbClr val="F97316">
                <a:alpha val="18000"/>
              </a:srgbClr>
            </a:solidFill>
          </a:ln>
        </p:spPr>
      </p:sp>
      <p:sp>
        <p:nvSpPr>
          <p:cNvPr id="24" name="MetricText1"/>
          <p:cNvSpPr/>
          <p:nvPr/>
        </p:nvSpPr>
        <p:spPr>
          <a:xfrm>
            <a:off x="4350000" y="1550000"/>
            <a:ext cx="3500000" cy="1020000"/>
          </a:xfrm>
          <a:prstGeom prst="rect">
            <a:avLst/>
          </a:prstGeom>
        </p:spPr>
        <p:txBody>
          <a:bodyPr anchor="ctr" lIns="72000" tIns="100000" rIns="72000" bIns="60000">
            <a:normAutofit/>
          </a:bodyPr>
          <a:lstStyle/>
          <a:p>
            <a:pPr algn="ctr"/>
            <a:r>
              <a:rPr lang="zh-CN" sz="102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On-Time Task Rate</a:t>
            </a:r>
          </a:p>
          <a:p>
            <a:pPr algn="ctr"/>
            <a:r>
              <a:rPr lang="zh-CN" sz="2700" b="1">
                <a:solidFill>
                  <a:srgbClr val="1F2937"/>
                </a:solidFill>
                <a:latin typeface="Aptos"/>
                <a:ea typeface="Microsoft YaHei"/>
              </a:rPr>
              <a:t>+15%</a:t>
            </a:r>
          </a:p>
          <a:p>
            <a:pPr algn="ctr"/>
            <a:r>
              <a:rPr lang="zh-CN" sz="98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Weekly tracking</a:t>
            </a:r>
          </a:p>
        </p:txBody>
      </p:sp>
      <p:sp>
        <p:nvSpPr>
          <p:cNvPr id="26" name="MetricBg2"/>
          <p:cNvSpPr/>
          <p:nvPr/>
        </p:nvSpPr>
        <p:spPr>
          <a:xfrm>
            <a:off x="8000000" y="1550000"/>
            <a:ext cx="3500000" cy="1020000"/>
          </a:xfrm>
          <a:prstGeom prst="roundRect">
            <a:avLst>
              <a:gd name="adj" fmla="val 5000"/>
            </a:avLst>
          </a:prstGeom>
          <a:solidFill>
            <a:srgbClr val="111827">
              <a:alpha val="9000"/>
            </a:srgbClr>
          </a:solidFill>
          <a:ln w="9525">
            <a:solidFill>
              <a:srgbClr val="F97316">
                <a:alpha val="18000"/>
              </a:srgbClr>
            </a:solidFill>
          </a:ln>
        </p:spPr>
      </p:sp>
      <p:sp>
        <p:nvSpPr>
          <p:cNvPr id="27" name="MetricText2"/>
          <p:cNvSpPr/>
          <p:nvPr/>
        </p:nvSpPr>
        <p:spPr>
          <a:xfrm>
            <a:off x="8000000" y="1550000"/>
            <a:ext cx="3500000" cy="1020000"/>
          </a:xfrm>
          <a:prstGeom prst="rect">
            <a:avLst/>
          </a:prstGeom>
        </p:spPr>
        <p:txBody>
          <a:bodyPr anchor="ctr" lIns="72000" tIns="100000" rIns="72000" bIns="60000">
            <a:normAutofit/>
          </a:bodyPr>
          <a:lstStyle/>
          <a:p>
            <a:pPr algn="ctr"/>
            <a:r>
              <a:rPr lang="zh-CN" sz="102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Knowledge Reuse Rate</a:t>
            </a:r>
          </a:p>
          <a:p>
            <a:pPr algn="ctr"/>
            <a:r>
              <a:rPr lang="zh-CN" sz="2700" b="1">
                <a:solidFill>
                  <a:srgbClr val="1F2937"/>
                </a:solidFill>
                <a:latin typeface="Aptos"/>
                <a:ea typeface="Microsoft YaHei"/>
              </a:rPr>
              <a:t>+25%</a:t>
            </a:r>
          </a:p>
          <a:p>
            <a:pPr algn="ctr"/>
            <a:r>
              <a:rPr lang="zh-CN" sz="980">
                <a:solidFill>
                  <a:srgbClr val="E5E7EB">
                    <a:alpha val="62000"/>
                  </a:srgbClr>
                </a:solidFill>
                <a:latin typeface="Aptos"/>
                <a:ea typeface="Microsoft YaHei"/>
              </a:rPr>
              <a:t>Quarterly review</a:t>
            </a:r>
          </a:p>
        </p:txBody>
      </p:sp>
      <p:sp>
        <p:nvSpPr>
          <p:cNvPr id="41" name="Points"/>
          <p:cNvSpPr/>
          <p:nvPr/>
        </p:nvSpPr>
        <p:spPr>
          <a:xfrm>
            <a:off x="700000" y="2870000"/>
            <a:ext cx="10800000" cy="25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342900" indent="-342900" algn="l">
              <a:buFont typeface="Arial"/>
              <a:buChar char="●"/>
            </a:pPr>
            <a:r>
              <a:rPr lang="zh-CN" sz="1480">
                <a:solidFill>
                  <a:srgbClr val="E5E7EB"/>
                </a:solidFill>
                <a:latin typeface="Aptos"/>
                <a:ea typeface="Microsoft YaHei"/>
              </a:rPr>
              <a:t>Validate ROI first with approval.</a:t>
            </a:r>
          </a:p>
          <a:p>
            <a:pPr marL="342900" indent="-342900" algn="l">
              <a:buFont typeface="Arial"/>
              <a:buChar char="●"/>
            </a:pPr>
            <a:r>
              <a:rPr lang="zh-CN" sz="1480">
                <a:solidFill>
                  <a:srgbClr val="E5E7EB"/>
                </a:solidFill>
                <a:latin typeface="Aptos"/>
                <a:ea typeface="Microsoft YaHei"/>
              </a:rPr>
              <a:t>Decide whether to expand.</a:t>
            </a:r>
          </a:p>
        </p:txBody>
      </p:sp>
      <p:sp>
        <p:nvSpPr>
          <p:cNvPr id="6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6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08/09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250000"/>
            <a:ext cx="10800000" cy="65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Aptos"/>
                <a:ea typeface="Microsoft YaHei"/>
              </a:rPr>
              <a:t>Recommendation</a:t>
            </a:r>
          </a:p>
        </p:txBody>
      </p:sp>
      <p:sp>
        <p:nvSpPr>
          <p:cNvPr id="6" name="Subtitle"/>
          <p:cNvSpPr/>
          <p:nvPr/>
        </p:nvSpPr>
        <p:spPr>
          <a:xfrm>
            <a:off x="700000" y="900000"/>
            <a:ext cx="10800000" cy="84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2000">
                <a:solidFill>
                  <a:srgbClr val="E5E7EB">
                    <a:alpha val="80000"/>
                  </a:srgbClr>
                </a:solidFill>
                <a:latin typeface="Aptos"/>
                <a:ea typeface="Microsoft YaHei"/>
              </a:rPr>
              <a:t>Approve one focused validation cycle before scaling the approach.</a:t>
            </a:r>
          </a:p>
        </p:txBody>
      </p:sp>
      <p:sp>
        <p:nvSpPr>
          <p:cNvPr id="40" name="ClosingDecisionBanner"/>
          <p:cNvSpPr/>
          <p:nvPr/>
        </p:nvSpPr>
        <p:spPr>
          <a:xfrm>
            <a:off x="1200000" y="1950000"/>
            <a:ext cx="9800000" cy="1280000"/>
          </a:xfrm>
          <a:prstGeom prst="rect">
            <a:avLst/>
          </a:prstGeom>
          <a:solidFill>
            <a:srgbClr val="111827">
              <a:alpha val="96000"/>
            </a:srgbClr>
          </a:solidFill>
          <a:ln>
            <a:noFill/>
          </a:ln>
        </p:spPr>
      </p:sp>
      <p:sp>
        <p:nvSpPr>
          <p:cNvPr id="41" name="ClosingDecisionAccent"/>
          <p:cNvSpPr/>
          <p:nvPr/>
        </p:nvSpPr>
        <p:spPr>
          <a:xfrm>
            <a:off x="1200000" y="1950000"/>
            <a:ext cx="130000" cy="1280000"/>
          </a:xfrm>
          <a:prstGeom prst="rect">
            <a:avLst/>
          </a:prstGeom>
          <a:solidFill>
            <a:srgbClr val="F97316">
              <a:alpha val="100000"/>
            </a:srgbClr>
          </a:solidFill>
          <a:ln>
            <a:noFill/>
          </a:ln>
        </p:spPr>
      </p:sp>
      <p:sp>
        <p:nvSpPr>
          <p:cNvPr id="42" name="ClosingDecisionHeading"/>
          <p:cNvSpPr/>
          <p:nvPr/>
        </p:nvSpPr>
        <p:spPr>
          <a:xfrm>
            <a:off x="1500000" y="2180000"/>
            <a:ext cx="9200000" cy="36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zh-CN" sz="1700" b="1">
                <a:solidFill>
                  <a:srgbClr val="FFFFFF"/>
                </a:solidFill>
                <a:latin typeface="Aptos"/>
                <a:ea typeface="Microsoft YaHei"/>
              </a:rPr>
              <a:t>Decision</a:t>
            </a:r>
          </a:p>
        </p:txBody>
      </p:sp>
      <p:sp>
        <p:nvSpPr>
          <p:cNvPr id="43" name="ClosingDecisionText"/>
          <p:cNvSpPr/>
          <p:nvPr/>
        </p:nvSpPr>
        <p:spPr>
          <a:xfrm>
            <a:off x="1500000" y="2650000"/>
            <a:ext cx="9200000" cy="38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1450">
                <a:solidFill>
                  <a:srgbClr val="E5E7EB"/>
                </a:solidFill>
                <a:latin typeface="Aptos"/>
                <a:ea typeface="Microsoft YaHei"/>
              </a:rPr>
              <a:t>Run a scoped pilot against the most important deck workflow</a:t>
            </a:r>
          </a:p>
        </p:txBody>
      </p:sp>
      <p:sp>
        <p:nvSpPr>
          <p:cNvPr id="50" name="ClosingDecisionSupportHead1"/>
          <p:cNvSpPr/>
          <p:nvPr/>
        </p:nvSpPr>
        <p:spPr>
          <a:xfrm>
            <a:off x="1500000" y="3720000"/>
            <a:ext cx="3600000" cy="3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zh-CN" sz="1350" b="1">
                <a:solidFill>
                  <a:srgbClr val="F97316"/>
                </a:solidFill>
                <a:latin typeface="Aptos"/>
                <a:ea typeface="Microsoft YaHei"/>
              </a:rPr>
              <a:t>Quality Gate</a:t>
            </a:r>
          </a:p>
        </p:txBody>
      </p:sp>
      <p:sp>
        <p:nvSpPr>
          <p:cNvPr id="51" name="ClosingDecisionSupportText1"/>
          <p:cNvSpPr/>
          <p:nvPr/>
        </p:nvSpPr>
        <p:spPr>
          <a:xfrm>
            <a:off x="1500000" y="4130000"/>
            <a:ext cx="3600000" cy="42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Require editable output, layout diversity, and contrast checks</a:t>
            </a:r>
          </a:p>
        </p:txBody>
      </p:sp>
      <p:sp>
        <p:nvSpPr>
          <p:cNvPr id="52" name="ClosingDecisionSupportHead2"/>
          <p:cNvSpPr/>
          <p:nvPr/>
        </p:nvSpPr>
        <p:spPr>
          <a:xfrm>
            <a:off x="6050000" y="3720000"/>
            <a:ext cx="3600000" cy="3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zh-CN" sz="1350" b="1">
                <a:solidFill>
                  <a:srgbClr val="F97316"/>
                </a:solidFill>
                <a:latin typeface="Aptos"/>
                <a:ea typeface="Microsoft YaHei"/>
              </a:rPr>
              <a:t>Next Step</a:t>
            </a:r>
          </a:p>
        </p:txBody>
      </p:sp>
      <p:sp>
        <p:nvSpPr>
          <p:cNvPr id="53" name="ClosingDecisionSupportText2"/>
          <p:cNvSpPr/>
          <p:nvPr/>
        </p:nvSpPr>
        <p:spPr>
          <a:xfrm>
            <a:off x="6050000" y="4130000"/>
            <a:ext cx="3600000" cy="42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zh-CN" sz="1200">
                <a:solidFill>
                  <a:srgbClr val="E5E7EB"/>
                </a:solidFill>
                <a:latin typeface="Aptos"/>
                <a:ea typeface="Microsoft YaHei"/>
              </a:rPr>
              <a:t>Compare generated decks with a manual baseline before rollout</a:t>
            </a:r>
          </a:p>
        </p:txBody>
      </p:sp>
      <p:sp>
        <p:nvSpPr>
          <p:cNvPr id="15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F97316">
                <a:alpha val="34000"/>
              </a:srgbClr>
            </a:solidFill>
          </a:ln>
        </p:spPr>
      </p:sp>
      <p:sp>
        <p:nvSpPr>
          <p:cNvPr id="15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r"/>
            <a:r>
              <a:rPr lang="zh-CN" sz="900">
                <a:solidFill>
                  <a:srgbClr val="E5E7EB">
                    <a:alpha val="56000"/>
                  </a:srgbClr>
                </a:solidFill>
              </a:rPr>
              <a:t>09/09</a:t>
            </a:r>
          </a:p>
        </p:txBody>
      </p:sp>
    </p:spTree>
  </p:cSld>
</p:sld>
</file>

<file path=ppt/theme/theme1.xml><?xml version="1.0" encoding="utf-8"?>
<a:theme xmlns:a="http://schemas.openxmlformats.org/drawingml/2006/main" name="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2937"/>
      </a:accent1>
      <a:accent2>
        <a:srgbClr val="F97316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ple-Style">
      <a:majorFont>
        <a:latin typeface="Aptos" panose="020B0604020202020204"/>
        <a:ea typeface="Microsoft YaHei"/>
        <a:cs typeface=""/>
      </a:majorFont>
      <a:minorFont>
        <a:latin typeface="Aptos" panose="020B0604020202020204"/>
        <a:ea typeface="Microsoft YaHei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officecli PPTX Generator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OfficeDex Launch Strategy</dc:title>
  <dc:creator>OfficeCLI</dc:creator>
  <dcterms:created xsi:type="dcterms:W3CDTF">2026-07-14T05:58:11Z</dcterms:created>
</cp:coreProperties>
</file>